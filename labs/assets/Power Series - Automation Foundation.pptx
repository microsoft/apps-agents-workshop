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0" r:id="rId4"/>
    <p:sldMasterId id="2147483684" r:id="rId5"/>
    <p:sldMasterId id="2147483708" r:id="rId6"/>
  </p:sldMasterIdLst>
  <p:notesMasterIdLst>
    <p:notesMasterId r:id="rId21"/>
  </p:notesMasterIdLst>
  <p:sldIdLst>
    <p:sldId id="294" r:id="rId7"/>
    <p:sldId id="2147480420" r:id="rId8"/>
    <p:sldId id="2147480435" r:id="rId9"/>
    <p:sldId id="2147482704" r:id="rId10"/>
    <p:sldId id="2147480454" r:id="rId11"/>
    <p:sldId id="271" r:id="rId12"/>
    <p:sldId id="2147482705" r:id="rId13"/>
    <p:sldId id="2147483647" r:id="rId14"/>
    <p:sldId id="256" r:id="rId15"/>
    <p:sldId id="293" r:id="rId16"/>
    <p:sldId id="307" r:id="rId17"/>
    <p:sldId id="308" r:id="rId18"/>
    <p:sldId id="306" r:id="rId19"/>
    <p:sldId id="214748030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wer of the Platform" id="{4C839C86-1B6B-E241-9643-FF73875211CA}">
          <p14:sldIdLst>
            <p14:sldId id="294"/>
            <p14:sldId id="2147480420"/>
            <p14:sldId id="2147480435"/>
            <p14:sldId id="2147482704"/>
            <p14:sldId id="2147480454"/>
          </p14:sldIdLst>
        </p14:section>
        <p14:section name="Automation" id="{B06ACA04-3919-4D77-9FB9-64A973737C34}">
          <p14:sldIdLst>
            <p14:sldId id="271"/>
            <p14:sldId id="2147482705"/>
            <p14:sldId id="2147483647"/>
            <p14:sldId id="256"/>
            <p14:sldId id="293"/>
            <p14:sldId id="307"/>
            <p14:sldId id="308"/>
            <p14:sldId id="306"/>
            <p14:sldId id="214748030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98C0E5E-5D69-5E26-F6AA-D7906A68AA5F}" name="Christopher Moncayo" initials="CM" userId="S::chmoncay@microsoft.com::7a4fcbc9-aa6f-447e-ad0e-05e21b00fc60" providerId="AD"/>
  <p188:author id="{092205A2-489C-1532-9FFC-E545CF251602}" name="Shanthini Radhakrishnan" initials="" userId="S::shradhak@microsoft.com::c88ac23b-9b67-42fb-9f3f-79af2509906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61C5"/>
    <a:srgbClr val="016BEB"/>
    <a:srgbClr val="EEEEEE"/>
    <a:srgbClr val="8DC8E8"/>
    <a:srgbClr val="FF5C39"/>
    <a:srgbClr val="0078D4"/>
    <a:srgbClr val="0A1D2C"/>
    <a:srgbClr val="F4364C"/>
    <a:srgbClr val="73262F"/>
    <a:srgbClr val="041D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72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presProps" Target="pres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nthini Radhakrishnan" userId="c88ac23b-9b67-42fb-9f3f-79af25099068" providerId="ADAL" clId="{CC774E79-01BB-4718-9121-E0AA284E6805}"/>
    <pc:docChg chg="custSel modSld">
      <pc:chgData name="Shanthini Radhakrishnan" userId="c88ac23b-9b67-42fb-9f3f-79af25099068" providerId="ADAL" clId="{CC774E79-01BB-4718-9121-E0AA284E6805}" dt="2026-09-03T08:30:43.288" v="39" actId="20577"/>
      <pc:docMkLst>
        <pc:docMk/>
      </pc:docMkLst>
      <pc:sldChg chg="delSp modSp mod modNotesTx">
        <pc:chgData name="Shanthini Radhakrishnan" userId="c88ac23b-9b67-42fb-9f3f-79af25099068" providerId="ADAL" clId="{CC774E79-01BB-4718-9121-E0AA284E6805}" dt="2026-09-03T08:29:16.348" v="33" actId="1076"/>
        <pc:sldMkLst>
          <pc:docMk/>
          <pc:sldMk cId="4029431004" sldId="271"/>
        </pc:sldMkLst>
        <pc:spChg chg="mod">
          <ac:chgData name="Shanthini Radhakrishnan" userId="c88ac23b-9b67-42fb-9f3f-79af25099068" providerId="ADAL" clId="{CC774E79-01BB-4718-9121-E0AA284E6805}" dt="2026-09-03T08:29:16.348" v="33" actId="1076"/>
          <ac:spMkLst>
            <pc:docMk/>
            <pc:sldMk cId="4029431004" sldId="271"/>
            <ac:spMk id="2" creationId="{7CE0D085-4768-FD80-AD57-EC2C96217977}"/>
          </ac:spMkLst>
        </pc:spChg>
        <pc:spChg chg="del">
          <ac:chgData name="Shanthini Radhakrishnan" userId="c88ac23b-9b67-42fb-9f3f-79af25099068" providerId="ADAL" clId="{CC774E79-01BB-4718-9121-E0AA284E6805}" dt="2026-09-03T08:28:59.463" v="9" actId="478"/>
          <ac:spMkLst>
            <pc:docMk/>
            <pc:sldMk cId="4029431004" sldId="271"/>
            <ac:spMk id="3" creationId="{00000000-0000-0000-0000-000000000000}"/>
          </ac:spMkLst>
        </pc:spChg>
      </pc:sldChg>
      <pc:sldChg chg="modSp mod">
        <pc:chgData name="Shanthini Radhakrishnan" userId="c88ac23b-9b67-42fb-9f3f-79af25099068" providerId="ADAL" clId="{CC774E79-01BB-4718-9121-E0AA284E6805}" dt="2026-09-03T08:30:43.288" v="39" actId="20577"/>
        <pc:sldMkLst>
          <pc:docMk/>
          <pc:sldMk cId="142835945" sldId="2147483645"/>
        </pc:sldMkLst>
        <pc:spChg chg="mod">
          <ac:chgData name="Shanthini Radhakrishnan" userId="c88ac23b-9b67-42fb-9f3f-79af25099068" providerId="ADAL" clId="{CC774E79-01BB-4718-9121-E0AA284E6805}" dt="2026-08-21T17:29:17.421" v="0"/>
          <ac:spMkLst>
            <pc:docMk/>
            <pc:sldMk cId="142835945" sldId="2147483645"/>
            <ac:spMk id="2" creationId="{8E6105DA-298A-E5C4-0608-2C44F5EBB7B0}"/>
          </ac:spMkLst>
        </pc:spChg>
        <pc:spChg chg="mod">
          <ac:chgData name="Shanthini Radhakrishnan" userId="c88ac23b-9b67-42fb-9f3f-79af25099068" providerId="ADAL" clId="{CC774E79-01BB-4718-9121-E0AA284E6805}" dt="2026-09-03T08:30:43.288" v="39" actId="20577"/>
          <ac:spMkLst>
            <pc:docMk/>
            <pc:sldMk cId="142835945" sldId="2147483645"/>
            <ac:spMk id="4" creationId="{49BD882A-8E5D-6991-F41C-B8A44545D9A0}"/>
          </ac:spMkLst>
        </pc:spChg>
      </pc:sldChg>
      <pc:sldChg chg="addSp delSp modSp mod">
        <pc:chgData name="Shanthini Radhakrishnan" userId="c88ac23b-9b67-42fb-9f3f-79af25099068" providerId="ADAL" clId="{CC774E79-01BB-4718-9121-E0AA284E6805}" dt="2026-09-03T08:30:03.713" v="37" actId="20577"/>
        <pc:sldMkLst>
          <pc:docMk/>
          <pc:sldMk cId="2897629418" sldId="2147483647"/>
        </pc:sldMkLst>
        <pc:spChg chg="mod">
          <ac:chgData name="Shanthini Radhakrishnan" userId="c88ac23b-9b67-42fb-9f3f-79af25099068" providerId="ADAL" clId="{CC774E79-01BB-4718-9121-E0AA284E6805}" dt="2026-09-03T08:30:03.713" v="37" actId="20577"/>
          <ac:spMkLst>
            <pc:docMk/>
            <pc:sldMk cId="2897629418" sldId="2147483647"/>
            <ac:spMk id="2" creationId="{081A035A-B250-9C17-BF43-72251BE29A8F}"/>
          </ac:spMkLst>
        </pc:spChg>
        <pc:spChg chg="mod">
          <ac:chgData name="Shanthini Radhakrishnan" userId="c88ac23b-9b67-42fb-9f3f-79af25099068" providerId="ADAL" clId="{CC774E79-01BB-4718-9121-E0AA284E6805}" dt="2026-08-21T17:33:42.502" v="8" actId="1076"/>
          <ac:spMkLst>
            <pc:docMk/>
            <pc:sldMk cId="2897629418" sldId="2147483647"/>
            <ac:spMk id="10" creationId="{FB02551C-C033-7F2A-F431-B61740DBFCD9}"/>
          </ac:spMkLst>
        </pc:spChg>
        <pc:picChg chg="del">
          <ac:chgData name="Shanthini Radhakrishnan" userId="c88ac23b-9b67-42fb-9f3f-79af25099068" providerId="ADAL" clId="{CC774E79-01BB-4718-9121-E0AA284E6805}" dt="2026-09-03T08:29:40.732" v="34" actId="478"/>
          <ac:picMkLst>
            <pc:docMk/>
            <pc:sldMk cId="2897629418" sldId="2147483647"/>
            <ac:picMk id="5" creationId="{79F96117-EE3B-3010-6824-3A81F3BA7ACB}"/>
          </ac:picMkLst>
        </pc:picChg>
        <pc:picChg chg="add">
          <ac:chgData name="Shanthini Radhakrishnan" userId="c88ac23b-9b67-42fb-9f3f-79af25099068" providerId="ADAL" clId="{CC774E79-01BB-4718-9121-E0AA284E6805}" dt="2026-09-03T08:29:41.567" v="35" actId="22"/>
          <ac:picMkLst>
            <pc:docMk/>
            <pc:sldMk cId="2897629418" sldId="2147483647"/>
            <ac:picMk id="7" creationId="{9ED2689D-18DC-D982-BA47-7628F8AB07E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C30030-8519-B049-964D-3DFF8E12A44D}" type="datetimeFigureOut">
              <a:rPr lang="en-US" smtClean="0"/>
              <a:t>10/14/2026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88FC13-2E20-CA4A-93C7-0C6991A8116B}" type="slidenum">
              <a:rPr lang="en-US" smtClean="0"/>
              <a:t>‹#›</a:t>
            </a:fld>
            <a:endParaRPr lang="en-US"/>
          </a:p>
        </p:txBody>
      </p:sp>
    </p:spTree>
    <p:extLst>
      <p:ext uri="{BB962C8B-B14F-4D97-AF65-F5344CB8AC3E}">
        <p14:creationId xmlns:p14="http://schemas.microsoft.com/office/powerpoint/2010/main" val="1005869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27CDC-1069-334A-C9A4-CF2A3D3C61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41FC54-0435-3A58-689E-37A28DD1496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934A0F5-D4D5-3A36-3816-885B255EB946}"/>
              </a:ext>
            </a:extLst>
          </p:cNvPr>
          <p:cNvSpPr>
            <a:spLocks noGrp="1"/>
          </p:cNvSpPr>
          <p:nvPr>
            <p:ph type="body" idx="1"/>
          </p:nvPr>
        </p:nvSpPr>
        <p:spPr/>
        <p:txBody>
          <a:bodyPr/>
          <a:lstStyle/>
          <a:p>
            <a:r>
              <a:rPr lang="en-US" sz="1200" kern="1200">
                <a:solidFill>
                  <a:schemeClr val="tx1"/>
                </a:solidFill>
                <a:effectLst/>
                <a:latin typeface="+mn-lt"/>
                <a:ea typeface="+mn-ea"/>
                <a:cs typeface="+mn-cs"/>
              </a:rPr>
              <a:t>Good morning, everyone and thank you for joining me today!</a:t>
            </a:r>
          </a:p>
        </p:txBody>
      </p:sp>
      <p:sp>
        <p:nvSpPr>
          <p:cNvPr id="4" name="Slide Number Placeholder 3">
            <a:extLst>
              <a:ext uri="{FF2B5EF4-FFF2-40B4-BE49-F238E27FC236}">
                <a16:creationId xmlns:a16="http://schemas.microsoft.com/office/drawing/2014/main" id="{2BC23DBC-2F0D-E902-2E46-97FF4AAB9C3A}"/>
              </a:ext>
            </a:extLst>
          </p:cNvPr>
          <p:cNvSpPr>
            <a:spLocks noGrp="1"/>
          </p:cNvSpPr>
          <p:nvPr>
            <p:ph type="sldNum" sz="quarter" idx="5"/>
          </p:nvPr>
        </p:nvSpPr>
        <p:spPr/>
        <p:txBody>
          <a:bodyPr/>
          <a:lstStyle/>
          <a:p>
            <a:fld id="{F688FC13-2E20-CA4A-93C7-0C6991A8116B}" type="slidenum">
              <a:rPr lang="en-US" smtClean="0"/>
              <a:t>1</a:t>
            </a:fld>
            <a:endParaRPr lang="en-US"/>
          </a:p>
        </p:txBody>
      </p:sp>
    </p:spTree>
    <p:extLst>
      <p:ext uri="{BB962C8B-B14F-4D97-AF65-F5344CB8AC3E}">
        <p14:creationId xmlns:p14="http://schemas.microsoft.com/office/powerpoint/2010/main" val="2513062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3B566-274E-FA0A-B70E-34CE6064BF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13648-1F31-5C93-A30F-315525D14EB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415CDE9-4FA8-27C9-77C5-AA311A998CB6}"/>
              </a:ext>
            </a:extLst>
          </p:cNvPr>
          <p:cNvSpPr>
            <a:spLocks noGrp="1"/>
          </p:cNvSpPr>
          <p:nvPr>
            <p:ph type="body" idx="1"/>
          </p:nvPr>
        </p:nvSpPr>
        <p:spPr/>
        <p:txBody>
          <a:bodyPr/>
          <a:lstStyle/>
          <a:p>
            <a:pPr rtl="0" fontAlgn="base"/>
            <a:r>
              <a:rPr lang="en-US" sz="1200" b="0" i="0" kern="1200">
                <a:solidFill>
                  <a:schemeClr val="tx1"/>
                </a:solidFill>
                <a:effectLst/>
                <a:latin typeface="+mn-lt"/>
                <a:ea typeface="+mn-ea"/>
                <a:cs typeface="+mn-cs"/>
              </a:rPr>
              <a:t>Microsoft’s mission is “Empower every person and organization in the planet to achieve more”. </a:t>
            </a:r>
          </a:p>
          <a:p>
            <a:pPr rtl="0" fontAlgn="base"/>
            <a:r>
              <a:rPr lang="en-US" sz="1200" b="0" i="0" kern="1200">
                <a:solidFill>
                  <a:schemeClr val="tx1"/>
                </a:solidFill>
                <a:effectLst/>
                <a:latin typeface="+mn-lt"/>
                <a:ea typeface="+mn-ea"/>
                <a:cs typeface="+mn-cs"/>
              </a:rPr>
              <a:t> </a:t>
            </a:r>
          </a:p>
          <a:p>
            <a:pPr rtl="0" fontAlgn="base"/>
            <a:r>
              <a:rPr lang="en-US" sz="1200" b="0" i="0" kern="1200">
                <a:solidFill>
                  <a:schemeClr val="tx1"/>
                </a:solidFill>
                <a:effectLst/>
                <a:latin typeface="+mn-lt"/>
                <a:ea typeface="+mn-ea"/>
                <a:cs typeface="+mn-cs"/>
              </a:rPr>
              <a:t>Our mission in Power Platform is to empower everyone who needs to create business software by giving them the best toolset in the planet. </a:t>
            </a:r>
          </a:p>
          <a:p>
            <a:pPr rtl="0" fontAlgn="base"/>
            <a:r>
              <a:rPr lang="en-US" sz="1200" b="0" i="0" kern="1200">
                <a:solidFill>
                  <a:schemeClr val="tx1"/>
                </a:solidFill>
                <a:effectLst/>
                <a:latin typeface="+mn-lt"/>
                <a:ea typeface="+mn-ea"/>
                <a:cs typeface="+mn-cs"/>
              </a:rPr>
              <a:t> </a:t>
            </a:r>
          </a:p>
          <a:p>
            <a:pPr rtl="0" fontAlgn="base"/>
            <a:r>
              <a:rPr lang="en-US" sz="1200" b="0" i="0" kern="1200">
                <a:solidFill>
                  <a:schemeClr val="tx1"/>
                </a:solidFill>
                <a:effectLst/>
                <a:latin typeface="+mn-lt"/>
                <a:ea typeface="+mn-ea"/>
                <a:cs typeface="+mn-cs"/>
              </a:rPr>
              <a:t>In other words, if you have a </a:t>
            </a:r>
            <a:r>
              <a:rPr lang="en-US" sz="1200" b="1" i="0" kern="1200">
                <a:solidFill>
                  <a:schemeClr val="tx1"/>
                </a:solidFill>
                <a:effectLst/>
                <a:latin typeface="+mn-lt"/>
                <a:ea typeface="+mn-ea"/>
                <a:cs typeface="+mn-cs"/>
              </a:rPr>
              <a:t>business problem</a:t>
            </a:r>
            <a:r>
              <a:rPr lang="en-US" sz="1200" b="0" i="0" kern="1200">
                <a:solidFill>
                  <a:schemeClr val="tx1"/>
                </a:solidFill>
                <a:effectLst/>
                <a:latin typeface="+mn-lt"/>
                <a:ea typeface="+mn-ea"/>
                <a:cs typeface="+mn-cs"/>
              </a:rPr>
              <a:t> that can be solved with software, we want to provide you the </a:t>
            </a:r>
            <a:r>
              <a:rPr lang="en-US" sz="1200" b="1" i="0" kern="1200">
                <a:solidFill>
                  <a:schemeClr val="tx1"/>
                </a:solidFill>
                <a:effectLst/>
                <a:latin typeface="+mn-lt"/>
                <a:ea typeface="+mn-ea"/>
                <a:cs typeface="+mn-cs"/>
              </a:rPr>
              <a:t>best tools in the world</a:t>
            </a:r>
            <a:r>
              <a:rPr lang="en-US" sz="1200" b="0" i="0" kern="1200">
                <a:solidFill>
                  <a:schemeClr val="tx1"/>
                </a:solidFill>
                <a:effectLst/>
                <a:latin typeface="+mn-lt"/>
                <a:ea typeface="+mn-ea"/>
                <a:cs typeface="+mn-cs"/>
              </a:rPr>
              <a:t> to solve it, no matter what the problem 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Now, empower means something very specific in the Power Platform: </a:t>
            </a:r>
            <a:r>
              <a:rPr lang="en-US" sz="1200" kern="1200">
                <a:solidFill>
                  <a:schemeClr val="tx1"/>
                </a:solidFill>
                <a:effectLst/>
                <a:latin typeface="+mn-lt"/>
                <a:ea typeface="+mn-ea"/>
                <a:cs typeface="+mn-cs"/>
              </a:rPr>
              <a:t>Our rich tools, which are many, best in class in the industry, and we are very proud of, take the backseat..…and </a:t>
            </a:r>
            <a:r>
              <a:rPr lang="en-US" sz="1200" b="1" kern="1200">
                <a:solidFill>
                  <a:schemeClr val="tx1"/>
                </a:solidFill>
                <a:effectLst/>
                <a:latin typeface="+mn-lt"/>
                <a:ea typeface="+mn-ea"/>
                <a:cs typeface="+mn-cs"/>
              </a:rPr>
              <a:t>your</a:t>
            </a:r>
            <a:r>
              <a:rPr lang="en-US" sz="1200" kern="1200">
                <a:solidFill>
                  <a:schemeClr val="tx1"/>
                </a:solidFill>
                <a:effectLst/>
                <a:latin typeface="+mn-lt"/>
                <a:ea typeface="+mn-ea"/>
                <a:cs typeface="+mn-cs"/>
              </a:rPr>
              <a:t> business needs, context and constraints take the front seat.</a:t>
            </a:r>
          </a:p>
          <a:p>
            <a:r>
              <a:rPr lang="en-US" sz="1200" kern="1200">
                <a:solidFill>
                  <a:schemeClr val="tx1"/>
                </a:solidFill>
                <a:effectLst/>
                <a:latin typeface="+mn-lt"/>
                <a:ea typeface="+mn-ea"/>
                <a:cs typeface="+mn-cs"/>
              </a:rPr>
              <a:t> </a:t>
            </a:r>
          </a:p>
          <a:p>
            <a:r>
              <a:rPr lang="en-US" sz="1200" kern="1200">
                <a:solidFill>
                  <a:schemeClr val="tx1"/>
                </a:solidFill>
                <a:effectLst/>
                <a:latin typeface="+mn-lt"/>
                <a:ea typeface="+mn-ea"/>
                <a:cs typeface="+mn-cs"/>
              </a:rPr>
              <a:t>The tools are at the service of your needs and can accommodate any context and constraints, so you can use them in your terms. Your business goals come first, and our products are just tools to help you achieve those goals efficiently!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72DB773B-7CA8-7946-D7CC-C390FFFB3FEB}"/>
              </a:ext>
            </a:extLst>
          </p:cNvPr>
          <p:cNvSpPr>
            <a:spLocks noGrp="1"/>
          </p:cNvSpPr>
          <p:nvPr>
            <p:ph type="sldNum" sz="quarter" idx="5"/>
          </p:nvPr>
        </p:nvSpPr>
        <p:spPr/>
        <p:txBody>
          <a:bodyPr/>
          <a:lstStyle/>
          <a:p>
            <a:fld id="{3457D444-A536-C34C-BBE4-35E823AA1FE2}" type="slidenum">
              <a:rPr lang="en-US" smtClean="0"/>
              <a:t>2</a:t>
            </a:fld>
            <a:endParaRPr lang="en-US"/>
          </a:p>
        </p:txBody>
      </p:sp>
    </p:spTree>
    <p:extLst>
      <p:ext uri="{BB962C8B-B14F-4D97-AF65-F5344CB8AC3E}">
        <p14:creationId xmlns:p14="http://schemas.microsoft.com/office/powerpoint/2010/main" val="466301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ACDD4-55BF-DAB4-B67C-1A919284A2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FCF816-98EF-B0A9-7D2D-A21F335B5D2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72A61C5-81D8-EE95-6601-2E95BB411C82}"/>
              </a:ext>
            </a:extLst>
          </p:cNvPr>
          <p:cNvSpPr>
            <a:spLocks noGrp="1"/>
          </p:cNvSpPr>
          <p:nvPr>
            <p:ph type="body" idx="1"/>
          </p:nvPr>
        </p:nvSpPr>
        <p:spPr/>
        <p:txBody>
          <a:bodyPr/>
          <a:lstStyle/>
          <a:p>
            <a:r>
              <a:rPr lang="en-US" sz="1200" kern="1200">
                <a:solidFill>
                  <a:schemeClr val="tx1"/>
                </a:solidFill>
                <a:effectLst/>
                <a:latin typeface="+mn-lt"/>
                <a:ea typeface="+mn-ea"/>
                <a:cs typeface="+mn-cs"/>
              </a:rPr>
              <a:t>   When it comes to </a:t>
            </a:r>
            <a:r>
              <a:rPr lang="en-US" sz="1200" b="1" kern="1200">
                <a:solidFill>
                  <a:schemeClr val="tx1"/>
                </a:solidFill>
                <a:effectLst/>
                <a:latin typeface="+mn-lt"/>
                <a:ea typeface="+mn-ea"/>
                <a:cs typeface="+mn-cs"/>
              </a:rPr>
              <a:t>how</a:t>
            </a:r>
            <a:r>
              <a:rPr lang="en-US" sz="1200" kern="1200">
                <a:solidFill>
                  <a:schemeClr val="tx1"/>
                </a:solidFill>
                <a:effectLst/>
                <a:latin typeface="+mn-lt"/>
                <a:ea typeface="+mn-ea"/>
                <a:cs typeface="+mn-cs"/>
              </a:rPr>
              <a:t>, there are many ways to build a applications: you can go no-code, low code, vibe-code, pro-code, or whatever is the next market trend that will come up in the next few months. We will have it! For example, these days spec-driven development is very popular and we support it. In all cases, we will always support all ways to build your enterprise grade apps with high quality. And, very importantly, you don’t have to pick only one way: you can chose and move between these based on the needs and context of your project.</a:t>
            </a:r>
          </a:p>
          <a:p>
            <a:r>
              <a:rPr lang="en-US" sz="1200" kern="1200">
                <a:solidFill>
                  <a:schemeClr val="tx1"/>
                </a:solidFill>
                <a:effectLst/>
                <a:latin typeface="+mn-lt"/>
                <a:ea typeface="+mn-ea"/>
                <a:cs typeface="+mn-cs"/>
              </a:rPr>
              <a:t> </a:t>
            </a:r>
          </a:p>
          <a:p>
            <a:r>
              <a:rPr lang="en-US" sz="1200" kern="1200">
                <a:solidFill>
                  <a:schemeClr val="tx1"/>
                </a:solidFill>
                <a:effectLst/>
                <a:latin typeface="+mn-lt"/>
                <a:ea typeface="+mn-ea"/>
                <a:cs typeface="+mn-cs"/>
              </a:rPr>
              <a:t>When it comes to </a:t>
            </a:r>
            <a:r>
              <a:rPr lang="en-US" sz="1200" b="1" kern="1200">
                <a:solidFill>
                  <a:schemeClr val="tx1"/>
                </a:solidFill>
                <a:effectLst/>
                <a:latin typeface="+mn-lt"/>
                <a:ea typeface="+mn-ea"/>
                <a:cs typeface="+mn-cs"/>
              </a:rPr>
              <a:t>what</a:t>
            </a:r>
            <a:r>
              <a:rPr lang="en-US" sz="1200" kern="1200">
                <a:solidFill>
                  <a:schemeClr val="tx1"/>
                </a:solidFill>
                <a:effectLst/>
                <a:latin typeface="+mn-lt"/>
                <a:ea typeface="+mn-ea"/>
                <a:cs typeface="+mn-cs"/>
              </a:rPr>
              <a:t>, you can build web apps, desktop apps, mobile apps, kiosks, web sites. As the market evolve, we evolve with it to. For example, we support composable and decomposable apps that can be part of an agent conversation. And also, you don’t have to pick only one path: again, you can move freely based on the needs of your project.</a:t>
            </a:r>
          </a:p>
          <a:p>
            <a:r>
              <a:rPr lang="en-US" sz="1200" kern="1200">
                <a:solidFill>
                  <a:schemeClr val="tx1"/>
                </a:solidFill>
                <a:effectLst/>
                <a:latin typeface="+mn-lt"/>
                <a:ea typeface="+mn-ea"/>
                <a:cs typeface="+mn-cs"/>
              </a:rPr>
              <a:t> </a:t>
            </a:r>
          </a:p>
          <a:p>
            <a:r>
              <a:rPr lang="en-US" sz="1200" kern="1200">
                <a:solidFill>
                  <a:schemeClr val="tx1"/>
                </a:solidFill>
                <a:effectLst/>
                <a:latin typeface="+mn-lt"/>
                <a:ea typeface="+mn-ea"/>
                <a:cs typeface="+mn-cs"/>
              </a:rPr>
              <a:t>Finally, when it comes to </a:t>
            </a:r>
            <a:r>
              <a:rPr lang="en-US" sz="1200" b="1" kern="1200">
                <a:solidFill>
                  <a:schemeClr val="tx1"/>
                </a:solidFill>
                <a:effectLst/>
                <a:latin typeface="+mn-lt"/>
                <a:ea typeface="+mn-ea"/>
                <a:cs typeface="+mn-cs"/>
              </a:rPr>
              <a:t>Where</a:t>
            </a:r>
            <a:r>
              <a:rPr lang="en-US" sz="1200" kern="1200">
                <a:solidFill>
                  <a:schemeClr val="tx1"/>
                </a:solidFill>
                <a:effectLst/>
                <a:latin typeface="+mn-lt"/>
                <a:ea typeface="+mn-ea"/>
                <a:cs typeface="+mn-cs"/>
              </a:rPr>
              <a:t> to deploy, you can deploy insider or outside your firewall and now into Copilot too.</a:t>
            </a:r>
          </a:p>
          <a:p>
            <a:r>
              <a:rPr lang="en-US" sz="1200" kern="1200">
                <a:solidFill>
                  <a:schemeClr val="tx1"/>
                </a:solidFill>
                <a:effectLst/>
                <a:latin typeface="+mn-lt"/>
                <a:ea typeface="+mn-ea"/>
                <a:cs typeface="+mn-cs"/>
              </a:rPr>
              <a:t> </a:t>
            </a:r>
          </a:p>
          <a:p>
            <a:r>
              <a:rPr lang="en-US" sz="1200" kern="1200">
                <a:solidFill>
                  <a:schemeClr val="tx1"/>
                </a:solidFill>
                <a:effectLst/>
                <a:latin typeface="+mn-lt"/>
                <a:ea typeface="+mn-ea"/>
                <a:cs typeface="+mn-cs"/>
              </a:rPr>
              <a:t>And, as the market keeps evolving, the how, what and where </a:t>
            </a:r>
            <a:r>
              <a:rPr lang="en-US" sz="1200" b="1" kern="1200">
                <a:solidFill>
                  <a:schemeClr val="tx1"/>
                </a:solidFill>
                <a:effectLst/>
                <a:latin typeface="+mn-lt"/>
                <a:ea typeface="+mn-ea"/>
                <a:cs typeface="+mn-cs"/>
              </a:rPr>
              <a:t>evolves</a:t>
            </a:r>
            <a:r>
              <a:rPr lang="en-US" sz="1200" kern="1200">
                <a:solidFill>
                  <a:schemeClr val="tx1"/>
                </a:solidFill>
                <a:effectLst/>
                <a:latin typeface="+mn-lt"/>
                <a:ea typeface="+mn-ea"/>
                <a:cs typeface="+mn-cs"/>
              </a:rPr>
              <a:t> with it, so you can </a:t>
            </a:r>
            <a:r>
              <a:rPr lang="en-US" sz="1200" b="1" kern="1200">
                <a:solidFill>
                  <a:schemeClr val="tx1"/>
                </a:solidFill>
                <a:effectLst/>
                <a:latin typeface="+mn-lt"/>
                <a:ea typeface="+mn-ea"/>
                <a:cs typeface="+mn-cs"/>
              </a:rPr>
              <a:t>always</a:t>
            </a:r>
            <a:r>
              <a:rPr lang="en-US" sz="1200" kern="1200">
                <a:solidFill>
                  <a:schemeClr val="tx1"/>
                </a:solidFill>
                <a:effectLst/>
                <a:latin typeface="+mn-lt"/>
                <a:ea typeface="+mn-ea"/>
                <a:cs typeface="+mn-cs"/>
              </a:rPr>
              <a:t> get the best toolset to build enterprise solutions.</a:t>
            </a:r>
          </a:p>
          <a:p>
            <a:r>
              <a:rPr lang="en-US" sz="1200" kern="1200">
                <a:solidFill>
                  <a:schemeClr val="tx1"/>
                </a:solidFill>
                <a:effectLst/>
                <a:latin typeface="+mn-lt"/>
                <a:ea typeface="+mn-ea"/>
                <a:cs typeface="+mn-cs"/>
              </a:rPr>
              <a:t> </a:t>
            </a:r>
          </a:p>
          <a:p>
            <a:r>
              <a:rPr lang="en-US" sz="1200" kern="1200">
                <a:solidFill>
                  <a:schemeClr val="tx1"/>
                </a:solidFill>
                <a:effectLst/>
                <a:latin typeface="+mn-lt"/>
                <a:ea typeface="+mn-ea"/>
                <a:cs typeface="+mn-cs"/>
              </a:rPr>
              <a:t>We fundamentally believe that these are your solutions, so you can create them your own ways, based on your needs and constraints.</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And now, all of this is augmented with Al and agents!</a:t>
            </a:r>
          </a:p>
        </p:txBody>
      </p:sp>
      <p:sp>
        <p:nvSpPr>
          <p:cNvPr id="4" name="Slide Number Placeholder 3">
            <a:extLst>
              <a:ext uri="{FF2B5EF4-FFF2-40B4-BE49-F238E27FC236}">
                <a16:creationId xmlns:a16="http://schemas.microsoft.com/office/drawing/2014/main" id="{3C13B579-DD86-C28A-C73E-57D9FE8BA279}"/>
              </a:ext>
            </a:extLst>
          </p:cNvPr>
          <p:cNvSpPr>
            <a:spLocks noGrp="1"/>
          </p:cNvSpPr>
          <p:nvPr>
            <p:ph type="sldNum" sz="quarter" idx="5"/>
          </p:nvPr>
        </p:nvSpPr>
        <p:spPr/>
        <p:txBody>
          <a:bodyPr/>
          <a:lstStyle/>
          <a:p>
            <a:fld id="{034CED8C-5859-F348-9BC0-A90BE1EF7F05}" type="slidenum">
              <a:rPr lang="en-US" smtClean="0"/>
              <a:t>3</a:t>
            </a:fld>
            <a:endParaRPr lang="en-US"/>
          </a:p>
        </p:txBody>
      </p:sp>
    </p:spTree>
    <p:extLst>
      <p:ext uri="{BB962C8B-B14F-4D97-AF65-F5344CB8AC3E}">
        <p14:creationId xmlns:p14="http://schemas.microsoft.com/office/powerpoint/2010/main" val="155465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Although we talk about choice, when working with Power Platform there is always one constant: all solutions are deployed in an </a:t>
            </a:r>
            <a:r>
              <a:rPr lang="en-US" sz="1200" b="1" kern="1200">
                <a:solidFill>
                  <a:schemeClr val="tx1"/>
                </a:solidFill>
                <a:effectLst/>
                <a:latin typeface="+mn-lt"/>
                <a:ea typeface="+mn-ea"/>
                <a:cs typeface="+mn-cs"/>
              </a:rPr>
              <a:t>enterprise ready platform</a:t>
            </a:r>
            <a:r>
              <a:rPr lang="en-US" sz="1200" kern="1200">
                <a:solidFill>
                  <a:schemeClr val="tx1"/>
                </a:solidFill>
                <a:effectLst/>
                <a:latin typeface="+mn-lt"/>
                <a:ea typeface="+mn-ea"/>
                <a:cs typeface="+mn-cs"/>
              </a:rPr>
              <a:t> that includes managed security, managed governance, managed operations, and managed availability.</a:t>
            </a:r>
          </a:p>
          <a:p>
            <a:r>
              <a:rPr lang="en-US" sz="1200" kern="1200">
                <a:solidFill>
                  <a:schemeClr val="tx1"/>
                </a:solidFill>
                <a:effectLst/>
                <a:latin typeface="+mn-lt"/>
                <a:ea typeface="+mn-ea"/>
                <a:cs typeface="+mn-cs"/>
              </a:rPr>
              <a:t> </a:t>
            </a:r>
          </a:p>
          <a:p>
            <a:r>
              <a:rPr lang="en-US" sz="1200" kern="1200">
                <a:solidFill>
                  <a:schemeClr val="tx1"/>
                </a:solidFill>
                <a:effectLst/>
                <a:latin typeface="+mn-lt"/>
                <a:ea typeface="+mn-ea"/>
                <a:cs typeface="+mn-cs"/>
              </a:rPr>
              <a:t>So, no matter how you build, what do you build, or where you deploy, you will do it in a </a:t>
            </a:r>
            <a:r>
              <a:rPr lang="en-US" sz="1200" b="1" kern="1200">
                <a:solidFill>
                  <a:schemeClr val="tx1"/>
                </a:solidFill>
                <a:effectLst/>
                <a:latin typeface="+mn-lt"/>
                <a:ea typeface="+mn-ea"/>
                <a:cs typeface="+mn-cs"/>
              </a:rPr>
              <a:t>secure and enterprise ready platform</a:t>
            </a:r>
            <a:r>
              <a:rPr lang="en-US" sz="1200" kern="1200">
                <a:solidFill>
                  <a:schemeClr val="tx1"/>
                </a:solidFill>
                <a:effectLst/>
                <a:latin typeface="+mn-lt"/>
                <a:ea typeface="+mn-ea"/>
                <a:cs typeface="+mn-cs"/>
              </a:rPr>
              <a:t> that can accommodate to your needs, because the Power Platform is about you!</a:t>
            </a:r>
          </a:p>
        </p:txBody>
      </p:sp>
      <p:sp>
        <p:nvSpPr>
          <p:cNvPr id="4" name="Slide Number Placeholder 3"/>
          <p:cNvSpPr>
            <a:spLocks noGrp="1"/>
          </p:cNvSpPr>
          <p:nvPr>
            <p:ph type="sldNum" sz="quarter" idx="5"/>
          </p:nvPr>
        </p:nvSpPr>
        <p:spPr/>
        <p:txBody>
          <a:bodyPr/>
          <a:lstStyle/>
          <a:p>
            <a:fld id="{F688FC13-2E20-CA4A-93C7-0C6991A8116B}" type="slidenum">
              <a:rPr lang="en-US" smtClean="0"/>
              <a:t>4</a:t>
            </a:fld>
            <a:endParaRPr lang="en-US"/>
          </a:p>
        </p:txBody>
      </p:sp>
    </p:spTree>
    <p:extLst>
      <p:ext uri="{BB962C8B-B14F-4D97-AF65-F5344CB8AC3E}">
        <p14:creationId xmlns:p14="http://schemas.microsoft.com/office/powerpoint/2010/main" val="1031338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11480-0B96-F9C7-9FCB-A2E547899A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DE2A5F-B9A9-E626-FA82-15C166981F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BBA9AC-74A3-A34B-6057-BCA168F9001C}"/>
              </a:ext>
            </a:extLst>
          </p:cNvPr>
          <p:cNvSpPr>
            <a:spLocks noGrp="1"/>
          </p:cNvSpPr>
          <p:nvPr>
            <p:ph type="body" idx="1"/>
          </p:nvPr>
        </p:nvSpPr>
        <p:spPr/>
        <p:txBody>
          <a:bodyPr/>
          <a:lstStyle/>
          <a:p>
            <a:endParaRPr lang="en-US" sz="120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E1A023E-6513-ED52-FEC0-17F57ECD452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457D444-A536-C34C-BBE4-35E823AA1FE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25069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DD591-5F16-9E56-BCF7-24E5F02CA2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BA9B35-B790-5E2A-445D-9A3967FD8B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45AEF08-8E1F-D859-6841-99DE3C703B06}"/>
              </a:ext>
            </a:extLst>
          </p:cNvPr>
          <p:cNvSpPr>
            <a:spLocks noGrp="1"/>
          </p:cNvSpPr>
          <p:nvPr>
            <p:ph type="body" idx="1"/>
          </p:nvPr>
        </p:nvSpPr>
        <p:spPr/>
        <p:txBody>
          <a:bodyPr/>
          <a:lstStyle/>
          <a:p>
            <a:r>
              <a:rPr lang="en-US"/>
              <a:t>“This slide illustrates the evolution of automation capabilities as we move toward agentic automation. It’s a spectrum—from simple rule-based automation to mature autonomous agents.”</a:t>
            </a:r>
          </a:p>
          <a:p>
            <a:br>
              <a:rPr lang="en-US"/>
            </a:br>
            <a:endParaRPr lang="en-US"/>
          </a:p>
          <a:p>
            <a:r>
              <a:rPr lang="en-US" b="1"/>
              <a:t>1. Rule-Based Automation</a:t>
            </a:r>
          </a:p>
          <a:p>
            <a:r>
              <a:rPr lang="en-US"/>
              <a:t>“At the starting point, we have rule-based automation. These are simple automations that execute predefined tasks based on fixed rules. They’re highly structured and require significant human oversight.”</a:t>
            </a:r>
          </a:p>
          <a:p>
            <a:r>
              <a:rPr lang="en-US"/>
              <a:t>“Think of traditional RPA bots that follow a script without any flexibility.”</a:t>
            </a:r>
          </a:p>
          <a:p>
            <a:br>
              <a:rPr lang="en-US"/>
            </a:br>
            <a:endParaRPr lang="en-US"/>
          </a:p>
          <a:p>
            <a:r>
              <a:rPr lang="en-US" b="1"/>
              <a:t>2. Intelligent Process Automations</a:t>
            </a:r>
          </a:p>
          <a:p>
            <a:r>
              <a:rPr lang="en-US"/>
              <a:t>“Next, we introduce intelligence into automation. Here, AI combines with automation to add cognitive abilities like natural language processing and machine learning.”</a:t>
            </a:r>
          </a:p>
          <a:p>
            <a:r>
              <a:rPr lang="en-US"/>
              <a:t>“These systems can handle more complex tasks but still rely heavily on human supervision.”</a:t>
            </a:r>
          </a:p>
          <a:p>
            <a:br>
              <a:rPr lang="en-US"/>
            </a:br>
            <a:endParaRPr lang="en-US"/>
          </a:p>
          <a:p>
            <a:r>
              <a:rPr lang="en-US" b="1"/>
              <a:t>3. Agentic Workflows</a:t>
            </a:r>
          </a:p>
          <a:p>
            <a:r>
              <a:rPr lang="en-US"/>
              <a:t>“This is where agentic principles start to appear. Agents can generate content, plan, reason, and adapt within defined domains.”</a:t>
            </a:r>
          </a:p>
          <a:p>
            <a:r>
              <a:rPr lang="en-US"/>
              <a:t>“However, human validation is still required at critical points to ensure accuracy and compliance.”</a:t>
            </a:r>
          </a:p>
          <a:p>
            <a:br>
              <a:rPr lang="en-US"/>
            </a:br>
            <a:endParaRPr lang="en-US"/>
          </a:p>
          <a:p>
            <a:r>
              <a:rPr lang="en-US" b="1"/>
              <a:t>4. Autonomous Agents</a:t>
            </a:r>
          </a:p>
          <a:p>
            <a:r>
              <a:rPr lang="en-US"/>
              <a:t>“Moving further, agents become more independent. They operate autonomously within their domain expertise, adapt strategies, and learn with minimal human intervention.”</a:t>
            </a:r>
          </a:p>
          <a:p>
            <a:r>
              <a:rPr lang="en-US"/>
              <a:t>“This is a big step toward reducing manual oversight.”</a:t>
            </a:r>
          </a:p>
          <a:p>
            <a:br>
              <a:rPr lang="en-US"/>
            </a:br>
            <a:endParaRPr lang="en-US"/>
          </a:p>
          <a:p>
            <a:r>
              <a:rPr lang="en-US" b="1"/>
              <a:t>5. Mature Autonomous Agents</a:t>
            </a:r>
          </a:p>
          <a:p>
            <a:r>
              <a:rPr lang="en-US"/>
              <a:t>“Finally, we reach mature autonomous agents. These AI systems can handle tasks across domains, learn continuously, and self-adapt without human involvement.”</a:t>
            </a:r>
          </a:p>
          <a:p>
            <a:r>
              <a:rPr lang="en-US"/>
              <a:t>“This represents the ultimate goal of agentic automation—true autonomy and adaptability.”</a:t>
            </a:r>
          </a:p>
          <a:p>
            <a:endParaRPr lang="en-US"/>
          </a:p>
          <a:p>
            <a:endParaRPr lang="en-US"/>
          </a:p>
        </p:txBody>
      </p:sp>
      <p:sp>
        <p:nvSpPr>
          <p:cNvPr id="4" name="Slide Number Placeholder 3">
            <a:extLst>
              <a:ext uri="{FF2B5EF4-FFF2-40B4-BE49-F238E27FC236}">
                <a16:creationId xmlns:a16="http://schemas.microsoft.com/office/drawing/2014/main" id="{A840D9F4-A308-02A7-3A95-5C18B369B503}"/>
              </a:ext>
            </a:extLst>
          </p:cNvPr>
          <p:cNvSpPr>
            <a:spLocks noGrp="1"/>
          </p:cNvSpPr>
          <p:nvPr>
            <p:ph type="sldNum" sz="quarter" idx="5"/>
          </p:nvPr>
        </p:nvSpPr>
        <p:spPr/>
        <p:txBody>
          <a:bodyPr/>
          <a:lstStyle/>
          <a:p>
            <a:fld id="{D47C6F5A-B6C5-4847-917B-B5EC984E967A}" type="slidenum">
              <a:rPr lang="en-US" smtClean="0"/>
              <a:t>9</a:t>
            </a:fld>
            <a:endParaRPr lang="en-US"/>
          </a:p>
        </p:txBody>
      </p:sp>
    </p:spTree>
    <p:extLst>
      <p:ext uri="{BB962C8B-B14F-4D97-AF65-F5344CB8AC3E}">
        <p14:creationId xmlns:p14="http://schemas.microsoft.com/office/powerpoint/2010/main" val="1832691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And document processing is easier than ever before with comprehensive automation capabilities including AI. This is what that looks like for a proposal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We use DPA, or digital process automaton, to receive an RFP sent to the sales team in Outlook. Power Automate responds to this event by kicking of a workflow that analyzes the document with AI builder using a prebuilt forms processing model to extract details from the RFP.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After storing key details in Dataverse, the data is sent to a designated person to review and validate the information. Finally, the data needs to be stored in a legacy system that doesn’t have API integrations. So instead of using digital process automation, we use robotic process automation to emulate the actions of a person. An RPA bot then copies the necessary information into the legacy system of record to complete the flow.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77467E-51FE-4502-97D6-46BA6B4A3BF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57925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4_Cover">
    <p:bg>
      <p:bgPr>
        <a:solidFill>
          <a:schemeClr val="bg2">
            <a:lumMod val="1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55059A-33DE-360A-E35C-F56834B2ABCE}"/>
              </a:ext>
            </a:extLst>
          </p:cNvPr>
          <p:cNvPicPr>
            <a:picLocks noChangeAspect="1"/>
          </p:cNvPicPr>
          <p:nvPr userDrawn="1"/>
        </p:nvPicPr>
        <p:blipFill>
          <a:blip r:embed="rId2"/>
          <a:srcRect l="1148" r="1146"/>
          <a:stretch>
            <a:fillRect/>
          </a:stretch>
        </p:blipFill>
        <p:spPr>
          <a:xfrm>
            <a:off x="-1" y="-1"/>
            <a:ext cx="12192001" cy="6858000"/>
          </a:xfrm>
          <a:prstGeom prst="rect">
            <a:avLst/>
          </a:prstGeom>
        </p:spPr>
      </p:pic>
    </p:spTree>
    <p:extLst>
      <p:ext uri="{BB962C8B-B14F-4D97-AF65-F5344CB8AC3E}">
        <p14:creationId xmlns:p14="http://schemas.microsoft.com/office/powerpoint/2010/main" val="1786028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Blank_dark">
    <p:bg>
      <p:bgPr>
        <a:solidFill>
          <a:srgbClr val="17171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6480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Disposition personnalisée">
    <p:bg>
      <p:bgPr>
        <a:solidFill>
          <a:schemeClr val="tx1"/>
        </a:solidFill>
        <a:effectLst/>
      </p:bgPr>
    </p:bg>
    <p:spTree>
      <p:nvGrpSpPr>
        <p:cNvPr id="1" name=""/>
        <p:cNvGrpSpPr/>
        <p:nvPr/>
      </p:nvGrpSpPr>
      <p:grpSpPr>
        <a:xfrm>
          <a:off x="0" y="0"/>
          <a:ext cx="0" cy="0"/>
          <a:chOff x="0" y="0"/>
          <a:chExt cx="0" cy="0"/>
        </a:xfrm>
      </p:grpSpPr>
      <p:pic>
        <p:nvPicPr>
          <p:cNvPr id="23" name="Image 22" descr="Une image contenant capture d’écran, Graphique, noir, conception&#10;&#10;Description générée automatiquement">
            <a:extLst>
              <a:ext uri="{FF2B5EF4-FFF2-40B4-BE49-F238E27FC236}">
                <a16:creationId xmlns:a16="http://schemas.microsoft.com/office/drawing/2014/main" id="{D3B1E54B-713E-5AE0-33FC-EDAA956EF14A}"/>
              </a:ext>
            </a:extLst>
          </p:cNvPr>
          <p:cNvPicPr>
            <a:picLocks noChangeAspect="1"/>
          </p:cNvPicPr>
          <p:nvPr userDrawn="1"/>
        </p:nvPicPr>
        <p:blipFill>
          <a:blip r:embed="rId2">
            <a:alphaModFix amt="46000"/>
          </a:blip>
          <a:stretch>
            <a:fillRect/>
          </a:stretch>
        </p:blipFill>
        <p:spPr>
          <a:xfrm>
            <a:off x="5994400" y="14639"/>
            <a:ext cx="6197600" cy="6858000"/>
          </a:xfrm>
          <a:prstGeom prst="rect">
            <a:avLst/>
          </a:prstGeom>
        </p:spPr>
      </p:pic>
      <p:sp>
        <p:nvSpPr>
          <p:cNvPr id="17" name="Espace réservé du texte 16">
            <a:extLst>
              <a:ext uri="{FF2B5EF4-FFF2-40B4-BE49-F238E27FC236}">
                <a16:creationId xmlns:a16="http://schemas.microsoft.com/office/drawing/2014/main" id="{4D3C047C-33A0-0C2B-08B4-6C062890F01F}"/>
              </a:ext>
            </a:extLst>
          </p:cNvPr>
          <p:cNvSpPr>
            <a:spLocks noGrp="1"/>
          </p:cNvSpPr>
          <p:nvPr>
            <p:ph type="body" sz="quarter" idx="10" hasCustomPrompt="1"/>
          </p:nvPr>
        </p:nvSpPr>
        <p:spPr>
          <a:xfrm>
            <a:off x="3119828" y="2348850"/>
            <a:ext cx="8489560" cy="2160300"/>
          </a:xfrm>
        </p:spPr>
        <p:txBody>
          <a:bodyPr anchor="ctr" anchorCtr="0">
            <a:noAutofit/>
          </a:bodyPr>
          <a:lstStyle>
            <a:lvl1pPr marL="0" marR="0" indent="0" algn="l" defTabSz="932789" rtl="0" eaLnBrk="1" fontAlgn="auto" latinLnBrk="0" hangingPunct="1">
              <a:lnSpc>
                <a:spcPct val="100000"/>
              </a:lnSpc>
              <a:spcBef>
                <a:spcPct val="20000"/>
              </a:spcBef>
              <a:spcAft>
                <a:spcPts val="0"/>
              </a:spcAft>
              <a:buClrTx/>
              <a:buSzPct val="90000"/>
              <a:buFontTx/>
              <a:buNone/>
              <a:tabLst/>
              <a:defRPr sz="3600" b="1">
                <a:solidFill>
                  <a:schemeClr val="bg1"/>
                </a:solidFill>
              </a:defRPr>
            </a:lvl1pPr>
            <a:lvl2pPr marL="228611" indent="0">
              <a:buFontTx/>
              <a:buNone/>
              <a:defRPr/>
            </a:lvl2pPr>
            <a:lvl3pPr marL="457223" indent="0">
              <a:buFontTx/>
              <a:buNone/>
              <a:defRPr/>
            </a:lvl3pPr>
            <a:lvl4pPr marL="662021" indent="0">
              <a:buFontTx/>
              <a:buNone/>
              <a:defRPr/>
            </a:lvl4pPr>
            <a:lvl5pPr marL="855706" indent="0">
              <a:buFontTx/>
              <a:buNone/>
              <a:defRPr/>
            </a:lvl5pPr>
          </a:lstStyle>
          <a:p>
            <a:pPr marL="0" marR="0" lvl="0" indent="0" algn="l" defTabSz="932789" rtl="0" eaLnBrk="1" fontAlgn="auto" latinLnBrk="0" hangingPunct="1">
              <a:lnSpc>
                <a:spcPct val="100000"/>
              </a:lnSpc>
              <a:spcBef>
                <a:spcPct val="20000"/>
              </a:spcBef>
              <a:spcAft>
                <a:spcPts val="0"/>
              </a:spcAft>
              <a:buClrTx/>
              <a:buSzPct val="90000"/>
              <a:buFontTx/>
              <a:buNone/>
              <a:tabLst/>
              <a:defRPr/>
            </a:pPr>
            <a:r>
              <a:rPr lang="fr-FR"/>
              <a:t>SECTION TITLE</a:t>
            </a:r>
          </a:p>
        </p:txBody>
      </p:sp>
      <p:pic>
        <p:nvPicPr>
          <p:cNvPr id="21" name="Image 20">
            <a:extLst>
              <a:ext uri="{FF2B5EF4-FFF2-40B4-BE49-F238E27FC236}">
                <a16:creationId xmlns:a16="http://schemas.microsoft.com/office/drawing/2014/main" id="{09F63692-ADBB-A928-7CD0-49DE766242B8}"/>
              </a:ext>
            </a:extLst>
          </p:cNvPr>
          <p:cNvPicPr>
            <a:picLocks noChangeAspect="1"/>
          </p:cNvPicPr>
          <p:nvPr userDrawn="1"/>
        </p:nvPicPr>
        <p:blipFill>
          <a:blip r:embed="rId3"/>
          <a:stretch>
            <a:fillRect/>
          </a:stretch>
        </p:blipFill>
        <p:spPr>
          <a:xfrm>
            <a:off x="584201" y="3059188"/>
            <a:ext cx="1725673" cy="553998"/>
          </a:xfrm>
          <a:prstGeom prst="rect">
            <a:avLst/>
          </a:prstGeom>
        </p:spPr>
      </p:pic>
      <p:cxnSp>
        <p:nvCxnSpPr>
          <p:cNvPr id="22" name="Connecteur droit 21">
            <a:extLst>
              <a:ext uri="{FF2B5EF4-FFF2-40B4-BE49-F238E27FC236}">
                <a16:creationId xmlns:a16="http://schemas.microsoft.com/office/drawing/2014/main" id="{BA0E431C-D971-14DB-2305-3C93BE7876D5}"/>
              </a:ext>
            </a:extLst>
          </p:cNvPr>
          <p:cNvCxnSpPr>
            <a:cxnSpLocks/>
          </p:cNvCxnSpPr>
          <p:nvPr userDrawn="1"/>
        </p:nvCxnSpPr>
        <p:spPr>
          <a:xfrm>
            <a:off x="2754463" y="2112580"/>
            <a:ext cx="0" cy="2662121"/>
          </a:xfrm>
          <a:prstGeom prst="line">
            <a:avLst/>
          </a:prstGeom>
          <a:ln w="15875">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7537979"/>
      </p:ext>
    </p:extLst>
  </p:cSld>
  <p:clrMapOvr>
    <a:masterClrMapping/>
  </p:clrMapOvr>
  <p:transition>
    <p:fade/>
  </p:transition>
  <p:extLst>
    <p:ext uri="{DCECCB84-F9BA-43D5-87BE-67443E8EF086}">
      <p15:sldGuideLst xmlns:p15="http://schemas.microsoft.com/office/powerpoint/2012/main">
        <p15:guide id="1" pos="3840">
          <p15:clr>
            <a:srgbClr val="FBAE40"/>
          </p15:clr>
        </p15:guide>
        <p15:guide id="2" pos="19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89608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4020619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7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7471198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07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413271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_dark">
    <p:bg>
      <p:bgPr>
        <a:solidFill>
          <a:srgbClr val="17171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37780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4.svg"/><Relationship Id="rId5" Type="http://schemas.openxmlformats.org/officeDocument/2006/relationships/theme" Target="../theme/theme2.xml"/><Relationship Id="rId4"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10/14/2026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352368677"/>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707"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147" userDrawn="1">
          <p15:clr>
            <a:srgbClr val="F26B43"/>
          </p15:clr>
        </p15:guide>
        <p15:guide id="4" pos="608" userDrawn="1">
          <p15:clr>
            <a:srgbClr val="F26B43"/>
          </p15:clr>
        </p15:guide>
        <p15:guide id="5" pos="1070" userDrawn="1">
          <p15:clr>
            <a:srgbClr val="F26B43"/>
          </p15:clr>
        </p15:guide>
        <p15:guide id="6" pos="1531" userDrawn="1">
          <p15:clr>
            <a:srgbClr val="F26B43"/>
          </p15:clr>
        </p15:guide>
        <p15:guide id="7" pos="1993" userDrawn="1">
          <p15:clr>
            <a:srgbClr val="F26B43"/>
          </p15:clr>
        </p15:guide>
        <p15:guide id="8" pos="2455" userDrawn="1">
          <p15:clr>
            <a:srgbClr val="F26B43"/>
          </p15:clr>
        </p15:guide>
        <p15:guide id="9" pos="2916" userDrawn="1">
          <p15:clr>
            <a:srgbClr val="F26B43"/>
          </p15:clr>
        </p15:guide>
        <p15:guide id="10" pos="3378" userDrawn="1">
          <p15:clr>
            <a:srgbClr val="F26B43"/>
          </p15:clr>
        </p15:guide>
        <p15:guide id="11" pos="3840" userDrawn="1">
          <p15:clr>
            <a:srgbClr val="F26B43"/>
          </p15:clr>
        </p15:guide>
        <p15:guide id="12" pos="4301" userDrawn="1">
          <p15:clr>
            <a:srgbClr val="F26B43"/>
          </p15:clr>
        </p15:guide>
        <p15:guide id="13" pos="4763" userDrawn="1">
          <p15:clr>
            <a:srgbClr val="F26B43"/>
          </p15:clr>
        </p15:guide>
        <p15:guide id="14" pos="5224" userDrawn="1">
          <p15:clr>
            <a:srgbClr val="F26B43"/>
          </p15:clr>
        </p15:guide>
        <p15:guide id="15" pos="5686" userDrawn="1">
          <p15:clr>
            <a:srgbClr val="F26B43"/>
          </p15:clr>
        </p15:guide>
        <p15:guide id="16" pos="6148" userDrawn="1">
          <p15:clr>
            <a:srgbClr val="F26B43"/>
          </p15:clr>
        </p15:guide>
        <p15:guide id="17" pos="6610" userDrawn="1">
          <p15:clr>
            <a:srgbClr val="F26B43"/>
          </p15:clr>
        </p15:guide>
        <p15:guide id="18" pos="7071" userDrawn="1">
          <p15:clr>
            <a:srgbClr val="F26B43"/>
          </p15:clr>
        </p15:guide>
        <p15:guide id="19" pos="7533" userDrawn="1">
          <p15:clr>
            <a:srgbClr val="F26B43"/>
          </p15:clr>
        </p15:guide>
        <p15:guide id="20" orient="horz" userDrawn="1">
          <p15:clr>
            <a:srgbClr val="F26B43"/>
          </p15:clr>
        </p15:guide>
        <p15:guide id="21" orient="horz" pos="4320" userDrawn="1">
          <p15:clr>
            <a:srgbClr val="F26B43"/>
          </p15:clr>
        </p15:guide>
        <p15:guide id="22" orient="horz" pos="240" userDrawn="1">
          <p15:clr>
            <a:srgbClr val="F26B43"/>
          </p15:clr>
        </p15:guide>
        <p15:guide id="23" orient="horz" pos="720" userDrawn="1">
          <p15:clr>
            <a:srgbClr val="F26B43"/>
          </p15:clr>
        </p15:guide>
        <p15:guide id="24" orient="horz" pos="1200" userDrawn="1">
          <p15:clr>
            <a:srgbClr val="F26B43"/>
          </p15:clr>
        </p15:guide>
        <p15:guide id="25" orient="horz" pos="1680" userDrawn="1">
          <p15:clr>
            <a:srgbClr val="F26B43"/>
          </p15:clr>
        </p15:guide>
        <p15:guide id="26" orient="horz" pos="2160" userDrawn="1">
          <p15:clr>
            <a:srgbClr val="F26B43"/>
          </p15:clr>
        </p15:guide>
        <p15:guide id="27" orient="horz" pos="2640" userDrawn="1">
          <p15:clr>
            <a:srgbClr val="F26B43"/>
          </p15:clr>
        </p15:guide>
        <p15:guide id="28" orient="horz" pos="3120" userDrawn="1">
          <p15:clr>
            <a:srgbClr val="F26B43"/>
          </p15:clr>
        </p15:guide>
        <p15:guide id="29" orient="horz" pos="3600" userDrawn="1">
          <p15:clr>
            <a:srgbClr val="F26B43"/>
          </p15:clr>
        </p15:guide>
        <p15:guide id="30" orient="horz" pos="40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E70860-B881-5122-E137-8711CB0D6B02}"/>
              </a:ext>
            </a:extLst>
          </p:cNvPr>
          <p:cNvSpPr>
            <a:spLocks noGrp="1"/>
          </p:cNvSpPr>
          <p:nvPr>
            <p:ph type="title"/>
          </p:nvPr>
        </p:nvSpPr>
        <p:spPr>
          <a:xfrm>
            <a:off x="549274" y="472440"/>
            <a:ext cx="11089218" cy="457200"/>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E606F1A1-1586-42EF-9CA2-16F10CD83DF7}"/>
              </a:ext>
            </a:extLst>
          </p:cNvPr>
          <p:cNvSpPr>
            <a:spLocks noGrp="1"/>
          </p:cNvSpPr>
          <p:nvPr>
            <p:ph type="body" idx="1"/>
          </p:nvPr>
        </p:nvSpPr>
        <p:spPr>
          <a:xfrm>
            <a:off x="549274" y="1638301"/>
            <a:ext cx="11093451" cy="45339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110BB91-0DF2-F86D-A282-C050CAF65527}"/>
              </a:ext>
            </a:extLst>
          </p:cNvPr>
          <p:cNvSpPr>
            <a:spLocks noGrp="1"/>
          </p:cNvSpPr>
          <p:nvPr>
            <p:ph type="ftr" sz="quarter" idx="3"/>
          </p:nvPr>
        </p:nvSpPr>
        <p:spPr>
          <a:xfrm>
            <a:off x="549274" y="6341190"/>
            <a:ext cx="5480051" cy="246221"/>
          </a:xfrm>
          <a:prstGeom prst="rect">
            <a:avLst/>
          </a:prstGeom>
        </p:spPr>
        <p:txBody>
          <a:bodyPr vert="horz" wrap="square" lIns="0" tIns="45720" rIns="0" bIns="45720" rtlCol="0" anchor="ctr">
            <a:spAutoFit/>
          </a:bodyPr>
          <a:lstStyle>
            <a:lvl1pPr algn="l">
              <a:defRPr sz="1000">
                <a:solidFill>
                  <a:schemeClr val="tx1">
                    <a:lumMod val="50000"/>
                    <a:lumOff val="50000"/>
                  </a:schemeClr>
                </a:solidFill>
              </a:defRPr>
            </a:lvl1pPr>
          </a:lstStyle>
          <a:p>
            <a:pPr>
              <a:defRPr/>
            </a:pPr>
            <a:r>
              <a:rPr lang="en-US">
                <a:solidFill>
                  <a:prstClr val="black">
                    <a:lumMod val="50000"/>
                    <a:lumOff val="50000"/>
                  </a:prstClr>
                </a:solidFill>
              </a:rPr>
              <a:t>Modern Work Enablement</a:t>
            </a:r>
          </a:p>
        </p:txBody>
      </p:sp>
      <p:sp>
        <p:nvSpPr>
          <p:cNvPr id="6" name="Slide Number Placeholder 5">
            <a:extLst>
              <a:ext uri="{FF2B5EF4-FFF2-40B4-BE49-F238E27FC236}">
                <a16:creationId xmlns:a16="http://schemas.microsoft.com/office/drawing/2014/main" id="{78227534-F4D4-095D-03EE-12A9688346D0}"/>
              </a:ext>
            </a:extLst>
          </p:cNvPr>
          <p:cNvSpPr>
            <a:spLocks noGrp="1"/>
          </p:cNvSpPr>
          <p:nvPr>
            <p:ph type="sldNum" sz="quarter" idx="4"/>
          </p:nvPr>
        </p:nvSpPr>
        <p:spPr>
          <a:xfrm>
            <a:off x="9904413" y="6331904"/>
            <a:ext cx="1734079" cy="246221"/>
          </a:xfrm>
          <a:prstGeom prst="rect">
            <a:avLst/>
          </a:prstGeom>
        </p:spPr>
        <p:txBody>
          <a:bodyPr vert="horz" wrap="square" lIns="0" tIns="45720" rIns="0" bIns="45720" rtlCol="0" anchor="ctr">
            <a:spAutoFit/>
          </a:bodyPr>
          <a:lstStyle>
            <a:lvl1pPr algn="r">
              <a:defRPr sz="1000">
                <a:solidFill>
                  <a:schemeClr val="tx1">
                    <a:lumMod val="50000"/>
                    <a:lumOff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67CA0B0-04EF-433A-8113-67BC344D39D3}" type="slidenum">
              <a:rPr kumimoji="0" lang="en-US" sz="1000" b="0" i="0" u="none" strike="noStrike" kern="1200" cap="none" spc="0" normalizeH="0" baseline="0" noProof="0" smtClean="0">
                <a:ln>
                  <a:noFill/>
                </a:ln>
                <a:solidFill>
                  <a:prstClr val="black">
                    <a:lumMod val="50000"/>
                    <a:lumOff val="50000"/>
                  </a:prstClr>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lumMod val="50000"/>
                  <a:lumOff val="50000"/>
                </a:prstClr>
              </a:solidFill>
              <a:effectLst/>
              <a:uLnTx/>
              <a:uFillTx/>
              <a:latin typeface="Segoe UI"/>
              <a:ea typeface="+mn-ea"/>
              <a:cs typeface="+mn-cs"/>
            </a:endParaRPr>
          </a:p>
        </p:txBody>
      </p:sp>
      <p:pic>
        <p:nvPicPr>
          <p:cNvPr id="7" name="Graphic 6">
            <a:extLst>
              <a:ext uri="{FF2B5EF4-FFF2-40B4-BE49-F238E27FC236}">
                <a16:creationId xmlns:a16="http://schemas.microsoft.com/office/drawing/2014/main" id="{3BAC4348-B8BB-E69B-E197-7B5B8B4EF1F3}"/>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rot="5400000">
            <a:off x="10097704" y="2163762"/>
            <a:ext cx="5409405" cy="1081881"/>
          </a:xfrm>
          <a:prstGeom prst="rect">
            <a:avLst/>
          </a:prstGeom>
        </p:spPr>
      </p:pic>
      <p:sp>
        <p:nvSpPr>
          <p:cNvPr id="20" name="Rectangle 19">
            <a:extLst>
              <a:ext uri="{FF2B5EF4-FFF2-40B4-BE49-F238E27FC236}">
                <a16:creationId xmlns:a16="http://schemas.microsoft.com/office/drawing/2014/main" id="{390E478A-0CF1-92BB-6544-671F49FC183A}"/>
              </a:ext>
              <a:ext uri="{C183D7F6-B498-43B3-948B-1728B52AA6E4}">
                <adec:decorative xmlns:adec="http://schemas.microsoft.com/office/drawing/2017/decorative" val="1"/>
              </a:ext>
            </a:extLst>
          </p:cNvPr>
          <p:cNvSpPr/>
          <p:nvPr/>
        </p:nvSpPr>
        <p:spPr>
          <a:xfrm>
            <a:off x="0" y="6720840"/>
            <a:ext cx="12192000" cy="13716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2291828654"/>
      </p:ext>
    </p:extLst>
  </p:cSld>
  <p:clrMap bg1="lt1" tx1="dk1" bg2="lt2" tx2="dk2" accent1="accent1" accent2="accent2" accent3="accent3" accent4="accent4" accent5="accent5" accent6="accent6" hlink="hlink" folHlink="folHlink"/>
  <p:sldLayoutIdLst>
    <p:sldLayoutId id="2147483694" r:id="rId1"/>
    <p:sldLayoutId id="2147483699" r:id="rId2"/>
    <p:sldLayoutId id="2147483701" r:id="rId3"/>
    <p:sldLayoutId id="2147483711" r:id="rId4"/>
  </p:sldLayoutIdLst>
  <p:hf hdr="0" dt="0"/>
  <p:txStyles>
    <p:titleStyle>
      <a:lvl1pPr algn="l" defTabSz="914400" rtl="0" eaLnBrk="1" latinLnBrk="0" hangingPunct="1">
        <a:lnSpc>
          <a:spcPct val="90000"/>
        </a:lnSpc>
        <a:spcBef>
          <a:spcPct val="0"/>
        </a:spcBef>
        <a:buNone/>
        <a:defRPr sz="4200" b="1" i="0" kern="1200" spc="-70" baseline="0">
          <a:solidFill>
            <a:schemeClr val="tx1"/>
          </a:solidFill>
          <a:latin typeface="Segoe Sans Display Semibold" pitchFamily="2" charset="0"/>
          <a:ea typeface="+mj-ea"/>
          <a:cs typeface="Segoe Sans Display Semibold" pitchFamily="2" charset="0"/>
        </a:defRPr>
      </a:lvl1pPr>
    </p:titleStyle>
    <p:bodyStyle>
      <a:lvl1pPr marL="0" indent="0" algn="l" defTabSz="914400" rtl="0" eaLnBrk="1" latinLnBrk="0" hangingPunct="1">
        <a:lnSpc>
          <a:spcPct val="90000"/>
        </a:lnSpc>
        <a:spcBef>
          <a:spcPts val="1200"/>
        </a:spcBef>
        <a:spcAft>
          <a:spcPts val="600"/>
        </a:spcAft>
        <a:buFont typeface="Arial" panose="020B0604020202020204" pitchFamily="34" charset="0"/>
        <a:buNone/>
        <a:defRPr sz="2600" kern="2000" spc="-50" baseline="0">
          <a:solidFill>
            <a:schemeClr val="tx1"/>
          </a:solidFill>
          <a:latin typeface="Segoe Sans Display" pitchFamily="2" charset="0"/>
          <a:ea typeface="+mn-ea"/>
          <a:cs typeface="Segoe Sans Display" pitchFamily="2" charset="0"/>
        </a:defRPr>
      </a:lvl1pPr>
      <a:lvl2pPr marL="0" indent="0" algn="l" defTabSz="914400" rtl="0" eaLnBrk="1" latinLnBrk="0" hangingPunct="1">
        <a:lnSpc>
          <a:spcPct val="90000"/>
        </a:lnSpc>
        <a:spcBef>
          <a:spcPts val="600"/>
        </a:spcBef>
        <a:spcAft>
          <a:spcPts val="600"/>
        </a:spcAft>
        <a:buFont typeface="Arial" panose="020B0604020202020204" pitchFamily="34" charset="0"/>
        <a:buNone/>
        <a:defRPr sz="2600" kern="2000" spc="-50" baseline="0">
          <a:solidFill>
            <a:schemeClr val="tx1"/>
          </a:solidFill>
          <a:latin typeface="Segoe Sans Display" pitchFamily="2" charset="0"/>
          <a:ea typeface="+mn-ea"/>
          <a:cs typeface="Segoe Sans Display" pitchFamily="2" charset="0"/>
        </a:defRPr>
      </a:lvl2pPr>
      <a:lvl3pPr marL="0" indent="0" algn="l" defTabSz="914400" rtl="0" eaLnBrk="1" latinLnBrk="0" hangingPunct="1">
        <a:lnSpc>
          <a:spcPct val="100000"/>
        </a:lnSpc>
        <a:spcBef>
          <a:spcPts val="600"/>
        </a:spcBef>
        <a:spcAft>
          <a:spcPts val="600"/>
        </a:spcAft>
        <a:buFont typeface="Arial" panose="020B0604020202020204" pitchFamily="34" charset="0"/>
        <a:buNone/>
        <a:defRPr sz="1600" kern="1200" baseline="0">
          <a:solidFill>
            <a:schemeClr val="tx1"/>
          </a:solidFill>
          <a:latin typeface="Segoe Sans Display" pitchFamily="2" charset="0"/>
          <a:ea typeface="+mn-ea"/>
          <a:cs typeface="Segoe Sans Display" pitchFamily="2" charset="0"/>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solidFill>
          <a:latin typeface="Segoe Sans Display" pitchFamily="2" charset="0"/>
          <a:ea typeface="+mn-ea"/>
          <a:cs typeface="Segoe Sans Display" pitchFamily="2" charset="0"/>
        </a:defRPr>
      </a:lvl4pPr>
      <a:lvl5pPr marL="173736" indent="-173736" algn="l" defTabSz="914400" rtl="0" eaLnBrk="1" latinLnBrk="0" hangingPunct="1">
        <a:lnSpc>
          <a:spcPct val="100000"/>
        </a:lnSpc>
        <a:spcBef>
          <a:spcPts val="0"/>
        </a:spcBef>
        <a:buFont typeface="Arial" panose="020B0604020202020204" pitchFamily="34" charset="0"/>
        <a:buChar char="•"/>
        <a:defRPr sz="1600" kern="1200">
          <a:solidFill>
            <a:schemeClr val="tx1"/>
          </a:solidFill>
          <a:latin typeface="Segoe Sans Display" pitchFamily="2" charset="0"/>
          <a:ea typeface="+mn-ea"/>
          <a:cs typeface="Segoe Sans Display"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46">
          <p15:clr>
            <a:srgbClr val="F26B43"/>
          </p15:clr>
        </p15:guide>
        <p15:guide id="3" pos="7334">
          <p15:clr>
            <a:srgbClr val="F26B43"/>
          </p15:clr>
        </p15:guide>
        <p15:guide id="4" orient="horz" pos="2160">
          <p15:clr>
            <a:srgbClr val="F26B43"/>
          </p15:clr>
        </p15:guide>
        <p15:guide id="5" orient="horz" pos="346">
          <p15:clr>
            <a:srgbClr val="F26B43"/>
          </p15:clr>
        </p15:guide>
        <p15:guide id="6" orient="horz" pos="3888">
          <p15:clr>
            <a:srgbClr val="F26B43"/>
          </p15:clr>
        </p15:guide>
        <p15:guide id="7" pos="3798">
          <p15:clr>
            <a:srgbClr val="5ACBF0"/>
          </p15:clr>
        </p15:guide>
        <p15:guide id="8" pos="2702">
          <p15:clr>
            <a:srgbClr val="5ACBF0"/>
          </p15:clr>
        </p15:guide>
        <p15:guide id="9" pos="2618">
          <p15:clr>
            <a:srgbClr val="5ACBF0"/>
          </p15:clr>
        </p15:guide>
        <p15:guide id="10" pos="1524">
          <p15:clr>
            <a:srgbClr val="5ACBF0"/>
          </p15:clr>
        </p15:guide>
        <p15:guide id="11" pos="1439">
          <p15:clr>
            <a:srgbClr val="5ACBF0"/>
          </p15:clr>
        </p15:guide>
        <p15:guide id="12" pos="3881">
          <p15:clr>
            <a:srgbClr val="5ACBF0"/>
          </p15:clr>
        </p15:guide>
        <p15:guide id="13" pos="4976">
          <p15:clr>
            <a:srgbClr val="5ACBF0"/>
          </p15:clr>
        </p15:guide>
        <p15:guide id="14" pos="5061">
          <p15:clr>
            <a:srgbClr val="5ACBF0"/>
          </p15:clr>
        </p15:guide>
        <p15:guide id="15" pos="6155">
          <p15:clr>
            <a:srgbClr val="5ACBF0"/>
          </p15:clr>
        </p15:guide>
        <p15:guide id="16" pos="6239">
          <p15:clr>
            <a:srgbClr val="5ACBF0"/>
          </p15:clr>
        </p15:guide>
        <p15:guide id="17" pos="2027">
          <p15:clr>
            <a:srgbClr val="FBAE40"/>
          </p15:clr>
        </p15:guide>
        <p15:guide id="18" pos="2114">
          <p15:clr>
            <a:srgbClr val="FBAE40"/>
          </p15:clr>
        </p15:guide>
        <p15:guide id="19" pos="5564">
          <p15:clr>
            <a:srgbClr val="FBAE40"/>
          </p15:clr>
        </p15:guide>
        <p15:guide id="20" pos="5652">
          <p15:clr>
            <a:srgbClr val="FBAE40"/>
          </p15:clr>
        </p15:guide>
        <p15:guide id="21" orient="horz" pos="947">
          <p15:clr>
            <a:srgbClr val="F26B43"/>
          </p15:clr>
        </p15:guide>
        <p15:guide id="22" orient="horz" pos="1032">
          <p15:clr>
            <a:srgbClr val="F26B43"/>
          </p15:clr>
        </p15:guide>
        <p15:guide id="23" orient="horz" pos="423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6253996"/>
      </p:ext>
    </p:extLst>
  </p:cSld>
  <p:clrMap bg1="lt1" tx1="dk1" bg2="lt2" tx2="dk2" accent1="accent1" accent2="accent2" accent3="accent3" accent4="accent4" accent5="accent5" accent6="accent6" hlink="hlink" folHlink="folHlink"/>
  <p:sldLayoutIdLst>
    <p:sldLayoutId id="2147483710" r:id="rId1"/>
  </p:sldLayoutIdLst>
  <p:txStyles>
    <p:titleStyle>
      <a:lvl1pPr algn="l" defTabSz="559247" rtl="0" eaLnBrk="1" latinLnBrk="0" hangingPunct="1">
        <a:lnSpc>
          <a:spcPct val="90000"/>
        </a:lnSpc>
        <a:spcBef>
          <a:spcPct val="0"/>
        </a:spcBef>
        <a:buNone/>
        <a:defRPr sz="2691" b="0" i="0" kern="1200">
          <a:solidFill>
            <a:schemeClr val="tx1"/>
          </a:solidFill>
          <a:latin typeface="Segoe Sans Text" pitchFamily="2" charset="0"/>
          <a:ea typeface="+mj-ea"/>
          <a:cs typeface="Segoe Sans Text" pitchFamily="2" charset="0"/>
        </a:defRPr>
      </a:lvl1pPr>
    </p:titleStyle>
    <p:bodyStyle>
      <a:lvl1pPr marL="139812" indent="-139812" algn="l" defTabSz="559247" rtl="0" eaLnBrk="1" latinLnBrk="0" hangingPunct="1">
        <a:lnSpc>
          <a:spcPct val="90000"/>
        </a:lnSpc>
        <a:spcBef>
          <a:spcPts val="612"/>
        </a:spcBef>
        <a:buFont typeface="Arial" panose="020B0604020202020204" pitchFamily="34" charset="0"/>
        <a:buChar char="•"/>
        <a:defRPr sz="1712" b="0" i="0" kern="1200">
          <a:solidFill>
            <a:schemeClr val="tx1"/>
          </a:solidFill>
          <a:latin typeface="Segoe Sans Text" pitchFamily="2" charset="0"/>
          <a:ea typeface="+mn-ea"/>
          <a:cs typeface="Segoe Sans Text" pitchFamily="2" charset="0"/>
        </a:defRPr>
      </a:lvl1pPr>
      <a:lvl2pPr marL="419435" indent="-139812" algn="l" defTabSz="559247" rtl="0" eaLnBrk="1" latinLnBrk="0" hangingPunct="1">
        <a:lnSpc>
          <a:spcPct val="90000"/>
        </a:lnSpc>
        <a:spcBef>
          <a:spcPts val="306"/>
        </a:spcBef>
        <a:buFont typeface="Arial" panose="020B0604020202020204" pitchFamily="34" charset="0"/>
        <a:buChar char="•"/>
        <a:defRPr sz="1468" b="0" i="0" kern="1200">
          <a:solidFill>
            <a:schemeClr val="tx1"/>
          </a:solidFill>
          <a:latin typeface="Segoe Sans Text" pitchFamily="2" charset="0"/>
          <a:ea typeface="+mn-ea"/>
          <a:cs typeface="Segoe Sans Text" pitchFamily="2" charset="0"/>
        </a:defRPr>
      </a:lvl2pPr>
      <a:lvl3pPr marL="699059" indent="-139812" algn="l" defTabSz="559247" rtl="0" eaLnBrk="1" latinLnBrk="0" hangingPunct="1">
        <a:lnSpc>
          <a:spcPct val="90000"/>
        </a:lnSpc>
        <a:spcBef>
          <a:spcPts val="306"/>
        </a:spcBef>
        <a:buFont typeface="Arial" panose="020B0604020202020204" pitchFamily="34" charset="0"/>
        <a:buChar char="•"/>
        <a:defRPr sz="1223" b="0" i="0" kern="1200">
          <a:solidFill>
            <a:schemeClr val="tx1"/>
          </a:solidFill>
          <a:latin typeface="Segoe Sans Text" pitchFamily="2" charset="0"/>
          <a:ea typeface="+mn-ea"/>
          <a:cs typeface="Segoe Sans Text" pitchFamily="2" charset="0"/>
        </a:defRPr>
      </a:lvl3pPr>
      <a:lvl4pPr marL="978682" indent="-139812" algn="l" defTabSz="559247" rtl="0" eaLnBrk="1" latinLnBrk="0" hangingPunct="1">
        <a:lnSpc>
          <a:spcPct val="90000"/>
        </a:lnSpc>
        <a:spcBef>
          <a:spcPts val="306"/>
        </a:spcBef>
        <a:buFont typeface="Arial" panose="020B0604020202020204" pitchFamily="34" charset="0"/>
        <a:buChar char="•"/>
        <a:defRPr sz="1101" b="0" i="0" kern="1200">
          <a:solidFill>
            <a:schemeClr val="tx1"/>
          </a:solidFill>
          <a:latin typeface="Segoe Sans Text" pitchFamily="2" charset="0"/>
          <a:ea typeface="+mn-ea"/>
          <a:cs typeface="Segoe Sans Text" pitchFamily="2" charset="0"/>
        </a:defRPr>
      </a:lvl4pPr>
      <a:lvl5pPr marL="1258306" indent="-139812" algn="l" defTabSz="559247" rtl="0" eaLnBrk="1" latinLnBrk="0" hangingPunct="1">
        <a:lnSpc>
          <a:spcPct val="90000"/>
        </a:lnSpc>
        <a:spcBef>
          <a:spcPts val="306"/>
        </a:spcBef>
        <a:buFont typeface="Arial" panose="020B0604020202020204" pitchFamily="34" charset="0"/>
        <a:buChar char="•"/>
        <a:defRPr sz="1101" b="0" i="0" kern="1200">
          <a:solidFill>
            <a:schemeClr val="tx1"/>
          </a:solidFill>
          <a:latin typeface="Segoe Sans Text" pitchFamily="2" charset="0"/>
          <a:ea typeface="+mn-ea"/>
          <a:cs typeface="Segoe Sans Text" pitchFamily="2" charset="0"/>
        </a:defRPr>
      </a:lvl5pPr>
      <a:lvl6pPr marL="1537929" indent="-139812" algn="l" defTabSz="559247" rtl="0" eaLnBrk="1" latinLnBrk="0" hangingPunct="1">
        <a:lnSpc>
          <a:spcPct val="90000"/>
        </a:lnSpc>
        <a:spcBef>
          <a:spcPts val="306"/>
        </a:spcBef>
        <a:buFont typeface="Arial" panose="020B0604020202020204" pitchFamily="34" charset="0"/>
        <a:buChar char="•"/>
        <a:defRPr sz="1101" kern="1200">
          <a:solidFill>
            <a:schemeClr val="tx1"/>
          </a:solidFill>
          <a:latin typeface="+mn-lt"/>
          <a:ea typeface="+mn-ea"/>
          <a:cs typeface="+mn-cs"/>
        </a:defRPr>
      </a:lvl6pPr>
      <a:lvl7pPr marL="1817553" indent="-139812" algn="l" defTabSz="559247" rtl="0" eaLnBrk="1" latinLnBrk="0" hangingPunct="1">
        <a:lnSpc>
          <a:spcPct val="90000"/>
        </a:lnSpc>
        <a:spcBef>
          <a:spcPts val="306"/>
        </a:spcBef>
        <a:buFont typeface="Arial" panose="020B0604020202020204" pitchFamily="34" charset="0"/>
        <a:buChar char="•"/>
        <a:defRPr sz="1101" kern="1200">
          <a:solidFill>
            <a:schemeClr val="tx1"/>
          </a:solidFill>
          <a:latin typeface="+mn-lt"/>
          <a:ea typeface="+mn-ea"/>
          <a:cs typeface="+mn-cs"/>
        </a:defRPr>
      </a:lvl7pPr>
      <a:lvl8pPr marL="2097176" indent="-139812" algn="l" defTabSz="559247" rtl="0" eaLnBrk="1" latinLnBrk="0" hangingPunct="1">
        <a:lnSpc>
          <a:spcPct val="90000"/>
        </a:lnSpc>
        <a:spcBef>
          <a:spcPts val="306"/>
        </a:spcBef>
        <a:buFont typeface="Arial" panose="020B0604020202020204" pitchFamily="34" charset="0"/>
        <a:buChar char="•"/>
        <a:defRPr sz="1101" kern="1200">
          <a:solidFill>
            <a:schemeClr val="tx1"/>
          </a:solidFill>
          <a:latin typeface="+mn-lt"/>
          <a:ea typeface="+mn-ea"/>
          <a:cs typeface="+mn-cs"/>
        </a:defRPr>
      </a:lvl8pPr>
      <a:lvl9pPr marL="2376800" indent="-139812" algn="l" defTabSz="559247" rtl="0" eaLnBrk="1" latinLnBrk="0" hangingPunct="1">
        <a:lnSpc>
          <a:spcPct val="90000"/>
        </a:lnSpc>
        <a:spcBef>
          <a:spcPts val="306"/>
        </a:spcBef>
        <a:buFont typeface="Arial" panose="020B0604020202020204" pitchFamily="34" charset="0"/>
        <a:buChar char="•"/>
        <a:defRPr sz="1101" kern="1200">
          <a:solidFill>
            <a:schemeClr val="tx1"/>
          </a:solidFill>
          <a:latin typeface="+mn-lt"/>
          <a:ea typeface="+mn-ea"/>
          <a:cs typeface="+mn-cs"/>
        </a:defRPr>
      </a:lvl9pPr>
    </p:bodyStyle>
    <p:otherStyle>
      <a:defPPr>
        <a:defRPr lang="en-US"/>
      </a:defPPr>
      <a:lvl1pPr marL="0" algn="l" defTabSz="559247" rtl="0" eaLnBrk="1" latinLnBrk="0" hangingPunct="1">
        <a:defRPr sz="1101" kern="1200">
          <a:solidFill>
            <a:schemeClr val="tx1"/>
          </a:solidFill>
          <a:latin typeface="+mn-lt"/>
          <a:ea typeface="+mn-ea"/>
          <a:cs typeface="+mn-cs"/>
        </a:defRPr>
      </a:lvl1pPr>
      <a:lvl2pPr marL="279624" algn="l" defTabSz="559247" rtl="0" eaLnBrk="1" latinLnBrk="0" hangingPunct="1">
        <a:defRPr sz="1101" kern="1200">
          <a:solidFill>
            <a:schemeClr val="tx1"/>
          </a:solidFill>
          <a:latin typeface="+mn-lt"/>
          <a:ea typeface="+mn-ea"/>
          <a:cs typeface="+mn-cs"/>
        </a:defRPr>
      </a:lvl2pPr>
      <a:lvl3pPr marL="559247" algn="l" defTabSz="559247" rtl="0" eaLnBrk="1" latinLnBrk="0" hangingPunct="1">
        <a:defRPr sz="1101" kern="1200">
          <a:solidFill>
            <a:schemeClr val="tx1"/>
          </a:solidFill>
          <a:latin typeface="+mn-lt"/>
          <a:ea typeface="+mn-ea"/>
          <a:cs typeface="+mn-cs"/>
        </a:defRPr>
      </a:lvl3pPr>
      <a:lvl4pPr marL="838871" algn="l" defTabSz="559247" rtl="0" eaLnBrk="1" latinLnBrk="0" hangingPunct="1">
        <a:defRPr sz="1101" kern="1200">
          <a:solidFill>
            <a:schemeClr val="tx1"/>
          </a:solidFill>
          <a:latin typeface="+mn-lt"/>
          <a:ea typeface="+mn-ea"/>
          <a:cs typeface="+mn-cs"/>
        </a:defRPr>
      </a:lvl4pPr>
      <a:lvl5pPr marL="1118494" algn="l" defTabSz="559247" rtl="0" eaLnBrk="1" latinLnBrk="0" hangingPunct="1">
        <a:defRPr sz="1101" kern="1200">
          <a:solidFill>
            <a:schemeClr val="tx1"/>
          </a:solidFill>
          <a:latin typeface="+mn-lt"/>
          <a:ea typeface="+mn-ea"/>
          <a:cs typeface="+mn-cs"/>
        </a:defRPr>
      </a:lvl5pPr>
      <a:lvl6pPr marL="1398118" algn="l" defTabSz="559247" rtl="0" eaLnBrk="1" latinLnBrk="0" hangingPunct="1">
        <a:defRPr sz="1101" kern="1200">
          <a:solidFill>
            <a:schemeClr val="tx1"/>
          </a:solidFill>
          <a:latin typeface="+mn-lt"/>
          <a:ea typeface="+mn-ea"/>
          <a:cs typeface="+mn-cs"/>
        </a:defRPr>
      </a:lvl6pPr>
      <a:lvl7pPr marL="1677741" algn="l" defTabSz="559247" rtl="0" eaLnBrk="1" latinLnBrk="0" hangingPunct="1">
        <a:defRPr sz="1101" kern="1200">
          <a:solidFill>
            <a:schemeClr val="tx1"/>
          </a:solidFill>
          <a:latin typeface="+mn-lt"/>
          <a:ea typeface="+mn-ea"/>
          <a:cs typeface="+mn-cs"/>
        </a:defRPr>
      </a:lvl7pPr>
      <a:lvl8pPr marL="1957365" algn="l" defTabSz="559247" rtl="0" eaLnBrk="1" latinLnBrk="0" hangingPunct="1">
        <a:defRPr sz="1101" kern="1200">
          <a:solidFill>
            <a:schemeClr val="tx1"/>
          </a:solidFill>
          <a:latin typeface="+mn-lt"/>
          <a:ea typeface="+mn-ea"/>
          <a:cs typeface="+mn-cs"/>
        </a:defRPr>
      </a:lvl8pPr>
      <a:lvl9pPr marL="2236988" algn="l" defTabSz="559247" rtl="0" eaLnBrk="1" latinLnBrk="0" hangingPunct="1">
        <a:defRPr sz="1101"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12557">
          <p15:clr>
            <a:srgbClr val="F26B43"/>
          </p15:clr>
        </p15:guide>
        <p15:guide id="3" pos="240">
          <p15:clr>
            <a:srgbClr val="F26B43"/>
          </p15:clr>
        </p15:guide>
        <p15:guide id="4" pos="994">
          <p15:clr>
            <a:srgbClr val="F26B43"/>
          </p15:clr>
        </p15:guide>
        <p15:guide id="5" pos="1749">
          <p15:clr>
            <a:srgbClr val="F26B43"/>
          </p15:clr>
        </p15:guide>
        <p15:guide id="6" pos="2504">
          <p15:clr>
            <a:srgbClr val="F26B43"/>
          </p15:clr>
        </p15:guide>
        <p15:guide id="7" pos="3259">
          <p15:clr>
            <a:srgbClr val="F26B43"/>
          </p15:clr>
        </p15:guide>
        <p15:guide id="8" pos="4014">
          <p15:clr>
            <a:srgbClr val="F26B43"/>
          </p15:clr>
        </p15:guide>
        <p15:guide id="9" pos="4768">
          <p15:clr>
            <a:srgbClr val="F26B43"/>
          </p15:clr>
        </p15:guide>
        <p15:guide id="10" pos="5523">
          <p15:clr>
            <a:srgbClr val="F26B43"/>
          </p15:clr>
        </p15:guide>
        <p15:guide id="11" pos="6278">
          <p15:clr>
            <a:srgbClr val="F26B43"/>
          </p15:clr>
        </p15:guide>
        <p15:guide id="12" pos="7033">
          <p15:clr>
            <a:srgbClr val="F26B43"/>
          </p15:clr>
        </p15:guide>
        <p15:guide id="13" pos="7788">
          <p15:clr>
            <a:srgbClr val="F26B43"/>
          </p15:clr>
        </p15:guide>
        <p15:guide id="14" pos="8542">
          <p15:clr>
            <a:srgbClr val="F26B43"/>
          </p15:clr>
        </p15:guide>
        <p15:guide id="15" pos="9297">
          <p15:clr>
            <a:srgbClr val="F26B43"/>
          </p15:clr>
        </p15:guide>
        <p15:guide id="16" pos="10052">
          <p15:clr>
            <a:srgbClr val="F26B43"/>
          </p15:clr>
        </p15:guide>
        <p15:guide id="17" pos="10807">
          <p15:clr>
            <a:srgbClr val="F26B43"/>
          </p15:clr>
        </p15:guide>
        <p15:guide id="18" pos="11562">
          <p15:clr>
            <a:srgbClr val="F26B43"/>
          </p15:clr>
        </p15:guide>
        <p15:guide id="19" pos="12317">
          <p15:clr>
            <a:srgbClr val="F26B43"/>
          </p15:clr>
        </p15:guide>
        <p15:guide id="20" orient="horz">
          <p15:clr>
            <a:srgbClr val="F26B43"/>
          </p15:clr>
        </p15:guide>
        <p15:guide id="21" orient="horz" pos="4320">
          <p15:clr>
            <a:srgbClr val="F26B43"/>
          </p15:clr>
        </p15:guide>
        <p15:guide id="22" orient="horz" pos="240">
          <p15:clr>
            <a:srgbClr val="F26B43"/>
          </p15:clr>
        </p15:guide>
        <p15:guide id="23" orient="horz" pos="720">
          <p15:clr>
            <a:srgbClr val="F26B43"/>
          </p15:clr>
        </p15:guide>
        <p15:guide id="24" orient="horz" pos="1200">
          <p15:clr>
            <a:srgbClr val="F26B43"/>
          </p15:clr>
        </p15:guide>
        <p15:guide id="25" orient="horz" pos="1680">
          <p15:clr>
            <a:srgbClr val="F26B43"/>
          </p15:clr>
        </p15:guide>
        <p15:guide id="26" orient="horz" pos="2160">
          <p15:clr>
            <a:srgbClr val="F26B43"/>
          </p15:clr>
        </p15:guide>
        <p15:guide id="27" orient="horz" pos="2640">
          <p15:clr>
            <a:srgbClr val="F26B43"/>
          </p15:clr>
        </p15:guide>
        <p15:guide id="28" orient="horz" pos="3120">
          <p15:clr>
            <a:srgbClr val="F26B43"/>
          </p15:clr>
        </p15:guide>
        <p15:guide id="29" orient="horz" pos="3600">
          <p15:clr>
            <a:srgbClr val="F26B43"/>
          </p15:clr>
        </p15:guide>
        <p15:guide id="30" orient="horz" pos="408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svg"/><Relationship Id="rId3" Type="http://schemas.openxmlformats.org/officeDocument/2006/relationships/image" Target="../media/image6.jpeg"/><Relationship Id="rId7" Type="http://schemas.openxmlformats.org/officeDocument/2006/relationships/image" Target="../media/image16.svg"/><Relationship Id="rId12"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sv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svg"/><Relationship Id="rId14" Type="http://schemas.openxmlformats.org/officeDocument/2006/relationships/image" Target="../media/image23.sv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image" Target="../media/image30.sv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33.sv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6.svg"/><Relationship Id="rId7" Type="http://schemas.openxmlformats.org/officeDocument/2006/relationships/image" Target="../media/image40.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9.svg"/><Relationship Id="rId5" Type="http://schemas.openxmlformats.org/officeDocument/2006/relationships/image" Target="../media/image38.svg"/><Relationship Id="rId4" Type="http://schemas.openxmlformats.org/officeDocument/2006/relationships/image" Target="../media/image3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9BDC6-E011-3755-A903-FB4687328C4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715238C-8186-FFAB-EA43-E1D275D50598}"/>
              </a:ext>
            </a:extLst>
          </p:cNvPr>
          <p:cNvSpPr txBox="1"/>
          <p:nvPr/>
        </p:nvSpPr>
        <p:spPr>
          <a:xfrm>
            <a:off x="2227242" y="3070557"/>
            <a:ext cx="7737517" cy="716886"/>
          </a:xfrm>
          <a:prstGeom prst="rect">
            <a:avLst/>
          </a:prstGeom>
          <a:noFill/>
        </p:spPr>
        <p:txBody>
          <a:bodyPr wrap="square" lIns="0" tIns="0" rIns="0" bIns="0" rtlCol="0" anchor="ctr">
            <a:noAutofit/>
          </a:bodyPr>
          <a:lstStyle/>
          <a:p>
            <a:pPr algn="ctr">
              <a:lnSpc>
                <a:spcPct val="80000"/>
              </a:lnSpc>
            </a:pPr>
            <a:r>
              <a:rPr lang="en-US" sz="4893" b="1">
                <a:solidFill>
                  <a:srgbClr val="262626"/>
                </a:solidFill>
                <a:latin typeface="Segoe Sans Display Semibold" pitchFamily="2" charset="0"/>
                <a:cs typeface="Segoe Sans Display Semibold" pitchFamily="2" charset="0"/>
              </a:rPr>
              <a:t>The power of the platform</a:t>
            </a:r>
          </a:p>
        </p:txBody>
      </p:sp>
      <p:sp>
        <p:nvSpPr>
          <p:cNvPr id="59" name="Oval 58">
            <a:extLst>
              <a:ext uri="{FF2B5EF4-FFF2-40B4-BE49-F238E27FC236}">
                <a16:creationId xmlns:a16="http://schemas.microsoft.com/office/drawing/2014/main" id="{FAB93919-66BB-F4AB-41DE-19D3BA95B6A6}"/>
              </a:ext>
            </a:extLst>
          </p:cNvPr>
          <p:cNvSpPr/>
          <p:nvPr/>
        </p:nvSpPr>
        <p:spPr bwMode="auto">
          <a:xfrm>
            <a:off x="2695331" y="4802476"/>
            <a:ext cx="507221" cy="507221"/>
          </a:xfrm>
          <a:prstGeom prst="ellipse">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1851" tIns="89481" rIns="111851" bIns="89481" numCol="1" spcCol="0" rtlCol="0" fromWordArt="0" anchor="t" anchorCtr="0" forceAA="0" compatLnSpc="1">
            <a:prstTxWarp prst="textNoShape">
              <a:avLst/>
            </a:prstTxWarp>
            <a:noAutofit/>
          </a:bodyPr>
          <a:lstStyle/>
          <a:p>
            <a:pPr defTabSz="570300" fontAlgn="base">
              <a:spcBef>
                <a:spcPct val="0"/>
              </a:spcBef>
              <a:spcAft>
                <a:spcPct val="0"/>
              </a:spcAft>
              <a:defRPr/>
            </a:pPr>
            <a:endParaRPr lang="en-US" sz="1223">
              <a:solidFill>
                <a:srgbClr val="FFFFFF"/>
              </a:solidFill>
              <a:latin typeface="Segoe Sans Text"/>
              <a:cs typeface="Segoe UI" pitchFamily="34" charset="0"/>
            </a:endParaRPr>
          </a:p>
        </p:txBody>
      </p:sp>
      <p:pic>
        <p:nvPicPr>
          <p:cNvPr id="3" name="Picture 2" descr="The image depicts the Microsoft Power Platform logo, which features a green background with the Microsoft logo in white and a white circle in the center.&#10;&#10;AI-generated content may be incorrect.">
            <a:extLst>
              <a:ext uri="{FF2B5EF4-FFF2-40B4-BE49-F238E27FC236}">
                <a16:creationId xmlns:a16="http://schemas.microsoft.com/office/drawing/2014/main" id="{9BDA80B1-2CAA-BF1B-FA4F-72991D2CCA33}"/>
              </a:ext>
            </a:extLst>
          </p:cNvPr>
          <p:cNvPicPr>
            <a:picLocks noChangeAspect="1"/>
          </p:cNvPicPr>
          <p:nvPr/>
        </p:nvPicPr>
        <p:blipFill>
          <a:blip r:embed="rId3"/>
          <a:stretch>
            <a:fillRect/>
          </a:stretch>
        </p:blipFill>
        <p:spPr>
          <a:xfrm>
            <a:off x="0" y="0"/>
            <a:ext cx="2932043" cy="701158"/>
          </a:xfrm>
          <a:prstGeom prst="rect">
            <a:avLst/>
          </a:prstGeom>
        </p:spPr>
      </p:pic>
    </p:spTree>
    <p:extLst>
      <p:ext uri="{BB962C8B-B14F-4D97-AF65-F5344CB8AC3E}">
        <p14:creationId xmlns:p14="http://schemas.microsoft.com/office/powerpoint/2010/main" val="3310826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85EF5-FA1C-599A-E9C6-FE40516AD7E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B5BEC5F-1F5C-C25D-17B2-7636F51DA0FC}"/>
              </a:ext>
            </a:extLst>
          </p:cNvPr>
          <p:cNvPicPr>
            <a:picLocks noChangeAspect="1"/>
          </p:cNvPicPr>
          <p:nvPr/>
        </p:nvPicPr>
        <p:blipFill>
          <a:blip r:embed="rId3">
            <a:alphaModFix amt="20000"/>
          </a:blip>
          <a:stretch>
            <a:fillRect/>
          </a:stretch>
        </p:blipFill>
        <p:spPr>
          <a:xfrm>
            <a:off x="0" y="-594211"/>
            <a:ext cx="12192000" cy="6858000"/>
          </a:xfrm>
          <a:prstGeom prst="rect">
            <a:avLst/>
          </a:prstGeom>
        </p:spPr>
      </p:pic>
      <p:sp>
        <p:nvSpPr>
          <p:cNvPr id="4" name="TextBox 3">
            <a:extLst>
              <a:ext uri="{FF2B5EF4-FFF2-40B4-BE49-F238E27FC236}">
                <a16:creationId xmlns:a16="http://schemas.microsoft.com/office/drawing/2014/main" id="{5E870259-8652-8F32-F3D0-AF1C5A315447}"/>
              </a:ext>
            </a:extLst>
          </p:cNvPr>
          <p:cNvSpPr txBox="1"/>
          <p:nvPr/>
        </p:nvSpPr>
        <p:spPr>
          <a:xfrm>
            <a:off x="1627525" y="2836046"/>
            <a:ext cx="8936949" cy="1221873"/>
          </a:xfrm>
          <a:prstGeom prst="rect">
            <a:avLst/>
          </a:prstGeom>
          <a:noFill/>
        </p:spPr>
        <p:txBody>
          <a:bodyPr wrap="square">
            <a:spAutoFit/>
          </a:bodyPr>
          <a:lstStyle/>
          <a:p>
            <a:pPr algn="ctr" defTabSz="559247" fontAlgn="base">
              <a:defRPr/>
            </a:pPr>
            <a:r>
              <a:rPr lang="en-US" sz="3670" b="1" spc="-31">
                <a:ln w="3175">
                  <a:noFill/>
                </a:ln>
                <a:solidFill>
                  <a:prstClr val="white"/>
                </a:solidFill>
                <a:latin typeface="Segoe Sans Display Semibold" pitchFamily="2" charset="0"/>
                <a:cs typeface="Segoe Sans Display Semibold" pitchFamily="2" charset="0"/>
              </a:rPr>
              <a:t>Empower </a:t>
            </a:r>
            <a:r>
              <a:rPr lang="en-US" sz="3670" b="1" spc="-61">
                <a:ln w="3175">
                  <a:noFill/>
                </a:ln>
                <a:gradFill flip="none" rotWithShape="1">
                  <a:gsLst>
                    <a:gs pos="70000">
                      <a:srgbClr val="016BEB"/>
                    </a:gs>
                    <a:gs pos="50000">
                      <a:srgbClr val="CF43A2"/>
                    </a:gs>
                    <a:gs pos="40000">
                      <a:srgbClr val="F09F52"/>
                    </a:gs>
                  </a:gsLst>
                  <a:path path="circle">
                    <a:fillToRect l="100000" t="100000"/>
                  </a:path>
                  <a:tileRect r="-100000" b="-100000"/>
                </a:gradFill>
                <a:latin typeface="Segoe Sans Display Semibold" pitchFamily="2" charset="0"/>
                <a:ea typeface="Menlo" panose="020B0609030804020204" pitchFamily="49" charset="0"/>
                <a:cs typeface="Segoe Sans Display Semibold" pitchFamily="2" charset="0"/>
              </a:rPr>
              <a:t>everyone</a:t>
            </a:r>
            <a:r>
              <a:rPr lang="en-US" sz="3670" b="1" spc="-31">
                <a:ln w="3175">
                  <a:noFill/>
                </a:ln>
                <a:gradFill>
                  <a:gsLst>
                    <a:gs pos="22000">
                      <a:srgbClr val="2DE7D2"/>
                    </a:gs>
                    <a:gs pos="100000">
                      <a:srgbClr val="5F99FF"/>
                    </a:gs>
                  </a:gsLst>
                  <a:path path="circle">
                    <a:fillToRect l="50000" t="50000" r="50000" b="50000"/>
                  </a:path>
                </a:gradFill>
                <a:latin typeface="Segoe Sans Display Semibold" pitchFamily="2" charset="0"/>
                <a:cs typeface="Segoe Sans Display Semibold" pitchFamily="2" charset="0"/>
              </a:rPr>
              <a:t> </a:t>
            </a:r>
            <a:r>
              <a:rPr lang="en-US" sz="3670" b="1" spc="-31">
                <a:ln w="3175">
                  <a:noFill/>
                </a:ln>
                <a:solidFill>
                  <a:prstClr val="white"/>
                </a:solidFill>
                <a:latin typeface="Segoe Sans Display Semibold" pitchFamily="2" charset="0"/>
                <a:cs typeface="Segoe Sans Display Semibold" pitchFamily="2" charset="0"/>
              </a:rPr>
              <a:t>who needs to create business software. </a:t>
            </a:r>
          </a:p>
        </p:txBody>
      </p:sp>
    </p:spTree>
    <p:extLst>
      <p:ext uri="{BB962C8B-B14F-4D97-AF65-F5344CB8AC3E}">
        <p14:creationId xmlns:p14="http://schemas.microsoft.com/office/powerpoint/2010/main" val="45676841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par>
                                <p:cTn id="8" presetID="42" presetClass="path" presetSubtype="0" decel="100000" fill="hold" grpId="1" nodeType="withEffect">
                                  <p:stCondLst>
                                    <p:cond delay="0"/>
                                  </p:stCondLst>
                                  <p:childTnLst>
                                    <p:animMotion origin="layout" path="M -1.81572E-7 0.03889 L -1.81572E-7 0 " pathEditMode="relative" rAng="0" ptsTypes="AA">
                                      <p:cBhvr>
                                        <p:cTn id="9" dur="1000" fill="hold"/>
                                        <p:tgtEl>
                                          <p:spTgt spid="4"/>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EECEEE-ADD8-4B1A-88A6-743E43B4BEA7}"/>
            </a:ext>
          </a:extLst>
        </p:cNvPr>
        <p:cNvGrpSpPr/>
        <p:nvPr/>
      </p:nvGrpSpPr>
      <p:grpSpPr>
        <a:xfrm>
          <a:off x="0" y="0"/>
          <a:ext cx="0" cy="0"/>
          <a:chOff x="0" y="0"/>
          <a:chExt cx="0" cy="0"/>
        </a:xfrm>
      </p:grpSpPr>
      <p:sp>
        <p:nvSpPr>
          <p:cNvPr id="65" name="Orbit 3">
            <a:extLst>
              <a:ext uri="{FF2B5EF4-FFF2-40B4-BE49-F238E27FC236}">
                <a16:creationId xmlns:a16="http://schemas.microsoft.com/office/drawing/2014/main" id="{7EF5EA5F-2B48-12DF-4D44-A96CC73BF806}"/>
              </a:ext>
            </a:extLst>
          </p:cNvPr>
          <p:cNvSpPr/>
          <p:nvPr/>
        </p:nvSpPr>
        <p:spPr>
          <a:xfrm>
            <a:off x="-689731" y="139764"/>
            <a:ext cx="6596808" cy="6596808"/>
          </a:xfrm>
          <a:prstGeom prst="ellipse">
            <a:avLst/>
          </a:prstGeom>
          <a:no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74" name="Copilot">
            <a:extLst>
              <a:ext uri="{FF2B5EF4-FFF2-40B4-BE49-F238E27FC236}">
                <a16:creationId xmlns:a16="http://schemas.microsoft.com/office/drawing/2014/main" id="{3993C3E3-86C7-5C1D-B4D0-1AC359FFE089}"/>
              </a:ext>
            </a:extLst>
          </p:cNvPr>
          <p:cNvSpPr/>
          <p:nvPr/>
        </p:nvSpPr>
        <p:spPr>
          <a:xfrm>
            <a:off x="5455871" y="3920092"/>
            <a:ext cx="684368" cy="68436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101" b="1" spc="-61">
                <a:solidFill>
                  <a:srgbClr val="0078D4"/>
                </a:solidFill>
                <a:latin typeface="Segoe UI Semibold" panose="020B0702040204020203" pitchFamily="34" charset="0"/>
                <a:cs typeface="Segoe UI Semibold" panose="020B0702040204020203" pitchFamily="34" charset="0"/>
              </a:rPr>
              <a:t>Copilot</a:t>
            </a:r>
          </a:p>
        </p:txBody>
      </p:sp>
      <p:sp>
        <p:nvSpPr>
          <p:cNvPr id="75" name="Copilot outline">
            <a:extLst>
              <a:ext uri="{FF2B5EF4-FFF2-40B4-BE49-F238E27FC236}">
                <a16:creationId xmlns:a16="http://schemas.microsoft.com/office/drawing/2014/main" id="{9121FFD6-D7E5-95FF-6393-6155CA9AF9F1}"/>
              </a:ext>
            </a:extLst>
          </p:cNvPr>
          <p:cNvSpPr/>
          <p:nvPr/>
        </p:nvSpPr>
        <p:spPr>
          <a:xfrm>
            <a:off x="5469289" y="3915151"/>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2" name="Internal">
            <a:extLst>
              <a:ext uri="{FF2B5EF4-FFF2-40B4-BE49-F238E27FC236}">
                <a16:creationId xmlns:a16="http://schemas.microsoft.com/office/drawing/2014/main" id="{509846D1-B5B8-C6CF-A6E1-BAFDC9802005}"/>
              </a:ext>
            </a:extLst>
          </p:cNvPr>
          <p:cNvSpPr/>
          <p:nvPr/>
        </p:nvSpPr>
        <p:spPr>
          <a:xfrm>
            <a:off x="5559092" y="3086817"/>
            <a:ext cx="684368" cy="68436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101" b="1" spc="-61">
                <a:solidFill>
                  <a:srgbClr val="0078D4"/>
                </a:solidFill>
                <a:latin typeface="Segoe UI Semibold" panose="020B0702040204020203" pitchFamily="34" charset="0"/>
                <a:cs typeface="Segoe UI Semibold" panose="020B0702040204020203" pitchFamily="34" charset="0"/>
              </a:rPr>
              <a:t>Internal</a:t>
            </a:r>
          </a:p>
        </p:txBody>
      </p:sp>
      <p:sp>
        <p:nvSpPr>
          <p:cNvPr id="71" name="Internal outline">
            <a:extLst>
              <a:ext uri="{FF2B5EF4-FFF2-40B4-BE49-F238E27FC236}">
                <a16:creationId xmlns:a16="http://schemas.microsoft.com/office/drawing/2014/main" id="{8D47CAA9-CF25-29A1-A37E-EF9065461D5A}"/>
              </a:ext>
            </a:extLst>
          </p:cNvPr>
          <p:cNvSpPr/>
          <p:nvPr/>
        </p:nvSpPr>
        <p:spPr>
          <a:xfrm>
            <a:off x="5576447" y="3095983"/>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72" name="External">
            <a:extLst>
              <a:ext uri="{FF2B5EF4-FFF2-40B4-BE49-F238E27FC236}">
                <a16:creationId xmlns:a16="http://schemas.microsoft.com/office/drawing/2014/main" id="{C890ACF0-0947-D8F1-AEF1-9F413E993E19}"/>
              </a:ext>
            </a:extLst>
          </p:cNvPr>
          <p:cNvSpPr/>
          <p:nvPr/>
        </p:nvSpPr>
        <p:spPr>
          <a:xfrm>
            <a:off x="5455871" y="2270822"/>
            <a:ext cx="684368" cy="68436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101" b="1" spc="-61">
                <a:solidFill>
                  <a:srgbClr val="0078D4"/>
                </a:solidFill>
                <a:latin typeface="Segoe UI Semibold" panose="020B0702040204020203" pitchFamily="34" charset="0"/>
                <a:cs typeface="Segoe UI Semibold" panose="020B0702040204020203" pitchFamily="34" charset="0"/>
              </a:rPr>
              <a:t>External</a:t>
            </a:r>
          </a:p>
        </p:txBody>
      </p:sp>
      <p:sp>
        <p:nvSpPr>
          <p:cNvPr id="73" name="External outline">
            <a:extLst>
              <a:ext uri="{FF2B5EF4-FFF2-40B4-BE49-F238E27FC236}">
                <a16:creationId xmlns:a16="http://schemas.microsoft.com/office/drawing/2014/main" id="{C06DE659-0804-4240-D588-715B0E409A83}"/>
              </a:ext>
            </a:extLst>
          </p:cNvPr>
          <p:cNvSpPr/>
          <p:nvPr/>
        </p:nvSpPr>
        <p:spPr>
          <a:xfrm>
            <a:off x="5425665" y="2270473"/>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46" name="Orbit 2">
            <a:extLst>
              <a:ext uri="{FF2B5EF4-FFF2-40B4-BE49-F238E27FC236}">
                <a16:creationId xmlns:a16="http://schemas.microsoft.com/office/drawing/2014/main" id="{6B1EBC41-4829-FEF0-959D-861F7EB4A3C4}"/>
              </a:ext>
            </a:extLst>
          </p:cNvPr>
          <p:cNvSpPr/>
          <p:nvPr/>
        </p:nvSpPr>
        <p:spPr>
          <a:xfrm>
            <a:off x="-689731" y="613570"/>
            <a:ext cx="5649194" cy="5649194"/>
          </a:xfrm>
          <a:prstGeom prst="ellipse">
            <a:avLst/>
          </a:prstGeom>
          <a:no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37" name="Orbit 1">
            <a:extLst>
              <a:ext uri="{FF2B5EF4-FFF2-40B4-BE49-F238E27FC236}">
                <a16:creationId xmlns:a16="http://schemas.microsoft.com/office/drawing/2014/main" id="{7275B3D0-966D-F202-3911-649370EFFB2C}"/>
              </a:ext>
            </a:extLst>
          </p:cNvPr>
          <p:cNvSpPr/>
          <p:nvPr/>
        </p:nvSpPr>
        <p:spPr>
          <a:xfrm>
            <a:off x="-689731" y="1021108"/>
            <a:ext cx="4834121" cy="4834121"/>
          </a:xfrm>
          <a:prstGeom prst="ellipse">
            <a:avLst/>
          </a:prstGeom>
          <a:no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grpSp>
        <p:nvGrpSpPr>
          <p:cNvPr id="36" name="New Interface">
            <a:extLst>
              <a:ext uri="{FF2B5EF4-FFF2-40B4-BE49-F238E27FC236}">
                <a16:creationId xmlns:a16="http://schemas.microsoft.com/office/drawing/2014/main" id="{6A1670F1-1D1E-72BA-5C91-D7F8A50A6FDD}"/>
              </a:ext>
            </a:extLst>
          </p:cNvPr>
          <p:cNvGrpSpPr/>
          <p:nvPr/>
        </p:nvGrpSpPr>
        <p:grpSpPr>
          <a:xfrm>
            <a:off x="4128269" y="4667887"/>
            <a:ext cx="684368" cy="684368"/>
            <a:chOff x="3665219" y="5454611"/>
            <a:chExt cx="1118959" cy="1118959"/>
          </a:xfrm>
        </p:grpSpPr>
        <p:sp>
          <p:nvSpPr>
            <p:cNvPr id="11" name="Oval 10">
              <a:extLst>
                <a:ext uri="{FF2B5EF4-FFF2-40B4-BE49-F238E27FC236}">
                  <a16:creationId xmlns:a16="http://schemas.microsoft.com/office/drawing/2014/main" id="{EB0B15F1-8C2B-0F46-9102-AA1663812C2F}"/>
                </a:ext>
              </a:extLst>
            </p:cNvPr>
            <p:cNvSpPr/>
            <p:nvPr/>
          </p:nvSpPr>
          <p:spPr>
            <a:xfrm>
              <a:off x="3665219" y="5454611"/>
              <a:ext cx="1118959" cy="11189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8" b="1" spc="-61">
                <a:solidFill>
                  <a:srgbClr val="2DE7D2"/>
                </a:solidFill>
                <a:latin typeface="Segoe UI Semibold" panose="020B0702040204020203" pitchFamily="34" charset="0"/>
                <a:cs typeface="Segoe UI Semibold" panose="020B0702040204020203" pitchFamily="34" charset="0"/>
              </a:endParaRPr>
            </a:p>
          </p:txBody>
        </p:sp>
        <p:pic>
          <p:nvPicPr>
            <p:cNvPr id="18" name="Graphic 17">
              <a:extLst>
                <a:ext uri="{FF2B5EF4-FFF2-40B4-BE49-F238E27FC236}">
                  <a16:creationId xmlns:a16="http://schemas.microsoft.com/office/drawing/2014/main" id="{A8F0C4EA-0044-891C-FF86-423B3436A727}"/>
                </a:ext>
              </a:extLst>
            </p:cNvPr>
            <p:cNvPicPr>
              <a:picLocks noChangeAspect="1"/>
            </p:cNvPicPr>
            <p:nvPr/>
          </p:nvPicPr>
          <p:blipFill>
            <a:blip>
              <a:extLst>
                <a:ext uri="{96DAC541-7B7A-43D3-8B79-37D633B846F1}">
                  <asvg:svgBlip xmlns:asvg="http://schemas.microsoft.com/office/drawing/2016/SVG/main" r:embed="rId3"/>
                </a:ext>
              </a:extLst>
            </a:blip>
            <a:srcRect l="109" r="109"/>
            <a:stretch/>
          </p:blipFill>
          <p:spPr>
            <a:xfrm>
              <a:off x="3933233" y="5671190"/>
              <a:ext cx="582930" cy="685800"/>
            </a:xfrm>
            <a:prstGeom prst="rect">
              <a:avLst/>
            </a:prstGeom>
          </p:spPr>
        </p:pic>
      </p:grpSp>
      <p:sp>
        <p:nvSpPr>
          <p:cNvPr id="16" name="New Interface outline">
            <a:extLst>
              <a:ext uri="{FF2B5EF4-FFF2-40B4-BE49-F238E27FC236}">
                <a16:creationId xmlns:a16="http://schemas.microsoft.com/office/drawing/2014/main" id="{F9E3EDB7-D47B-5383-F38B-4F7CD0ECD235}"/>
              </a:ext>
            </a:extLst>
          </p:cNvPr>
          <p:cNvSpPr/>
          <p:nvPr/>
        </p:nvSpPr>
        <p:spPr>
          <a:xfrm>
            <a:off x="4128269" y="4667887"/>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grpSp>
        <p:nvGrpSpPr>
          <p:cNvPr id="35" name="Desktop">
            <a:extLst>
              <a:ext uri="{FF2B5EF4-FFF2-40B4-BE49-F238E27FC236}">
                <a16:creationId xmlns:a16="http://schemas.microsoft.com/office/drawing/2014/main" id="{D2366168-216D-768E-C451-DDC8FB3C749D}"/>
              </a:ext>
            </a:extLst>
          </p:cNvPr>
          <p:cNvGrpSpPr/>
          <p:nvPr/>
        </p:nvGrpSpPr>
        <p:grpSpPr>
          <a:xfrm>
            <a:off x="4511744" y="3918297"/>
            <a:ext cx="684368" cy="684368"/>
            <a:chOff x="4292211" y="4229012"/>
            <a:chExt cx="1118959" cy="1118959"/>
          </a:xfrm>
        </p:grpSpPr>
        <p:sp>
          <p:nvSpPr>
            <p:cNvPr id="59" name="Oval 58">
              <a:extLst>
                <a:ext uri="{FF2B5EF4-FFF2-40B4-BE49-F238E27FC236}">
                  <a16:creationId xmlns:a16="http://schemas.microsoft.com/office/drawing/2014/main" id="{DAEEBCA6-1B7C-1692-5DCB-C8B93AC90CD5}"/>
                </a:ext>
              </a:extLst>
            </p:cNvPr>
            <p:cNvSpPr/>
            <p:nvPr/>
          </p:nvSpPr>
          <p:spPr>
            <a:xfrm>
              <a:off x="4292211" y="4229012"/>
              <a:ext cx="1118959" cy="11189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8" b="1" spc="-61">
                <a:solidFill>
                  <a:srgbClr val="2DE7D2"/>
                </a:solidFill>
                <a:latin typeface="Segoe UI Semibold" panose="020B0702040204020203" pitchFamily="34" charset="0"/>
                <a:cs typeface="Segoe UI Semibold" panose="020B0702040204020203" pitchFamily="34" charset="0"/>
              </a:endParaRPr>
            </a:p>
          </p:txBody>
        </p:sp>
        <p:grpSp>
          <p:nvGrpSpPr>
            <p:cNvPr id="60" name="Group 59">
              <a:extLst>
                <a:ext uri="{FF2B5EF4-FFF2-40B4-BE49-F238E27FC236}">
                  <a16:creationId xmlns:a16="http://schemas.microsoft.com/office/drawing/2014/main" id="{79CA1C8D-61BE-7917-1E73-8D4BA644C1B9}"/>
                </a:ext>
              </a:extLst>
            </p:cNvPr>
            <p:cNvGrpSpPr/>
            <p:nvPr/>
          </p:nvGrpSpPr>
          <p:grpSpPr>
            <a:xfrm>
              <a:off x="4521469" y="4518892"/>
              <a:ext cx="660443" cy="539198"/>
              <a:chOff x="7396127" y="2635624"/>
              <a:chExt cx="1237130" cy="1010015"/>
            </a:xfrm>
          </p:grpSpPr>
          <p:sp>
            <p:nvSpPr>
              <p:cNvPr id="61" name="Rounded Rectangle 60">
                <a:extLst>
                  <a:ext uri="{FF2B5EF4-FFF2-40B4-BE49-F238E27FC236}">
                    <a16:creationId xmlns:a16="http://schemas.microsoft.com/office/drawing/2014/main" id="{B9E188B7-2454-C2A2-E8B5-3B331FAE6AC2}"/>
                  </a:ext>
                </a:extLst>
              </p:cNvPr>
              <p:cNvSpPr/>
              <p:nvPr/>
            </p:nvSpPr>
            <p:spPr>
              <a:xfrm>
                <a:off x="7396127" y="2635624"/>
                <a:ext cx="1237130" cy="786619"/>
              </a:xfrm>
              <a:prstGeom prst="roundRect">
                <a:avLst/>
              </a:prstGeom>
              <a:solidFill>
                <a:schemeClr val="tx1"/>
              </a:soli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62" name="Rounded Rectangle 61">
                <a:extLst>
                  <a:ext uri="{FF2B5EF4-FFF2-40B4-BE49-F238E27FC236}">
                    <a16:creationId xmlns:a16="http://schemas.microsoft.com/office/drawing/2014/main" id="{A9603A3E-2134-7E1F-EC12-95ACEE149BBA}"/>
                  </a:ext>
                </a:extLst>
              </p:cNvPr>
              <p:cNvSpPr/>
              <p:nvPr/>
            </p:nvSpPr>
            <p:spPr>
              <a:xfrm>
                <a:off x="7622465" y="3555674"/>
                <a:ext cx="784451" cy="89965"/>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63" name="Rounded Rectangle 62">
                <a:extLst>
                  <a:ext uri="{FF2B5EF4-FFF2-40B4-BE49-F238E27FC236}">
                    <a16:creationId xmlns:a16="http://schemas.microsoft.com/office/drawing/2014/main" id="{DFA0A4EE-F5F6-8763-6412-E36952B54C72}"/>
                  </a:ext>
                </a:extLst>
              </p:cNvPr>
              <p:cNvSpPr/>
              <p:nvPr/>
            </p:nvSpPr>
            <p:spPr>
              <a:xfrm>
                <a:off x="7952638" y="3422243"/>
                <a:ext cx="124106" cy="136164"/>
              </a:xfrm>
              <a:prstGeom prst="roundRect">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grpSp>
      </p:grpSp>
      <p:sp>
        <p:nvSpPr>
          <p:cNvPr id="64" name="Desktop outline">
            <a:extLst>
              <a:ext uri="{FF2B5EF4-FFF2-40B4-BE49-F238E27FC236}">
                <a16:creationId xmlns:a16="http://schemas.microsoft.com/office/drawing/2014/main" id="{AC0B0E19-24DD-4585-FEB4-B5E42CC6A06D}"/>
              </a:ext>
            </a:extLst>
          </p:cNvPr>
          <p:cNvSpPr/>
          <p:nvPr/>
        </p:nvSpPr>
        <p:spPr>
          <a:xfrm>
            <a:off x="4511744" y="3918297"/>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grpSp>
        <p:nvGrpSpPr>
          <p:cNvPr id="34" name="Tablet">
            <a:extLst>
              <a:ext uri="{FF2B5EF4-FFF2-40B4-BE49-F238E27FC236}">
                <a16:creationId xmlns:a16="http://schemas.microsoft.com/office/drawing/2014/main" id="{123944E1-0D95-CB55-F035-691A96CB11F3}"/>
              </a:ext>
            </a:extLst>
          </p:cNvPr>
          <p:cNvGrpSpPr/>
          <p:nvPr/>
        </p:nvGrpSpPr>
        <p:grpSpPr>
          <a:xfrm>
            <a:off x="4613962" y="3086818"/>
            <a:ext cx="684368" cy="684368"/>
            <a:chOff x="4459340" y="2869522"/>
            <a:chExt cx="1118959" cy="1118959"/>
          </a:xfrm>
        </p:grpSpPr>
        <p:sp>
          <p:nvSpPr>
            <p:cNvPr id="56" name="Oval 55">
              <a:extLst>
                <a:ext uri="{FF2B5EF4-FFF2-40B4-BE49-F238E27FC236}">
                  <a16:creationId xmlns:a16="http://schemas.microsoft.com/office/drawing/2014/main" id="{EE8E40EB-7B6B-1E87-2025-0D19FB03E726}"/>
                </a:ext>
              </a:extLst>
            </p:cNvPr>
            <p:cNvSpPr/>
            <p:nvPr/>
          </p:nvSpPr>
          <p:spPr>
            <a:xfrm>
              <a:off x="4459340" y="2869522"/>
              <a:ext cx="1118959" cy="11189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8" b="1" spc="-61">
                <a:solidFill>
                  <a:srgbClr val="2DE7D2"/>
                </a:solidFill>
                <a:latin typeface="Segoe UI Semibold" panose="020B0702040204020203" pitchFamily="34" charset="0"/>
                <a:cs typeface="Segoe UI Semibold" panose="020B0702040204020203" pitchFamily="34" charset="0"/>
              </a:endParaRPr>
            </a:p>
          </p:txBody>
        </p:sp>
        <p:sp>
          <p:nvSpPr>
            <p:cNvPr id="57" name="Rounded Rectangle 56">
              <a:extLst>
                <a:ext uri="{FF2B5EF4-FFF2-40B4-BE49-F238E27FC236}">
                  <a16:creationId xmlns:a16="http://schemas.microsoft.com/office/drawing/2014/main" id="{DACDA7EA-5FD1-939F-2821-BEF104C65189}"/>
                </a:ext>
              </a:extLst>
            </p:cNvPr>
            <p:cNvSpPr/>
            <p:nvPr/>
          </p:nvSpPr>
          <p:spPr>
            <a:xfrm rot="5400000">
              <a:off x="4693947" y="3182091"/>
              <a:ext cx="649744" cy="493821"/>
            </a:xfrm>
            <a:prstGeom prst="roundRect">
              <a:avLst/>
            </a:prstGeom>
            <a:solidFill>
              <a:schemeClr val="tx1"/>
            </a:soli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grpSp>
      <p:sp>
        <p:nvSpPr>
          <p:cNvPr id="58" name="Tablet outline">
            <a:extLst>
              <a:ext uri="{FF2B5EF4-FFF2-40B4-BE49-F238E27FC236}">
                <a16:creationId xmlns:a16="http://schemas.microsoft.com/office/drawing/2014/main" id="{DD4DAB3D-7783-7FAB-E035-F4471FB862C6}"/>
              </a:ext>
            </a:extLst>
          </p:cNvPr>
          <p:cNvSpPr/>
          <p:nvPr/>
        </p:nvSpPr>
        <p:spPr>
          <a:xfrm>
            <a:off x="4613962" y="3086816"/>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grpSp>
        <p:nvGrpSpPr>
          <p:cNvPr id="32" name="Mobile">
            <a:extLst>
              <a:ext uri="{FF2B5EF4-FFF2-40B4-BE49-F238E27FC236}">
                <a16:creationId xmlns:a16="http://schemas.microsoft.com/office/drawing/2014/main" id="{C7FF2414-D3E7-611D-3E0E-1B57F01F2E0E}"/>
              </a:ext>
            </a:extLst>
          </p:cNvPr>
          <p:cNvGrpSpPr/>
          <p:nvPr/>
        </p:nvGrpSpPr>
        <p:grpSpPr>
          <a:xfrm>
            <a:off x="4491671" y="2239787"/>
            <a:ext cx="684368" cy="684368"/>
            <a:chOff x="4259390" y="1484604"/>
            <a:chExt cx="1118959" cy="1118959"/>
          </a:xfrm>
        </p:grpSpPr>
        <p:sp>
          <p:nvSpPr>
            <p:cNvPr id="53" name="Mobile icon">
              <a:extLst>
                <a:ext uri="{FF2B5EF4-FFF2-40B4-BE49-F238E27FC236}">
                  <a16:creationId xmlns:a16="http://schemas.microsoft.com/office/drawing/2014/main" id="{39516C5A-A864-076A-27DE-CC3DCD794159}"/>
                </a:ext>
              </a:extLst>
            </p:cNvPr>
            <p:cNvSpPr/>
            <p:nvPr/>
          </p:nvSpPr>
          <p:spPr>
            <a:xfrm>
              <a:off x="4259390" y="1484604"/>
              <a:ext cx="1118959" cy="11189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8" b="1" spc="-61">
                <a:solidFill>
                  <a:srgbClr val="2DE7D2"/>
                </a:solidFill>
                <a:latin typeface="Segoe UI Semibold" panose="020B0702040204020203" pitchFamily="34" charset="0"/>
                <a:cs typeface="Segoe UI Semibold" panose="020B0702040204020203" pitchFamily="34" charset="0"/>
              </a:endParaRPr>
            </a:p>
          </p:txBody>
        </p:sp>
        <p:sp>
          <p:nvSpPr>
            <p:cNvPr id="54" name="Rounded Rectangle 53">
              <a:extLst>
                <a:ext uri="{FF2B5EF4-FFF2-40B4-BE49-F238E27FC236}">
                  <a16:creationId xmlns:a16="http://schemas.microsoft.com/office/drawing/2014/main" id="{783F25FA-3AE6-5179-4A94-50E4F7CCD662}"/>
                </a:ext>
              </a:extLst>
            </p:cNvPr>
            <p:cNvSpPr/>
            <p:nvPr/>
          </p:nvSpPr>
          <p:spPr>
            <a:xfrm rot="5400000">
              <a:off x="4578431" y="1907463"/>
              <a:ext cx="477794" cy="273238"/>
            </a:xfrm>
            <a:prstGeom prst="roundRect">
              <a:avLst/>
            </a:prstGeom>
            <a:solidFill>
              <a:schemeClr val="tx1"/>
            </a:soli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grpSp>
      <p:sp>
        <p:nvSpPr>
          <p:cNvPr id="55" name="Mobile outline">
            <a:extLst>
              <a:ext uri="{FF2B5EF4-FFF2-40B4-BE49-F238E27FC236}">
                <a16:creationId xmlns:a16="http://schemas.microsoft.com/office/drawing/2014/main" id="{3CF8CEBC-134D-3218-7FC1-DC814741F1FD}"/>
              </a:ext>
            </a:extLst>
          </p:cNvPr>
          <p:cNvSpPr/>
          <p:nvPr/>
        </p:nvSpPr>
        <p:spPr>
          <a:xfrm>
            <a:off x="4491671" y="2239786"/>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grpSp>
        <p:nvGrpSpPr>
          <p:cNvPr id="29" name="Laptop">
            <a:extLst>
              <a:ext uri="{FF2B5EF4-FFF2-40B4-BE49-F238E27FC236}">
                <a16:creationId xmlns:a16="http://schemas.microsoft.com/office/drawing/2014/main" id="{D51DE923-B4BF-CA78-8C31-0094D7B1808A}"/>
              </a:ext>
            </a:extLst>
          </p:cNvPr>
          <p:cNvGrpSpPr/>
          <p:nvPr/>
        </p:nvGrpSpPr>
        <p:grpSpPr>
          <a:xfrm>
            <a:off x="4128269" y="1480719"/>
            <a:ext cx="684368" cy="684368"/>
            <a:chOff x="4074128" y="243508"/>
            <a:chExt cx="1118959" cy="1118959"/>
          </a:xfrm>
        </p:grpSpPr>
        <p:sp>
          <p:nvSpPr>
            <p:cNvPr id="47" name="Laptop">
              <a:extLst>
                <a:ext uri="{FF2B5EF4-FFF2-40B4-BE49-F238E27FC236}">
                  <a16:creationId xmlns:a16="http://schemas.microsoft.com/office/drawing/2014/main" id="{895CAD7E-19AE-688B-DBB0-B578CDA5A1C9}"/>
                </a:ext>
              </a:extLst>
            </p:cNvPr>
            <p:cNvSpPr/>
            <p:nvPr/>
          </p:nvSpPr>
          <p:spPr>
            <a:xfrm>
              <a:off x="4074128" y="243508"/>
              <a:ext cx="1118959" cy="11189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68" b="1" spc="-61">
                <a:solidFill>
                  <a:srgbClr val="2DE7D2"/>
                </a:solidFill>
                <a:latin typeface="Segoe UI Semibold" panose="020B0702040204020203" pitchFamily="34" charset="0"/>
                <a:cs typeface="Segoe UI Semibold" panose="020B0702040204020203" pitchFamily="34" charset="0"/>
              </a:endParaRPr>
            </a:p>
          </p:txBody>
        </p:sp>
        <p:grpSp>
          <p:nvGrpSpPr>
            <p:cNvPr id="48" name="Group 47">
              <a:extLst>
                <a:ext uri="{FF2B5EF4-FFF2-40B4-BE49-F238E27FC236}">
                  <a16:creationId xmlns:a16="http://schemas.microsoft.com/office/drawing/2014/main" id="{50115745-126A-3426-B640-D7D06656EF4A}"/>
                </a:ext>
              </a:extLst>
            </p:cNvPr>
            <p:cNvGrpSpPr/>
            <p:nvPr/>
          </p:nvGrpSpPr>
          <p:grpSpPr>
            <a:xfrm>
              <a:off x="4257497" y="607224"/>
              <a:ext cx="752220" cy="392193"/>
              <a:chOff x="9445423" y="3070069"/>
              <a:chExt cx="1125029" cy="586568"/>
            </a:xfrm>
          </p:grpSpPr>
          <p:sp>
            <p:nvSpPr>
              <p:cNvPr id="49" name="Rounded Rectangle 48">
                <a:extLst>
                  <a:ext uri="{FF2B5EF4-FFF2-40B4-BE49-F238E27FC236}">
                    <a16:creationId xmlns:a16="http://schemas.microsoft.com/office/drawing/2014/main" id="{627662DD-D7CE-F530-A252-21BACE230DA6}"/>
                  </a:ext>
                </a:extLst>
              </p:cNvPr>
              <p:cNvSpPr/>
              <p:nvPr/>
            </p:nvSpPr>
            <p:spPr>
              <a:xfrm>
                <a:off x="9581820" y="3070069"/>
                <a:ext cx="853448" cy="542659"/>
              </a:xfrm>
              <a:prstGeom prst="roundRect">
                <a:avLst/>
              </a:prstGeom>
              <a:solidFill>
                <a:schemeClr val="tx1"/>
              </a:soli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50" name="Rounded Rectangle 49">
                <a:extLst>
                  <a:ext uri="{FF2B5EF4-FFF2-40B4-BE49-F238E27FC236}">
                    <a16:creationId xmlns:a16="http://schemas.microsoft.com/office/drawing/2014/main" id="{2D87E21F-8029-55EA-3D21-71D4323B8130}"/>
                  </a:ext>
                </a:extLst>
              </p:cNvPr>
              <p:cNvSpPr/>
              <p:nvPr/>
            </p:nvSpPr>
            <p:spPr>
              <a:xfrm>
                <a:off x="9445423" y="3588259"/>
                <a:ext cx="1125029" cy="6837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pic>
            <p:nvPicPr>
              <p:cNvPr id="51" name="Graphic 50" descr="World outline">
                <a:extLst>
                  <a:ext uri="{FF2B5EF4-FFF2-40B4-BE49-F238E27FC236}">
                    <a16:creationId xmlns:a16="http://schemas.microsoft.com/office/drawing/2014/main" id="{5CF30B71-BC28-5D52-41D5-4FF67B5786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90872" y="3123631"/>
                <a:ext cx="426470" cy="426470"/>
              </a:xfrm>
              <a:prstGeom prst="rect">
                <a:avLst/>
              </a:prstGeom>
            </p:spPr>
          </p:pic>
        </p:grpSp>
      </p:grpSp>
      <p:sp>
        <p:nvSpPr>
          <p:cNvPr id="52" name="Laptop outline">
            <a:extLst>
              <a:ext uri="{FF2B5EF4-FFF2-40B4-BE49-F238E27FC236}">
                <a16:creationId xmlns:a16="http://schemas.microsoft.com/office/drawing/2014/main" id="{D34FCBB7-AA21-0E40-A81F-C9912562A8FF}"/>
              </a:ext>
            </a:extLst>
          </p:cNvPr>
          <p:cNvSpPr/>
          <p:nvPr/>
        </p:nvSpPr>
        <p:spPr>
          <a:xfrm>
            <a:off x="4128269" y="1480719"/>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4" name="Spec-driven">
            <a:extLst>
              <a:ext uri="{FF2B5EF4-FFF2-40B4-BE49-F238E27FC236}">
                <a16:creationId xmlns:a16="http://schemas.microsoft.com/office/drawing/2014/main" id="{3655E4E1-3123-7A2E-8BD8-EE93A8708DA5}"/>
              </a:ext>
            </a:extLst>
          </p:cNvPr>
          <p:cNvSpPr/>
          <p:nvPr/>
        </p:nvSpPr>
        <p:spPr>
          <a:xfrm>
            <a:off x="3153616" y="4665346"/>
            <a:ext cx="684368" cy="68436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1" b="1" spc="-61">
                <a:solidFill>
                  <a:schemeClr val="accent5"/>
                </a:solidFill>
                <a:latin typeface="Segoe UI Semibold" panose="020B0702040204020203" pitchFamily="34" charset="0"/>
                <a:cs typeface="Segoe UI Semibold" panose="020B0702040204020203" pitchFamily="34" charset="0"/>
              </a:rPr>
              <a:t>Spec-driven</a:t>
            </a:r>
          </a:p>
        </p:txBody>
      </p:sp>
      <p:sp>
        <p:nvSpPr>
          <p:cNvPr id="27" name="Spec-driven outline">
            <a:extLst>
              <a:ext uri="{FF2B5EF4-FFF2-40B4-BE49-F238E27FC236}">
                <a16:creationId xmlns:a16="http://schemas.microsoft.com/office/drawing/2014/main" id="{EE3075C9-769A-AF2A-8496-9172774A9ADC}"/>
              </a:ext>
            </a:extLst>
          </p:cNvPr>
          <p:cNvSpPr/>
          <p:nvPr/>
        </p:nvSpPr>
        <p:spPr>
          <a:xfrm>
            <a:off x="3153616" y="4665345"/>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6" name="Pro Code">
            <a:extLst>
              <a:ext uri="{FF2B5EF4-FFF2-40B4-BE49-F238E27FC236}">
                <a16:creationId xmlns:a16="http://schemas.microsoft.com/office/drawing/2014/main" id="{B60D9F14-E963-93AF-2504-4C7F2F588B4B}"/>
              </a:ext>
            </a:extLst>
          </p:cNvPr>
          <p:cNvSpPr/>
          <p:nvPr/>
        </p:nvSpPr>
        <p:spPr>
          <a:xfrm>
            <a:off x="3604347" y="3920092"/>
            <a:ext cx="684368" cy="68436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1" b="1" spc="-61">
                <a:solidFill>
                  <a:schemeClr val="accent5"/>
                </a:solidFill>
                <a:latin typeface="Segoe UI Semibold" panose="020B0702040204020203" pitchFamily="34" charset="0"/>
                <a:cs typeface="Segoe UI Semibold" panose="020B0702040204020203" pitchFamily="34" charset="0"/>
              </a:rPr>
              <a:t>Pro</a:t>
            </a:r>
          </a:p>
          <a:p>
            <a:pPr algn="ctr"/>
            <a:r>
              <a:rPr lang="en-US" sz="1101" b="1" spc="-61">
                <a:solidFill>
                  <a:schemeClr val="accent5"/>
                </a:solidFill>
                <a:latin typeface="Segoe UI Semibold" panose="020B0702040204020203" pitchFamily="34" charset="0"/>
                <a:cs typeface="Segoe UI Semibold" panose="020B0702040204020203" pitchFamily="34" charset="0"/>
              </a:rPr>
              <a:t>Code</a:t>
            </a:r>
          </a:p>
        </p:txBody>
      </p:sp>
      <p:sp>
        <p:nvSpPr>
          <p:cNvPr id="26" name="Pro Code outline">
            <a:extLst>
              <a:ext uri="{FF2B5EF4-FFF2-40B4-BE49-F238E27FC236}">
                <a16:creationId xmlns:a16="http://schemas.microsoft.com/office/drawing/2014/main" id="{C095F6AE-A5EC-9EB5-1A0E-09EED2450108}"/>
              </a:ext>
            </a:extLst>
          </p:cNvPr>
          <p:cNvSpPr/>
          <p:nvPr/>
        </p:nvSpPr>
        <p:spPr>
          <a:xfrm>
            <a:off x="3604347" y="3920092"/>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5" name="Vibe Code">
            <a:extLst>
              <a:ext uri="{FF2B5EF4-FFF2-40B4-BE49-F238E27FC236}">
                <a16:creationId xmlns:a16="http://schemas.microsoft.com/office/drawing/2014/main" id="{CA4700FA-B67D-03DC-2CDB-18F4EB75C2C3}"/>
              </a:ext>
            </a:extLst>
          </p:cNvPr>
          <p:cNvSpPr/>
          <p:nvPr/>
        </p:nvSpPr>
        <p:spPr>
          <a:xfrm>
            <a:off x="3755906" y="3086817"/>
            <a:ext cx="684368" cy="68436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1" b="1" spc="-61">
                <a:solidFill>
                  <a:schemeClr val="accent5"/>
                </a:solidFill>
                <a:latin typeface="Segoe UI Semibold" panose="020B0702040204020203" pitchFamily="34" charset="0"/>
                <a:cs typeface="Segoe UI Semibold" panose="020B0702040204020203" pitchFamily="34" charset="0"/>
              </a:rPr>
              <a:t>Vibe</a:t>
            </a:r>
          </a:p>
          <a:p>
            <a:pPr algn="ctr"/>
            <a:r>
              <a:rPr lang="en-US" sz="1101" b="1" spc="-61">
                <a:solidFill>
                  <a:schemeClr val="accent5"/>
                </a:solidFill>
                <a:latin typeface="Segoe UI Semibold" panose="020B0702040204020203" pitchFamily="34" charset="0"/>
                <a:cs typeface="Segoe UI Semibold" panose="020B0702040204020203" pitchFamily="34" charset="0"/>
              </a:rPr>
              <a:t>Code</a:t>
            </a:r>
          </a:p>
        </p:txBody>
      </p:sp>
      <p:sp>
        <p:nvSpPr>
          <p:cNvPr id="25" name="Vibe Code outline">
            <a:extLst>
              <a:ext uri="{FF2B5EF4-FFF2-40B4-BE49-F238E27FC236}">
                <a16:creationId xmlns:a16="http://schemas.microsoft.com/office/drawing/2014/main" id="{B11994FD-5D35-34A0-D880-888C904A6D54}"/>
              </a:ext>
            </a:extLst>
          </p:cNvPr>
          <p:cNvSpPr/>
          <p:nvPr/>
        </p:nvSpPr>
        <p:spPr>
          <a:xfrm>
            <a:off x="3755906" y="3086817"/>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3" name="Low Code">
            <a:extLst>
              <a:ext uri="{FF2B5EF4-FFF2-40B4-BE49-F238E27FC236}">
                <a16:creationId xmlns:a16="http://schemas.microsoft.com/office/drawing/2014/main" id="{AA4492CC-1478-7FC2-CE73-13D2CC01ED5E}"/>
              </a:ext>
            </a:extLst>
          </p:cNvPr>
          <p:cNvSpPr/>
          <p:nvPr/>
        </p:nvSpPr>
        <p:spPr>
          <a:xfrm>
            <a:off x="3604347" y="2239787"/>
            <a:ext cx="684368" cy="68436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1" b="1" spc="-61">
                <a:solidFill>
                  <a:schemeClr val="accent5"/>
                </a:solidFill>
                <a:latin typeface="Segoe UI Semibold" panose="020B0702040204020203" pitchFamily="34" charset="0"/>
                <a:cs typeface="Segoe UI Semibold" panose="020B0702040204020203" pitchFamily="34" charset="0"/>
              </a:rPr>
              <a:t>Low</a:t>
            </a:r>
          </a:p>
          <a:p>
            <a:pPr algn="ctr"/>
            <a:r>
              <a:rPr lang="en-US" sz="1101" b="1" spc="-61">
                <a:solidFill>
                  <a:schemeClr val="accent5"/>
                </a:solidFill>
                <a:latin typeface="Segoe UI Semibold" panose="020B0702040204020203" pitchFamily="34" charset="0"/>
                <a:cs typeface="Segoe UI Semibold" panose="020B0702040204020203" pitchFamily="34" charset="0"/>
              </a:rPr>
              <a:t>Code</a:t>
            </a:r>
          </a:p>
        </p:txBody>
      </p:sp>
      <p:sp>
        <p:nvSpPr>
          <p:cNvPr id="9" name="Low Code outline">
            <a:extLst>
              <a:ext uri="{FF2B5EF4-FFF2-40B4-BE49-F238E27FC236}">
                <a16:creationId xmlns:a16="http://schemas.microsoft.com/office/drawing/2014/main" id="{43CE1DC4-A7C3-904B-EA47-8DC460AC4B86}"/>
              </a:ext>
            </a:extLst>
          </p:cNvPr>
          <p:cNvSpPr/>
          <p:nvPr/>
        </p:nvSpPr>
        <p:spPr>
          <a:xfrm>
            <a:off x="3604347" y="2239787"/>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40" name="No Code">
            <a:extLst>
              <a:ext uri="{FF2B5EF4-FFF2-40B4-BE49-F238E27FC236}">
                <a16:creationId xmlns:a16="http://schemas.microsoft.com/office/drawing/2014/main" id="{70ED3353-0326-A5B7-09E6-6FE4CD6C174D}"/>
              </a:ext>
            </a:extLst>
          </p:cNvPr>
          <p:cNvSpPr/>
          <p:nvPr/>
        </p:nvSpPr>
        <p:spPr>
          <a:xfrm>
            <a:off x="3153616" y="1508288"/>
            <a:ext cx="684368" cy="68436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1" b="1" spc="-61">
                <a:solidFill>
                  <a:schemeClr val="accent5"/>
                </a:solidFill>
                <a:latin typeface="Segoe UI Semibold" panose="020B0702040204020203" pitchFamily="34" charset="0"/>
                <a:cs typeface="Segoe UI Semibold" panose="020B0702040204020203" pitchFamily="34" charset="0"/>
              </a:rPr>
              <a:t>No</a:t>
            </a:r>
          </a:p>
          <a:p>
            <a:pPr algn="ctr"/>
            <a:r>
              <a:rPr lang="en-US" sz="1101" b="1" spc="-61">
                <a:solidFill>
                  <a:schemeClr val="accent5"/>
                </a:solidFill>
                <a:latin typeface="Segoe UI Semibold" panose="020B0702040204020203" pitchFamily="34" charset="0"/>
                <a:cs typeface="Segoe UI Semibold" panose="020B0702040204020203" pitchFamily="34" charset="0"/>
              </a:rPr>
              <a:t>Code</a:t>
            </a:r>
          </a:p>
        </p:txBody>
      </p:sp>
      <p:sp>
        <p:nvSpPr>
          <p:cNvPr id="8" name="No Code outline">
            <a:extLst>
              <a:ext uri="{FF2B5EF4-FFF2-40B4-BE49-F238E27FC236}">
                <a16:creationId xmlns:a16="http://schemas.microsoft.com/office/drawing/2014/main" id="{94517AC1-37FD-CB5A-3C69-8242CD5811E7}"/>
              </a:ext>
            </a:extLst>
          </p:cNvPr>
          <p:cNvSpPr/>
          <p:nvPr/>
        </p:nvSpPr>
        <p:spPr>
          <a:xfrm>
            <a:off x="3153616" y="1508288"/>
            <a:ext cx="684368" cy="684368"/>
          </a:xfrm>
          <a:prstGeom prst="ellipse">
            <a:avLst/>
          </a:prstGeom>
          <a:solidFill>
            <a:srgbClr val="0D173C">
              <a:alpha val="20132"/>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9A8FF9D4-6726-0061-6C7F-E1EB366327DA}"/>
              </a:ext>
            </a:extLst>
          </p:cNvPr>
          <p:cNvSpPr txBox="1"/>
          <p:nvPr/>
        </p:nvSpPr>
        <p:spPr>
          <a:xfrm>
            <a:off x="6857688" y="3149078"/>
            <a:ext cx="3635180" cy="521553"/>
          </a:xfrm>
          <a:prstGeom prst="rect">
            <a:avLst/>
          </a:prstGeom>
          <a:noFill/>
        </p:spPr>
        <p:txBody>
          <a:bodyPr wrap="square" rtlCol="0" anchor="ctr">
            <a:spAutoFit/>
          </a:bodyPr>
          <a:lstStyle>
            <a:defPPr>
              <a:defRPr lang="en-US"/>
            </a:defPPr>
            <a:lvl1pPr marR="0" lvl="0" indent="0" algn="ctr" fontAlgn="auto">
              <a:lnSpc>
                <a:spcPct val="95000"/>
              </a:lnSpc>
              <a:spcBef>
                <a:spcPts val="0"/>
              </a:spcBef>
              <a:spcAft>
                <a:spcPts val="0"/>
              </a:spcAft>
              <a:buClrTx/>
              <a:buSzTx/>
              <a:buFontTx/>
              <a:buNone/>
              <a:tabLst/>
              <a:defRPr sz="4800" b="1" spc="-100">
                <a:ln w="3175">
                  <a:noFill/>
                </a:ln>
                <a:gradFill flip="none" rotWithShape="1">
                  <a:gsLst>
                    <a:gs pos="80000">
                      <a:srgbClr val="016BEB"/>
                    </a:gs>
                    <a:gs pos="30000">
                      <a:srgbClr val="CF43A2"/>
                    </a:gs>
                    <a:gs pos="0">
                      <a:srgbClr val="F09F52"/>
                    </a:gs>
                  </a:gsLst>
                  <a:path path="circle">
                    <a:fillToRect l="100000" t="100000"/>
                  </a:path>
                  <a:tileRect r="-100000" b="-100000"/>
                </a:gradFill>
                <a:latin typeface="Segoe UI Semibold" panose="020B0702040204020203" pitchFamily="34" charset="0"/>
                <a:ea typeface="Menlo" panose="020B0609030804020204" pitchFamily="49" charset="0"/>
                <a:cs typeface="Segoe UI Semibold" panose="020B0702040204020203" pitchFamily="34" charset="0"/>
              </a:defRPr>
            </a:lvl1pPr>
          </a:lstStyle>
          <a:p>
            <a:r>
              <a:rPr lang="en-US" sz="2936">
                <a:solidFill>
                  <a:schemeClr val="tx1"/>
                </a:solidFill>
                <a:latin typeface="Segoe Sans Display Semibold" pitchFamily="2" charset="0"/>
                <a:cs typeface="Segoe Sans Display Semibold" pitchFamily="2" charset="0"/>
              </a:rPr>
              <a:t>Now, </a:t>
            </a:r>
            <a:r>
              <a:rPr lang="en-US" sz="2936">
                <a:latin typeface="Segoe Sans Display Semibold" pitchFamily="2" charset="0"/>
                <a:cs typeface="Segoe Sans Display Semibold" pitchFamily="2" charset="0"/>
              </a:rPr>
              <a:t>augmented</a:t>
            </a:r>
            <a:r>
              <a:rPr lang="en-US" sz="2936">
                <a:solidFill>
                  <a:schemeClr val="bg1"/>
                </a:solidFill>
                <a:latin typeface="Segoe Sans Display Semibold" pitchFamily="2" charset="0"/>
                <a:cs typeface="Segoe Sans Display Semibold" pitchFamily="2" charset="0"/>
              </a:rPr>
              <a:t>.</a:t>
            </a:r>
          </a:p>
        </p:txBody>
      </p:sp>
      <p:grpSp>
        <p:nvGrpSpPr>
          <p:cNvPr id="10" name="You">
            <a:extLst>
              <a:ext uri="{FF2B5EF4-FFF2-40B4-BE49-F238E27FC236}">
                <a16:creationId xmlns:a16="http://schemas.microsoft.com/office/drawing/2014/main" id="{B6E9CC26-666C-83EA-1ACE-C6DC20002ECD}"/>
              </a:ext>
            </a:extLst>
          </p:cNvPr>
          <p:cNvGrpSpPr/>
          <p:nvPr/>
        </p:nvGrpSpPr>
        <p:grpSpPr>
          <a:xfrm>
            <a:off x="2119605" y="2713354"/>
            <a:ext cx="1278859" cy="1431293"/>
            <a:chOff x="5056804" y="2258899"/>
            <a:chExt cx="2090967" cy="2340202"/>
          </a:xfrm>
        </p:grpSpPr>
        <p:sp>
          <p:nvSpPr>
            <p:cNvPr id="12" name="Oval 11">
              <a:extLst>
                <a:ext uri="{FF2B5EF4-FFF2-40B4-BE49-F238E27FC236}">
                  <a16:creationId xmlns:a16="http://schemas.microsoft.com/office/drawing/2014/main" id="{855696DF-91C2-2BC0-E4DB-33BE4EE5D6EA}"/>
                </a:ext>
              </a:extLst>
            </p:cNvPr>
            <p:cNvSpPr/>
            <p:nvPr/>
          </p:nvSpPr>
          <p:spPr>
            <a:xfrm>
              <a:off x="5237692" y="2542653"/>
              <a:ext cx="1756727" cy="1756727"/>
            </a:xfrm>
            <a:prstGeom prst="ellipse">
              <a:avLst/>
            </a:prstGeom>
            <a:solidFill>
              <a:srgbClr val="0D173C">
                <a:alpha val="70000"/>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79">
                <a:solidFill>
                  <a:srgbClr val="FFFFFF"/>
                </a:solidFill>
                <a:latin typeface="Segoe UI" panose="020B0502040204020203" pitchFamily="34" charset="0"/>
                <a:cs typeface="Segoe UI" panose="020B0502040204020203" pitchFamily="34" charset="0"/>
              </a:endParaRPr>
            </a:p>
          </p:txBody>
        </p:sp>
        <p:grpSp>
          <p:nvGrpSpPr>
            <p:cNvPr id="13" name="Group 12">
              <a:extLst>
                <a:ext uri="{FF2B5EF4-FFF2-40B4-BE49-F238E27FC236}">
                  <a16:creationId xmlns:a16="http://schemas.microsoft.com/office/drawing/2014/main" id="{4BB22C47-CC5B-FBDA-2A66-44BB38762344}"/>
                </a:ext>
              </a:extLst>
            </p:cNvPr>
            <p:cNvGrpSpPr/>
            <p:nvPr/>
          </p:nvGrpSpPr>
          <p:grpSpPr>
            <a:xfrm>
              <a:off x="5651255" y="2969623"/>
              <a:ext cx="918754" cy="918754"/>
              <a:chOff x="5651255" y="2969623"/>
              <a:chExt cx="918754" cy="918754"/>
            </a:xfrm>
          </p:grpSpPr>
          <p:sp>
            <p:nvSpPr>
              <p:cNvPr id="110" name="Oval 109">
                <a:extLst>
                  <a:ext uri="{FF2B5EF4-FFF2-40B4-BE49-F238E27FC236}">
                    <a16:creationId xmlns:a16="http://schemas.microsoft.com/office/drawing/2014/main" id="{99F9A52F-2ABA-C642-F777-11593A20D645}"/>
                  </a:ext>
                </a:extLst>
              </p:cNvPr>
              <p:cNvSpPr/>
              <p:nvPr/>
            </p:nvSpPr>
            <p:spPr>
              <a:xfrm>
                <a:off x="5651255" y="2969623"/>
                <a:ext cx="918754" cy="918754"/>
              </a:xfrm>
              <a:prstGeom prst="ellipse">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grpSp>
            <p:nvGrpSpPr>
              <p:cNvPr id="111" name="Graphic 24">
                <a:extLst>
                  <a:ext uri="{FF2B5EF4-FFF2-40B4-BE49-F238E27FC236}">
                    <a16:creationId xmlns:a16="http://schemas.microsoft.com/office/drawing/2014/main" id="{687A8A2D-F4C0-29B4-00BE-47C87A2AD1DE}"/>
                  </a:ext>
                </a:extLst>
              </p:cNvPr>
              <p:cNvGrpSpPr/>
              <p:nvPr/>
            </p:nvGrpSpPr>
            <p:grpSpPr>
              <a:xfrm>
                <a:off x="5879493" y="3122125"/>
                <a:ext cx="462279" cy="613749"/>
                <a:chOff x="7324464" y="2539185"/>
                <a:chExt cx="871198" cy="1156653"/>
              </a:xfrm>
              <a:gradFill>
                <a:gsLst>
                  <a:gs pos="100000">
                    <a:srgbClr val="41C9E4">
                      <a:lumMod val="5078"/>
                      <a:lumOff val="94922"/>
                    </a:srgbClr>
                  </a:gs>
                  <a:gs pos="0">
                    <a:srgbClr val="ED81FF">
                      <a:lumMod val="15000"/>
                      <a:lumOff val="85000"/>
                    </a:srgbClr>
                  </a:gs>
                </a:gsLst>
                <a:lin ang="2700000" scaled="1"/>
              </a:gradFill>
            </p:grpSpPr>
            <p:sp>
              <p:nvSpPr>
                <p:cNvPr id="113" name="Freeform 112">
                  <a:extLst>
                    <a:ext uri="{FF2B5EF4-FFF2-40B4-BE49-F238E27FC236}">
                      <a16:creationId xmlns:a16="http://schemas.microsoft.com/office/drawing/2014/main" id="{C721490B-61A2-6AE7-AD0D-E979B0176A7A}"/>
                    </a:ext>
                  </a:extLst>
                </p:cNvPr>
                <p:cNvSpPr/>
                <p:nvPr/>
              </p:nvSpPr>
              <p:spPr>
                <a:xfrm>
                  <a:off x="7503843" y="2539185"/>
                  <a:ext cx="512439" cy="522688"/>
                </a:xfrm>
                <a:custGeom>
                  <a:avLst/>
                  <a:gdLst>
                    <a:gd name="connsiteX0" fmla="*/ 512439 w 512439"/>
                    <a:gd name="connsiteY0" fmla="*/ 261344 h 522688"/>
                    <a:gd name="connsiteX1" fmla="*/ 256220 w 512439"/>
                    <a:gd name="connsiteY1" fmla="*/ 522688 h 522688"/>
                    <a:gd name="connsiteX2" fmla="*/ 0 w 512439"/>
                    <a:gd name="connsiteY2" fmla="*/ 261344 h 522688"/>
                    <a:gd name="connsiteX3" fmla="*/ 256220 w 512439"/>
                    <a:gd name="connsiteY3" fmla="*/ 0 h 522688"/>
                    <a:gd name="connsiteX4" fmla="*/ 512439 w 512439"/>
                    <a:gd name="connsiteY4" fmla="*/ 261344 h 522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2439" h="522688">
                      <a:moveTo>
                        <a:pt x="512439" y="261344"/>
                      </a:moveTo>
                      <a:cubicBezTo>
                        <a:pt x="512439" y="405681"/>
                        <a:pt x="397726" y="522688"/>
                        <a:pt x="256220" y="522688"/>
                      </a:cubicBezTo>
                      <a:cubicBezTo>
                        <a:pt x="114713" y="522688"/>
                        <a:pt x="0" y="405681"/>
                        <a:pt x="0" y="261344"/>
                      </a:cubicBezTo>
                      <a:cubicBezTo>
                        <a:pt x="0" y="117008"/>
                        <a:pt x="114713" y="0"/>
                        <a:pt x="256220" y="0"/>
                      </a:cubicBezTo>
                      <a:cubicBezTo>
                        <a:pt x="397726" y="0"/>
                        <a:pt x="512439" y="117008"/>
                        <a:pt x="512439" y="261344"/>
                      </a:cubicBezTo>
                      <a:close/>
                    </a:path>
                  </a:pathLst>
                </a:custGeom>
                <a:grpFill/>
                <a:effectLst>
                  <a:outerShdw blurRad="279400" dist="152400" dir="5400000" algn="t" rotWithShape="0">
                    <a:srgbClr val="122836">
                      <a:alpha val="28000"/>
                    </a:srgbClr>
                  </a:outerShdw>
                </a:effectLst>
              </p:spPr>
              <p:txBody>
                <a:bodyPr rtlCol="0" anchor="ctr"/>
                <a:lstStyle/>
                <a:p>
                  <a:pPr defTabSz="559227"/>
                  <a:endParaRPr lang="en-US" sz="1079">
                    <a:noFill/>
                    <a:latin typeface="Segoe UI"/>
                  </a:endParaRPr>
                </a:p>
              </p:txBody>
            </p:sp>
            <p:sp>
              <p:nvSpPr>
                <p:cNvPr id="114" name="Freeform 113">
                  <a:extLst>
                    <a:ext uri="{FF2B5EF4-FFF2-40B4-BE49-F238E27FC236}">
                      <a16:creationId xmlns:a16="http://schemas.microsoft.com/office/drawing/2014/main" id="{4A0C4DBA-78BD-DC32-E33B-647E9BCB3DC0}"/>
                    </a:ext>
                  </a:extLst>
                </p:cNvPr>
                <p:cNvSpPr/>
                <p:nvPr/>
              </p:nvSpPr>
              <p:spPr>
                <a:xfrm>
                  <a:off x="7324464" y="3124362"/>
                  <a:ext cx="871198" cy="571475"/>
                </a:xfrm>
                <a:custGeom>
                  <a:avLst/>
                  <a:gdLst>
                    <a:gd name="connsiteX0" fmla="*/ 870939 w 871198"/>
                    <a:gd name="connsiteY0" fmla="*/ 404064 h 571475"/>
                    <a:gd name="connsiteX1" fmla="*/ 0 w 871198"/>
                    <a:gd name="connsiteY1" fmla="*/ 404064 h 571475"/>
                    <a:gd name="connsiteX2" fmla="*/ 435599 w 871198"/>
                    <a:gd name="connsiteY2" fmla="*/ 0 h 571475"/>
                    <a:gd name="connsiteX3" fmla="*/ 871199 w 871198"/>
                    <a:gd name="connsiteY3" fmla="*/ 404064 h 571475"/>
                  </a:gdLst>
                  <a:ahLst/>
                  <a:cxnLst>
                    <a:cxn ang="0">
                      <a:pos x="connsiteX0" y="connsiteY0"/>
                    </a:cxn>
                    <a:cxn ang="0">
                      <a:pos x="connsiteX1" y="connsiteY1"/>
                    </a:cxn>
                    <a:cxn ang="0">
                      <a:pos x="connsiteX2" y="connsiteY2"/>
                    </a:cxn>
                    <a:cxn ang="0">
                      <a:pos x="connsiteX3" y="connsiteY3"/>
                    </a:cxn>
                  </a:cxnLst>
                  <a:rect l="l" t="t" r="r" b="b"/>
                  <a:pathLst>
                    <a:path w="871198" h="571475">
                      <a:moveTo>
                        <a:pt x="870939" y="404064"/>
                      </a:moveTo>
                      <a:cubicBezTo>
                        <a:pt x="870939" y="627279"/>
                        <a:pt x="0" y="627279"/>
                        <a:pt x="0" y="404064"/>
                      </a:cubicBezTo>
                      <a:cubicBezTo>
                        <a:pt x="0" y="180849"/>
                        <a:pt x="194955" y="0"/>
                        <a:pt x="435599" y="0"/>
                      </a:cubicBezTo>
                      <a:cubicBezTo>
                        <a:pt x="676243" y="0"/>
                        <a:pt x="871199" y="180849"/>
                        <a:pt x="871199" y="404064"/>
                      </a:cubicBezTo>
                      <a:close/>
                    </a:path>
                  </a:pathLst>
                </a:custGeom>
                <a:grpFill/>
                <a:effectLst>
                  <a:outerShdw blurRad="279400" dist="152400" dir="5400000" algn="t" rotWithShape="0">
                    <a:srgbClr val="122836">
                      <a:alpha val="28000"/>
                    </a:srgbClr>
                  </a:outerShdw>
                </a:effectLst>
              </p:spPr>
              <p:txBody>
                <a:bodyPr rtlCol="0" anchor="ctr"/>
                <a:lstStyle/>
                <a:p>
                  <a:pPr defTabSz="559227"/>
                  <a:endParaRPr lang="en-US" sz="1079">
                    <a:noFill/>
                    <a:latin typeface="Segoe UI"/>
                  </a:endParaRPr>
                </a:p>
              </p:txBody>
            </p:sp>
          </p:grpSp>
          <p:sp>
            <p:nvSpPr>
              <p:cNvPr id="112" name="Oval 111">
                <a:extLst>
                  <a:ext uri="{FF2B5EF4-FFF2-40B4-BE49-F238E27FC236}">
                    <a16:creationId xmlns:a16="http://schemas.microsoft.com/office/drawing/2014/main" id="{C3E72C04-EEE3-0C0E-7432-7863016CC09A}"/>
                  </a:ext>
                </a:extLst>
              </p:cNvPr>
              <p:cNvSpPr/>
              <p:nvPr/>
            </p:nvSpPr>
            <p:spPr>
              <a:xfrm>
                <a:off x="5651255" y="2969623"/>
                <a:ext cx="918754" cy="918754"/>
              </a:xfrm>
              <a:prstGeom prst="ellipse">
                <a:avLst/>
              </a:prstGeom>
              <a:noFill/>
              <a:ln>
                <a:solidFill>
                  <a:srgbClr val="C243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grpSp>
        <p:grpSp>
          <p:nvGrpSpPr>
            <p:cNvPr id="14" name="Group 13">
              <a:extLst>
                <a:ext uri="{FF2B5EF4-FFF2-40B4-BE49-F238E27FC236}">
                  <a16:creationId xmlns:a16="http://schemas.microsoft.com/office/drawing/2014/main" id="{1B2EDBA3-BD2D-D639-0250-3B405672C78F}"/>
                </a:ext>
              </a:extLst>
            </p:cNvPr>
            <p:cNvGrpSpPr/>
            <p:nvPr/>
          </p:nvGrpSpPr>
          <p:grpSpPr>
            <a:xfrm>
              <a:off x="5056804" y="2666470"/>
              <a:ext cx="589140" cy="589140"/>
              <a:chOff x="5056804" y="2666470"/>
              <a:chExt cx="589140" cy="589140"/>
            </a:xfrm>
          </p:grpSpPr>
          <p:sp>
            <p:nvSpPr>
              <p:cNvPr id="107" name="Oval 106">
                <a:extLst>
                  <a:ext uri="{FF2B5EF4-FFF2-40B4-BE49-F238E27FC236}">
                    <a16:creationId xmlns:a16="http://schemas.microsoft.com/office/drawing/2014/main" id="{C2E546E5-5987-866E-6709-D52E918DC2EC}"/>
                  </a:ext>
                </a:extLst>
              </p:cNvPr>
              <p:cNvSpPr/>
              <p:nvPr/>
            </p:nvSpPr>
            <p:spPr>
              <a:xfrm>
                <a:off x="5056804" y="2666470"/>
                <a:ext cx="589140" cy="589140"/>
              </a:xfrm>
              <a:prstGeom prst="ellipse">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108" name="Oval 107">
                <a:extLst>
                  <a:ext uri="{FF2B5EF4-FFF2-40B4-BE49-F238E27FC236}">
                    <a16:creationId xmlns:a16="http://schemas.microsoft.com/office/drawing/2014/main" id="{CEC3DD9C-C02F-E6EB-4AE5-6E091F00085F}"/>
                  </a:ext>
                </a:extLst>
              </p:cNvPr>
              <p:cNvSpPr/>
              <p:nvPr/>
            </p:nvSpPr>
            <p:spPr>
              <a:xfrm>
                <a:off x="5056804" y="2666470"/>
                <a:ext cx="589140" cy="589140"/>
              </a:xfrm>
              <a:prstGeom prst="ellipse">
                <a:avLst/>
              </a:prstGeom>
              <a:noFill/>
              <a:ln w="12700">
                <a:solidFill>
                  <a:schemeClr val="bg1">
                    <a:alpha val="3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pic>
            <p:nvPicPr>
              <p:cNvPr id="109" name="Graphic 108">
                <a:extLst>
                  <a:ext uri="{FF2B5EF4-FFF2-40B4-BE49-F238E27FC236}">
                    <a16:creationId xmlns:a16="http://schemas.microsoft.com/office/drawing/2014/main" id="{4F8289C3-8FAC-3EDF-DDA6-5D41202AB26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36543" y="2754566"/>
                <a:ext cx="419282" cy="419282"/>
              </a:xfrm>
              <a:prstGeom prst="rect">
                <a:avLst/>
              </a:prstGeom>
              <a:effectLst>
                <a:outerShdw blurRad="63500" sx="103000" sy="103000" algn="ctr" rotWithShape="0">
                  <a:prstClr val="black">
                    <a:alpha val="5000"/>
                  </a:prstClr>
                </a:outerShdw>
              </a:effectLst>
            </p:spPr>
          </p:pic>
        </p:grpSp>
        <p:grpSp>
          <p:nvGrpSpPr>
            <p:cNvPr id="15" name="Group 14">
              <a:extLst>
                <a:ext uri="{FF2B5EF4-FFF2-40B4-BE49-F238E27FC236}">
                  <a16:creationId xmlns:a16="http://schemas.microsoft.com/office/drawing/2014/main" id="{6A05A010-B049-7F68-BCFA-C380B0426132}"/>
                </a:ext>
              </a:extLst>
            </p:cNvPr>
            <p:cNvGrpSpPr/>
            <p:nvPr/>
          </p:nvGrpSpPr>
          <p:grpSpPr>
            <a:xfrm>
              <a:off x="5816062" y="4009961"/>
              <a:ext cx="589140" cy="589140"/>
              <a:chOff x="5816062" y="4009961"/>
              <a:chExt cx="589140" cy="589140"/>
            </a:xfrm>
          </p:grpSpPr>
          <p:sp>
            <p:nvSpPr>
              <p:cNvPr id="70" name="Oval 69">
                <a:extLst>
                  <a:ext uri="{FF2B5EF4-FFF2-40B4-BE49-F238E27FC236}">
                    <a16:creationId xmlns:a16="http://schemas.microsoft.com/office/drawing/2014/main" id="{5DC46CF2-8942-1D1C-ACE8-A758704BC2C5}"/>
                  </a:ext>
                </a:extLst>
              </p:cNvPr>
              <p:cNvSpPr/>
              <p:nvPr/>
            </p:nvSpPr>
            <p:spPr>
              <a:xfrm>
                <a:off x="5816062" y="4009961"/>
                <a:ext cx="589140" cy="589140"/>
              </a:xfrm>
              <a:prstGeom prst="ellipse">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105" name="Oval 104">
                <a:extLst>
                  <a:ext uri="{FF2B5EF4-FFF2-40B4-BE49-F238E27FC236}">
                    <a16:creationId xmlns:a16="http://schemas.microsoft.com/office/drawing/2014/main" id="{F7CAD6EC-FC7F-8936-9826-F622E2A524C5}"/>
                  </a:ext>
                </a:extLst>
              </p:cNvPr>
              <p:cNvSpPr/>
              <p:nvPr/>
            </p:nvSpPr>
            <p:spPr>
              <a:xfrm>
                <a:off x="5816062" y="4009961"/>
                <a:ext cx="589140" cy="589140"/>
              </a:xfrm>
              <a:prstGeom prst="ellipse">
                <a:avLst/>
              </a:prstGeom>
              <a:noFill/>
              <a:ln w="12700">
                <a:solidFill>
                  <a:schemeClr val="bg1">
                    <a:alpha val="3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pic>
            <p:nvPicPr>
              <p:cNvPr id="106" name="Graphic 105">
                <a:extLst>
                  <a:ext uri="{FF2B5EF4-FFF2-40B4-BE49-F238E27FC236}">
                    <a16:creationId xmlns:a16="http://schemas.microsoft.com/office/drawing/2014/main" id="{6CF8A8B4-6A0D-B128-356C-30E737EC09F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02606" y="4082255"/>
                <a:ext cx="419282" cy="419282"/>
              </a:xfrm>
              <a:prstGeom prst="rect">
                <a:avLst/>
              </a:prstGeom>
              <a:effectLst>
                <a:outerShdw blurRad="63500" sx="103000" sy="103000" algn="ctr" rotWithShape="0">
                  <a:prstClr val="black">
                    <a:alpha val="5000"/>
                  </a:prstClr>
                </a:outerShdw>
              </a:effectLst>
            </p:spPr>
          </p:pic>
        </p:grpSp>
        <p:grpSp>
          <p:nvGrpSpPr>
            <p:cNvPr id="17" name="Group 16">
              <a:extLst>
                <a:ext uri="{FF2B5EF4-FFF2-40B4-BE49-F238E27FC236}">
                  <a16:creationId xmlns:a16="http://schemas.microsoft.com/office/drawing/2014/main" id="{6474488C-C908-6EE9-996D-72A0DB363B11}"/>
                </a:ext>
              </a:extLst>
            </p:cNvPr>
            <p:cNvGrpSpPr/>
            <p:nvPr/>
          </p:nvGrpSpPr>
          <p:grpSpPr>
            <a:xfrm>
              <a:off x="5816062" y="2258899"/>
              <a:ext cx="589140" cy="589140"/>
              <a:chOff x="5816062" y="2258899"/>
              <a:chExt cx="589140" cy="589140"/>
            </a:xfrm>
          </p:grpSpPr>
          <p:sp>
            <p:nvSpPr>
              <p:cNvPr id="43" name="Oval 42">
                <a:extLst>
                  <a:ext uri="{FF2B5EF4-FFF2-40B4-BE49-F238E27FC236}">
                    <a16:creationId xmlns:a16="http://schemas.microsoft.com/office/drawing/2014/main" id="{0FAD3744-AF35-AF83-D570-87E171A74332}"/>
                  </a:ext>
                </a:extLst>
              </p:cNvPr>
              <p:cNvSpPr/>
              <p:nvPr/>
            </p:nvSpPr>
            <p:spPr>
              <a:xfrm>
                <a:off x="5816062" y="2258899"/>
                <a:ext cx="589140" cy="589140"/>
              </a:xfrm>
              <a:prstGeom prst="ellipse">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44" name="Oval 43">
                <a:extLst>
                  <a:ext uri="{FF2B5EF4-FFF2-40B4-BE49-F238E27FC236}">
                    <a16:creationId xmlns:a16="http://schemas.microsoft.com/office/drawing/2014/main" id="{2E127ED7-E263-ED7B-0467-553E18885B9A}"/>
                  </a:ext>
                </a:extLst>
              </p:cNvPr>
              <p:cNvSpPr/>
              <p:nvPr/>
            </p:nvSpPr>
            <p:spPr>
              <a:xfrm>
                <a:off x="5816062" y="2258899"/>
                <a:ext cx="589140" cy="589140"/>
              </a:xfrm>
              <a:prstGeom prst="ellipse">
                <a:avLst/>
              </a:prstGeom>
              <a:noFill/>
              <a:ln w="12700">
                <a:solidFill>
                  <a:schemeClr val="bg1">
                    <a:alpha val="3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pic>
            <p:nvPicPr>
              <p:cNvPr id="45" name="Graphic 44">
                <a:extLst>
                  <a:ext uri="{FF2B5EF4-FFF2-40B4-BE49-F238E27FC236}">
                    <a16:creationId xmlns:a16="http://schemas.microsoft.com/office/drawing/2014/main" id="{336DE790-9646-F2C7-9C48-07CEB738C2D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908711" y="2343828"/>
                <a:ext cx="419282" cy="419282"/>
              </a:xfrm>
              <a:prstGeom prst="rect">
                <a:avLst/>
              </a:prstGeom>
              <a:effectLst>
                <a:outerShdw blurRad="63500" sx="103000" sy="103000" algn="ctr" rotWithShape="0">
                  <a:prstClr val="black">
                    <a:alpha val="5000"/>
                  </a:prstClr>
                </a:outerShdw>
              </a:effectLst>
            </p:spPr>
          </p:pic>
        </p:grpSp>
        <p:grpSp>
          <p:nvGrpSpPr>
            <p:cNvPr id="19" name="Group 18">
              <a:extLst>
                <a:ext uri="{FF2B5EF4-FFF2-40B4-BE49-F238E27FC236}">
                  <a16:creationId xmlns:a16="http://schemas.microsoft.com/office/drawing/2014/main" id="{09030B8A-58C5-C779-7D22-81E56527ABEB}"/>
                </a:ext>
              </a:extLst>
            </p:cNvPr>
            <p:cNvGrpSpPr/>
            <p:nvPr/>
          </p:nvGrpSpPr>
          <p:grpSpPr>
            <a:xfrm>
              <a:off x="6547975" y="2661165"/>
              <a:ext cx="599796" cy="589140"/>
              <a:chOff x="6547975" y="2661165"/>
              <a:chExt cx="599796" cy="589140"/>
            </a:xfrm>
          </p:grpSpPr>
          <p:sp>
            <p:nvSpPr>
              <p:cNvPr id="33" name="Oval 32">
                <a:extLst>
                  <a:ext uri="{FF2B5EF4-FFF2-40B4-BE49-F238E27FC236}">
                    <a16:creationId xmlns:a16="http://schemas.microsoft.com/office/drawing/2014/main" id="{86860344-02A7-C2F6-005B-9393ABB7C941}"/>
                  </a:ext>
                </a:extLst>
              </p:cNvPr>
              <p:cNvSpPr/>
              <p:nvPr/>
            </p:nvSpPr>
            <p:spPr>
              <a:xfrm>
                <a:off x="6558631" y="2661165"/>
                <a:ext cx="589140" cy="589140"/>
              </a:xfrm>
              <a:prstGeom prst="ellipse">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38" name="Oval 37">
                <a:extLst>
                  <a:ext uri="{FF2B5EF4-FFF2-40B4-BE49-F238E27FC236}">
                    <a16:creationId xmlns:a16="http://schemas.microsoft.com/office/drawing/2014/main" id="{0A03A999-8A21-920F-8BED-BFF92B064842}"/>
                  </a:ext>
                </a:extLst>
              </p:cNvPr>
              <p:cNvSpPr/>
              <p:nvPr/>
            </p:nvSpPr>
            <p:spPr>
              <a:xfrm>
                <a:off x="6547975" y="2661165"/>
                <a:ext cx="589140" cy="589140"/>
              </a:xfrm>
              <a:prstGeom prst="ellipse">
                <a:avLst/>
              </a:prstGeom>
              <a:noFill/>
              <a:ln w="12700">
                <a:solidFill>
                  <a:schemeClr val="bg1">
                    <a:alpha val="3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grpSp>
            <p:nvGrpSpPr>
              <p:cNvPr id="39" name="Group 38">
                <a:extLst>
                  <a:ext uri="{FF2B5EF4-FFF2-40B4-BE49-F238E27FC236}">
                    <a16:creationId xmlns:a16="http://schemas.microsoft.com/office/drawing/2014/main" id="{EFC7F38C-C49F-1A63-3312-C3AF6B605E3B}"/>
                  </a:ext>
                </a:extLst>
              </p:cNvPr>
              <p:cNvGrpSpPr/>
              <p:nvPr/>
            </p:nvGrpSpPr>
            <p:grpSpPr>
              <a:xfrm>
                <a:off x="6671795" y="2830003"/>
                <a:ext cx="365760" cy="274320"/>
                <a:chOff x="14295748" y="9844198"/>
                <a:chExt cx="1028405" cy="822981"/>
              </a:xfrm>
              <a:solidFill>
                <a:schemeClr val="bg1"/>
              </a:solidFill>
            </p:grpSpPr>
            <p:sp>
              <p:nvSpPr>
                <p:cNvPr id="41" name="Graphic 152">
                  <a:extLst>
                    <a:ext uri="{FF2B5EF4-FFF2-40B4-BE49-F238E27FC236}">
                      <a16:creationId xmlns:a16="http://schemas.microsoft.com/office/drawing/2014/main" id="{EBE3978A-A563-E0BA-9E8C-7FB39BA9C599}"/>
                    </a:ext>
                  </a:extLst>
                </p:cNvPr>
                <p:cNvSpPr/>
                <p:nvPr/>
              </p:nvSpPr>
              <p:spPr>
                <a:xfrm>
                  <a:off x="14295748" y="9844198"/>
                  <a:ext cx="1028405" cy="822981"/>
                </a:xfrm>
                <a:custGeom>
                  <a:avLst/>
                  <a:gdLst>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398507 w 1028405"/>
                    <a:gd name="csY18" fmla="*/ 437072 h 822981"/>
                    <a:gd name="csX19" fmla="*/ 437072 w 1028405"/>
                    <a:gd name="csY19" fmla="*/ 475637 h 822981"/>
                    <a:gd name="csX20" fmla="*/ 437072 w 1028405"/>
                    <a:gd name="csY20" fmla="*/ 500988 h 822981"/>
                    <a:gd name="csX21" fmla="*/ 436661 w 1028405"/>
                    <a:gd name="csY21" fmla="*/ 506541 h 822981"/>
                    <a:gd name="csX22" fmla="*/ 308522 w 1028405"/>
                    <a:gd name="csY22" fmla="*/ 591384 h 822981"/>
                    <a:gd name="csX23" fmla="*/ 180382 w 1028405"/>
                    <a:gd name="csY23" fmla="*/ 506541 h 822981"/>
                    <a:gd name="csX24" fmla="*/ 179971 w 1028405"/>
                    <a:gd name="csY24" fmla="*/ 500885 h 822981"/>
                    <a:gd name="csX25" fmla="*/ 179971 w 1028405"/>
                    <a:gd name="csY25" fmla="*/ 475637 h 822981"/>
                    <a:gd name="csX26" fmla="*/ 218536 w 1028405"/>
                    <a:gd name="csY26" fmla="*/ 437072 h 822981"/>
                    <a:gd name="csX27" fmla="*/ 398507 w 1028405"/>
                    <a:gd name="csY27" fmla="*/ 437072 h 822981"/>
                    <a:gd name="csX28" fmla="*/ 578581 w 1028405"/>
                    <a:gd name="csY28" fmla="*/ 462577 h 822981"/>
                    <a:gd name="csX29" fmla="*/ 809869 w 1028405"/>
                    <a:gd name="csY29" fmla="*/ 462577 h 822981"/>
                    <a:gd name="csX30" fmla="*/ 848424 w 1028405"/>
                    <a:gd name="csY30" fmla="*/ 501152 h 822981"/>
                    <a:gd name="csX31" fmla="*/ 815114 w 1028405"/>
                    <a:gd name="csY31" fmla="*/ 539347 h 822981"/>
                    <a:gd name="csX32" fmla="*/ 809869 w 1028405"/>
                    <a:gd name="csY32" fmla="*/ 539707 h 822981"/>
                    <a:gd name="csX33" fmla="*/ 578581 w 1028405"/>
                    <a:gd name="csY33" fmla="*/ 539707 h 822981"/>
                    <a:gd name="csX34" fmla="*/ 540026 w 1028405"/>
                    <a:gd name="csY34" fmla="*/ 501131 h 822981"/>
                    <a:gd name="csX35" fmla="*/ 573336 w 1028405"/>
                    <a:gd name="csY35" fmla="*/ 462937 h 822981"/>
                    <a:gd name="csX36" fmla="*/ 578581 w 1028405"/>
                    <a:gd name="csY36" fmla="*/ 462577 h 822981"/>
                    <a:gd name="csX37" fmla="*/ 809869 w 1028405"/>
                    <a:gd name="csY37" fmla="*/ 462577 h 822981"/>
                    <a:gd name="csX38" fmla="*/ 578581 w 1028405"/>
                    <a:gd name="csY38" fmla="*/ 462577 h 822981"/>
                    <a:gd name="csX39" fmla="*/ 308522 w 1028405"/>
                    <a:gd name="csY39" fmla="*/ 231494 h 822981"/>
                    <a:gd name="csX40" fmla="*/ 385652 w 1028405"/>
                    <a:gd name="csY40" fmla="*/ 308624 h 822981"/>
                    <a:gd name="csX41" fmla="*/ 308522 w 1028405"/>
                    <a:gd name="csY41" fmla="*/ 385755 h 822981"/>
                    <a:gd name="csX42" fmla="*/ 231391 w 1028405"/>
                    <a:gd name="csY42" fmla="*/ 308624 h 822981"/>
                    <a:gd name="csX43" fmla="*/ 308522 w 1028405"/>
                    <a:gd name="csY43" fmla="*/ 231494 h 822981"/>
                    <a:gd name="csX44" fmla="*/ 578581 w 1028405"/>
                    <a:gd name="csY44" fmla="*/ 282811 h 822981"/>
                    <a:gd name="csX45" fmla="*/ 809869 w 1028405"/>
                    <a:gd name="csY45" fmla="*/ 282811 h 822981"/>
                    <a:gd name="csX46" fmla="*/ 848424 w 1028405"/>
                    <a:gd name="csY46" fmla="*/ 321387 h 822981"/>
                    <a:gd name="csX47" fmla="*/ 815114 w 1028405"/>
                    <a:gd name="csY47" fmla="*/ 359582 h 822981"/>
                    <a:gd name="csX48" fmla="*/ 809869 w 1028405"/>
                    <a:gd name="csY48" fmla="*/ 359942 h 822981"/>
                    <a:gd name="csX49" fmla="*/ 578581 w 1028405"/>
                    <a:gd name="csY49" fmla="*/ 359942 h 822981"/>
                    <a:gd name="csX50" fmla="*/ 540026 w 1028405"/>
                    <a:gd name="csY50" fmla="*/ 321366 h 822981"/>
                    <a:gd name="csX51" fmla="*/ 573336 w 1028405"/>
                    <a:gd name="csY51" fmla="*/ 283171 h 822981"/>
                    <a:gd name="csX52" fmla="*/ 578581 w 1028405"/>
                    <a:gd name="csY52" fmla="*/ 282811 h 822981"/>
                    <a:gd name="csX53" fmla="*/ 809869 w 1028405"/>
                    <a:gd name="csY53" fmla="*/ 282811 h 822981"/>
                    <a:gd name="csX54" fmla="*/ 578581 w 1028405"/>
                    <a:gd name="csY54"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398507 w 1028405"/>
                    <a:gd name="csY18" fmla="*/ 437072 h 822981"/>
                    <a:gd name="csX19" fmla="*/ 437072 w 1028405"/>
                    <a:gd name="csY19" fmla="*/ 475637 h 822981"/>
                    <a:gd name="csX20" fmla="*/ 437072 w 1028405"/>
                    <a:gd name="csY20" fmla="*/ 500988 h 822981"/>
                    <a:gd name="csX21" fmla="*/ 462061 w 1028405"/>
                    <a:gd name="csY21" fmla="*/ 598616 h 822981"/>
                    <a:gd name="csX22" fmla="*/ 308522 w 1028405"/>
                    <a:gd name="csY22" fmla="*/ 591384 h 822981"/>
                    <a:gd name="csX23" fmla="*/ 180382 w 1028405"/>
                    <a:gd name="csY23" fmla="*/ 506541 h 822981"/>
                    <a:gd name="csX24" fmla="*/ 179971 w 1028405"/>
                    <a:gd name="csY24" fmla="*/ 500885 h 822981"/>
                    <a:gd name="csX25" fmla="*/ 179971 w 1028405"/>
                    <a:gd name="csY25" fmla="*/ 475637 h 822981"/>
                    <a:gd name="csX26" fmla="*/ 218536 w 1028405"/>
                    <a:gd name="csY26" fmla="*/ 437072 h 822981"/>
                    <a:gd name="csX27" fmla="*/ 398507 w 1028405"/>
                    <a:gd name="csY27" fmla="*/ 437072 h 822981"/>
                    <a:gd name="csX28" fmla="*/ 578581 w 1028405"/>
                    <a:gd name="csY28" fmla="*/ 462577 h 822981"/>
                    <a:gd name="csX29" fmla="*/ 809869 w 1028405"/>
                    <a:gd name="csY29" fmla="*/ 462577 h 822981"/>
                    <a:gd name="csX30" fmla="*/ 848424 w 1028405"/>
                    <a:gd name="csY30" fmla="*/ 501152 h 822981"/>
                    <a:gd name="csX31" fmla="*/ 815114 w 1028405"/>
                    <a:gd name="csY31" fmla="*/ 539347 h 822981"/>
                    <a:gd name="csX32" fmla="*/ 809869 w 1028405"/>
                    <a:gd name="csY32" fmla="*/ 539707 h 822981"/>
                    <a:gd name="csX33" fmla="*/ 578581 w 1028405"/>
                    <a:gd name="csY33" fmla="*/ 539707 h 822981"/>
                    <a:gd name="csX34" fmla="*/ 540026 w 1028405"/>
                    <a:gd name="csY34" fmla="*/ 501131 h 822981"/>
                    <a:gd name="csX35" fmla="*/ 573336 w 1028405"/>
                    <a:gd name="csY35" fmla="*/ 462937 h 822981"/>
                    <a:gd name="csX36" fmla="*/ 578581 w 1028405"/>
                    <a:gd name="csY36" fmla="*/ 462577 h 822981"/>
                    <a:gd name="csX37" fmla="*/ 809869 w 1028405"/>
                    <a:gd name="csY37" fmla="*/ 462577 h 822981"/>
                    <a:gd name="csX38" fmla="*/ 578581 w 1028405"/>
                    <a:gd name="csY38" fmla="*/ 462577 h 822981"/>
                    <a:gd name="csX39" fmla="*/ 308522 w 1028405"/>
                    <a:gd name="csY39" fmla="*/ 231494 h 822981"/>
                    <a:gd name="csX40" fmla="*/ 385652 w 1028405"/>
                    <a:gd name="csY40" fmla="*/ 308624 h 822981"/>
                    <a:gd name="csX41" fmla="*/ 308522 w 1028405"/>
                    <a:gd name="csY41" fmla="*/ 385755 h 822981"/>
                    <a:gd name="csX42" fmla="*/ 231391 w 1028405"/>
                    <a:gd name="csY42" fmla="*/ 308624 h 822981"/>
                    <a:gd name="csX43" fmla="*/ 308522 w 1028405"/>
                    <a:gd name="csY43" fmla="*/ 231494 h 822981"/>
                    <a:gd name="csX44" fmla="*/ 578581 w 1028405"/>
                    <a:gd name="csY44" fmla="*/ 282811 h 822981"/>
                    <a:gd name="csX45" fmla="*/ 809869 w 1028405"/>
                    <a:gd name="csY45" fmla="*/ 282811 h 822981"/>
                    <a:gd name="csX46" fmla="*/ 848424 w 1028405"/>
                    <a:gd name="csY46" fmla="*/ 321387 h 822981"/>
                    <a:gd name="csX47" fmla="*/ 815114 w 1028405"/>
                    <a:gd name="csY47" fmla="*/ 359582 h 822981"/>
                    <a:gd name="csX48" fmla="*/ 809869 w 1028405"/>
                    <a:gd name="csY48" fmla="*/ 359942 h 822981"/>
                    <a:gd name="csX49" fmla="*/ 578581 w 1028405"/>
                    <a:gd name="csY49" fmla="*/ 359942 h 822981"/>
                    <a:gd name="csX50" fmla="*/ 540026 w 1028405"/>
                    <a:gd name="csY50" fmla="*/ 321366 h 822981"/>
                    <a:gd name="csX51" fmla="*/ 573336 w 1028405"/>
                    <a:gd name="csY51" fmla="*/ 283171 h 822981"/>
                    <a:gd name="csX52" fmla="*/ 578581 w 1028405"/>
                    <a:gd name="csY52" fmla="*/ 282811 h 822981"/>
                    <a:gd name="csX53" fmla="*/ 809869 w 1028405"/>
                    <a:gd name="csY53" fmla="*/ 282811 h 822981"/>
                    <a:gd name="csX54" fmla="*/ 578581 w 1028405"/>
                    <a:gd name="csY54"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398507 w 1028405"/>
                    <a:gd name="csY18" fmla="*/ 437072 h 822981"/>
                    <a:gd name="csX19" fmla="*/ 437072 w 1028405"/>
                    <a:gd name="csY19" fmla="*/ 475637 h 822981"/>
                    <a:gd name="csX20" fmla="*/ 437072 w 1028405"/>
                    <a:gd name="csY20" fmla="*/ 500988 h 822981"/>
                    <a:gd name="csX21" fmla="*/ 308522 w 1028405"/>
                    <a:gd name="csY21" fmla="*/ 591384 h 822981"/>
                    <a:gd name="csX22" fmla="*/ 180382 w 1028405"/>
                    <a:gd name="csY22" fmla="*/ 506541 h 822981"/>
                    <a:gd name="csX23" fmla="*/ 179971 w 1028405"/>
                    <a:gd name="csY23" fmla="*/ 500885 h 822981"/>
                    <a:gd name="csX24" fmla="*/ 179971 w 1028405"/>
                    <a:gd name="csY24" fmla="*/ 475637 h 822981"/>
                    <a:gd name="csX25" fmla="*/ 218536 w 1028405"/>
                    <a:gd name="csY25" fmla="*/ 437072 h 822981"/>
                    <a:gd name="csX26" fmla="*/ 398507 w 1028405"/>
                    <a:gd name="csY26" fmla="*/ 437072 h 822981"/>
                    <a:gd name="csX27" fmla="*/ 578581 w 1028405"/>
                    <a:gd name="csY27" fmla="*/ 462577 h 822981"/>
                    <a:gd name="csX28" fmla="*/ 809869 w 1028405"/>
                    <a:gd name="csY28" fmla="*/ 462577 h 822981"/>
                    <a:gd name="csX29" fmla="*/ 848424 w 1028405"/>
                    <a:gd name="csY29" fmla="*/ 501152 h 822981"/>
                    <a:gd name="csX30" fmla="*/ 815114 w 1028405"/>
                    <a:gd name="csY30" fmla="*/ 539347 h 822981"/>
                    <a:gd name="csX31" fmla="*/ 809869 w 1028405"/>
                    <a:gd name="csY31" fmla="*/ 539707 h 822981"/>
                    <a:gd name="csX32" fmla="*/ 578581 w 1028405"/>
                    <a:gd name="csY32" fmla="*/ 539707 h 822981"/>
                    <a:gd name="csX33" fmla="*/ 540026 w 1028405"/>
                    <a:gd name="csY33" fmla="*/ 501131 h 822981"/>
                    <a:gd name="csX34" fmla="*/ 573336 w 1028405"/>
                    <a:gd name="csY34" fmla="*/ 462937 h 822981"/>
                    <a:gd name="csX35" fmla="*/ 578581 w 1028405"/>
                    <a:gd name="csY35" fmla="*/ 462577 h 822981"/>
                    <a:gd name="csX36" fmla="*/ 809869 w 1028405"/>
                    <a:gd name="csY36" fmla="*/ 462577 h 822981"/>
                    <a:gd name="csX37" fmla="*/ 578581 w 1028405"/>
                    <a:gd name="csY37" fmla="*/ 462577 h 822981"/>
                    <a:gd name="csX38" fmla="*/ 308522 w 1028405"/>
                    <a:gd name="csY38" fmla="*/ 231494 h 822981"/>
                    <a:gd name="csX39" fmla="*/ 385652 w 1028405"/>
                    <a:gd name="csY39" fmla="*/ 308624 h 822981"/>
                    <a:gd name="csX40" fmla="*/ 308522 w 1028405"/>
                    <a:gd name="csY40" fmla="*/ 385755 h 822981"/>
                    <a:gd name="csX41" fmla="*/ 231391 w 1028405"/>
                    <a:gd name="csY41" fmla="*/ 308624 h 822981"/>
                    <a:gd name="csX42" fmla="*/ 308522 w 1028405"/>
                    <a:gd name="csY42" fmla="*/ 231494 h 822981"/>
                    <a:gd name="csX43" fmla="*/ 578581 w 1028405"/>
                    <a:gd name="csY43" fmla="*/ 282811 h 822981"/>
                    <a:gd name="csX44" fmla="*/ 809869 w 1028405"/>
                    <a:gd name="csY44" fmla="*/ 282811 h 822981"/>
                    <a:gd name="csX45" fmla="*/ 848424 w 1028405"/>
                    <a:gd name="csY45" fmla="*/ 321387 h 822981"/>
                    <a:gd name="csX46" fmla="*/ 815114 w 1028405"/>
                    <a:gd name="csY46" fmla="*/ 359582 h 822981"/>
                    <a:gd name="csX47" fmla="*/ 809869 w 1028405"/>
                    <a:gd name="csY47" fmla="*/ 359942 h 822981"/>
                    <a:gd name="csX48" fmla="*/ 578581 w 1028405"/>
                    <a:gd name="csY48" fmla="*/ 359942 h 822981"/>
                    <a:gd name="csX49" fmla="*/ 540026 w 1028405"/>
                    <a:gd name="csY49" fmla="*/ 321366 h 822981"/>
                    <a:gd name="csX50" fmla="*/ 573336 w 1028405"/>
                    <a:gd name="csY50" fmla="*/ 283171 h 822981"/>
                    <a:gd name="csX51" fmla="*/ 578581 w 1028405"/>
                    <a:gd name="csY51" fmla="*/ 282811 h 822981"/>
                    <a:gd name="csX52" fmla="*/ 809869 w 1028405"/>
                    <a:gd name="csY52" fmla="*/ 282811 h 822981"/>
                    <a:gd name="csX53" fmla="*/ 578581 w 1028405"/>
                    <a:gd name="csY53"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398507 w 1028405"/>
                    <a:gd name="csY18" fmla="*/ 437072 h 822981"/>
                    <a:gd name="csX19" fmla="*/ 437072 w 1028405"/>
                    <a:gd name="csY19" fmla="*/ 475637 h 822981"/>
                    <a:gd name="csX20" fmla="*/ 308522 w 1028405"/>
                    <a:gd name="csY20" fmla="*/ 591384 h 822981"/>
                    <a:gd name="csX21" fmla="*/ 180382 w 1028405"/>
                    <a:gd name="csY21" fmla="*/ 506541 h 822981"/>
                    <a:gd name="csX22" fmla="*/ 179971 w 1028405"/>
                    <a:gd name="csY22" fmla="*/ 500885 h 822981"/>
                    <a:gd name="csX23" fmla="*/ 179971 w 1028405"/>
                    <a:gd name="csY23" fmla="*/ 475637 h 822981"/>
                    <a:gd name="csX24" fmla="*/ 218536 w 1028405"/>
                    <a:gd name="csY24" fmla="*/ 437072 h 822981"/>
                    <a:gd name="csX25" fmla="*/ 398507 w 1028405"/>
                    <a:gd name="csY25" fmla="*/ 437072 h 822981"/>
                    <a:gd name="csX26" fmla="*/ 578581 w 1028405"/>
                    <a:gd name="csY26" fmla="*/ 462577 h 822981"/>
                    <a:gd name="csX27" fmla="*/ 809869 w 1028405"/>
                    <a:gd name="csY27" fmla="*/ 462577 h 822981"/>
                    <a:gd name="csX28" fmla="*/ 848424 w 1028405"/>
                    <a:gd name="csY28" fmla="*/ 501152 h 822981"/>
                    <a:gd name="csX29" fmla="*/ 815114 w 1028405"/>
                    <a:gd name="csY29" fmla="*/ 539347 h 822981"/>
                    <a:gd name="csX30" fmla="*/ 809869 w 1028405"/>
                    <a:gd name="csY30" fmla="*/ 539707 h 822981"/>
                    <a:gd name="csX31" fmla="*/ 578581 w 1028405"/>
                    <a:gd name="csY31" fmla="*/ 539707 h 822981"/>
                    <a:gd name="csX32" fmla="*/ 540026 w 1028405"/>
                    <a:gd name="csY32" fmla="*/ 501131 h 822981"/>
                    <a:gd name="csX33" fmla="*/ 573336 w 1028405"/>
                    <a:gd name="csY33" fmla="*/ 462937 h 822981"/>
                    <a:gd name="csX34" fmla="*/ 578581 w 1028405"/>
                    <a:gd name="csY34" fmla="*/ 462577 h 822981"/>
                    <a:gd name="csX35" fmla="*/ 809869 w 1028405"/>
                    <a:gd name="csY35" fmla="*/ 462577 h 822981"/>
                    <a:gd name="csX36" fmla="*/ 578581 w 1028405"/>
                    <a:gd name="csY36" fmla="*/ 462577 h 822981"/>
                    <a:gd name="csX37" fmla="*/ 308522 w 1028405"/>
                    <a:gd name="csY37" fmla="*/ 231494 h 822981"/>
                    <a:gd name="csX38" fmla="*/ 385652 w 1028405"/>
                    <a:gd name="csY38" fmla="*/ 308624 h 822981"/>
                    <a:gd name="csX39" fmla="*/ 308522 w 1028405"/>
                    <a:gd name="csY39" fmla="*/ 385755 h 822981"/>
                    <a:gd name="csX40" fmla="*/ 231391 w 1028405"/>
                    <a:gd name="csY40" fmla="*/ 308624 h 822981"/>
                    <a:gd name="csX41" fmla="*/ 308522 w 1028405"/>
                    <a:gd name="csY41" fmla="*/ 231494 h 822981"/>
                    <a:gd name="csX42" fmla="*/ 578581 w 1028405"/>
                    <a:gd name="csY42" fmla="*/ 282811 h 822981"/>
                    <a:gd name="csX43" fmla="*/ 809869 w 1028405"/>
                    <a:gd name="csY43" fmla="*/ 282811 h 822981"/>
                    <a:gd name="csX44" fmla="*/ 848424 w 1028405"/>
                    <a:gd name="csY44" fmla="*/ 321387 h 822981"/>
                    <a:gd name="csX45" fmla="*/ 815114 w 1028405"/>
                    <a:gd name="csY45" fmla="*/ 359582 h 822981"/>
                    <a:gd name="csX46" fmla="*/ 809869 w 1028405"/>
                    <a:gd name="csY46" fmla="*/ 359942 h 822981"/>
                    <a:gd name="csX47" fmla="*/ 578581 w 1028405"/>
                    <a:gd name="csY47" fmla="*/ 359942 h 822981"/>
                    <a:gd name="csX48" fmla="*/ 540026 w 1028405"/>
                    <a:gd name="csY48" fmla="*/ 321366 h 822981"/>
                    <a:gd name="csX49" fmla="*/ 573336 w 1028405"/>
                    <a:gd name="csY49" fmla="*/ 283171 h 822981"/>
                    <a:gd name="csX50" fmla="*/ 578581 w 1028405"/>
                    <a:gd name="csY50" fmla="*/ 282811 h 822981"/>
                    <a:gd name="csX51" fmla="*/ 809869 w 1028405"/>
                    <a:gd name="csY51" fmla="*/ 282811 h 822981"/>
                    <a:gd name="csX52" fmla="*/ 578581 w 1028405"/>
                    <a:gd name="csY52"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398507 w 1028405"/>
                    <a:gd name="csY18" fmla="*/ 437072 h 822981"/>
                    <a:gd name="csX19" fmla="*/ 308522 w 1028405"/>
                    <a:gd name="csY19" fmla="*/ 591384 h 822981"/>
                    <a:gd name="csX20" fmla="*/ 180382 w 1028405"/>
                    <a:gd name="csY20" fmla="*/ 506541 h 822981"/>
                    <a:gd name="csX21" fmla="*/ 179971 w 1028405"/>
                    <a:gd name="csY21" fmla="*/ 500885 h 822981"/>
                    <a:gd name="csX22" fmla="*/ 179971 w 1028405"/>
                    <a:gd name="csY22" fmla="*/ 475637 h 822981"/>
                    <a:gd name="csX23" fmla="*/ 218536 w 1028405"/>
                    <a:gd name="csY23" fmla="*/ 437072 h 822981"/>
                    <a:gd name="csX24" fmla="*/ 398507 w 1028405"/>
                    <a:gd name="csY24" fmla="*/ 437072 h 822981"/>
                    <a:gd name="csX25" fmla="*/ 578581 w 1028405"/>
                    <a:gd name="csY25" fmla="*/ 462577 h 822981"/>
                    <a:gd name="csX26" fmla="*/ 809869 w 1028405"/>
                    <a:gd name="csY26" fmla="*/ 462577 h 822981"/>
                    <a:gd name="csX27" fmla="*/ 848424 w 1028405"/>
                    <a:gd name="csY27" fmla="*/ 501152 h 822981"/>
                    <a:gd name="csX28" fmla="*/ 815114 w 1028405"/>
                    <a:gd name="csY28" fmla="*/ 539347 h 822981"/>
                    <a:gd name="csX29" fmla="*/ 809869 w 1028405"/>
                    <a:gd name="csY29" fmla="*/ 539707 h 822981"/>
                    <a:gd name="csX30" fmla="*/ 578581 w 1028405"/>
                    <a:gd name="csY30" fmla="*/ 539707 h 822981"/>
                    <a:gd name="csX31" fmla="*/ 540026 w 1028405"/>
                    <a:gd name="csY31" fmla="*/ 501131 h 822981"/>
                    <a:gd name="csX32" fmla="*/ 573336 w 1028405"/>
                    <a:gd name="csY32" fmla="*/ 462937 h 822981"/>
                    <a:gd name="csX33" fmla="*/ 578581 w 1028405"/>
                    <a:gd name="csY33" fmla="*/ 462577 h 822981"/>
                    <a:gd name="csX34" fmla="*/ 809869 w 1028405"/>
                    <a:gd name="csY34" fmla="*/ 462577 h 822981"/>
                    <a:gd name="csX35" fmla="*/ 578581 w 1028405"/>
                    <a:gd name="csY35" fmla="*/ 462577 h 822981"/>
                    <a:gd name="csX36" fmla="*/ 308522 w 1028405"/>
                    <a:gd name="csY36" fmla="*/ 231494 h 822981"/>
                    <a:gd name="csX37" fmla="*/ 385652 w 1028405"/>
                    <a:gd name="csY37" fmla="*/ 308624 h 822981"/>
                    <a:gd name="csX38" fmla="*/ 308522 w 1028405"/>
                    <a:gd name="csY38" fmla="*/ 385755 h 822981"/>
                    <a:gd name="csX39" fmla="*/ 231391 w 1028405"/>
                    <a:gd name="csY39" fmla="*/ 308624 h 822981"/>
                    <a:gd name="csX40" fmla="*/ 308522 w 1028405"/>
                    <a:gd name="csY40" fmla="*/ 231494 h 822981"/>
                    <a:gd name="csX41" fmla="*/ 578581 w 1028405"/>
                    <a:gd name="csY41" fmla="*/ 282811 h 822981"/>
                    <a:gd name="csX42" fmla="*/ 809869 w 1028405"/>
                    <a:gd name="csY42" fmla="*/ 282811 h 822981"/>
                    <a:gd name="csX43" fmla="*/ 848424 w 1028405"/>
                    <a:gd name="csY43" fmla="*/ 321387 h 822981"/>
                    <a:gd name="csX44" fmla="*/ 815114 w 1028405"/>
                    <a:gd name="csY44" fmla="*/ 359582 h 822981"/>
                    <a:gd name="csX45" fmla="*/ 809869 w 1028405"/>
                    <a:gd name="csY45" fmla="*/ 359942 h 822981"/>
                    <a:gd name="csX46" fmla="*/ 578581 w 1028405"/>
                    <a:gd name="csY46" fmla="*/ 359942 h 822981"/>
                    <a:gd name="csX47" fmla="*/ 540026 w 1028405"/>
                    <a:gd name="csY47" fmla="*/ 321366 h 822981"/>
                    <a:gd name="csX48" fmla="*/ 573336 w 1028405"/>
                    <a:gd name="csY48" fmla="*/ 283171 h 822981"/>
                    <a:gd name="csX49" fmla="*/ 578581 w 1028405"/>
                    <a:gd name="csY49" fmla="*/ 282811 h 822981"/>
                    <a:gd name="csX50" fmla="*/ 809869 w 1028405"/>
                    <a:gd name="csY50" fmla="*/ 282811 h 822981"/>
                    <a:gd name="csX51" fmla="*/ 578581 w 1028405"/>
                    <a:gd name="csY51"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218536 w 1028405"/>
                    <a:gd name="csY18" fmla="*/ 437072 h 822981"/>
                    <a:gd name="csX19" fmla="*/ 308522 w 1028405"/>
                    <a:gd name="csY19" fmla="*/ 591384 h 822981"/>
                    <a:gd name="csX20" fmla="*/ 180382 w 1028405"/>
                    <a:gd name="csY20" fmla="*/ 506541 h 822981"/>
                    <a:gd name="csX21" fmla="*/ 179971 w 1028405"/>
                    <a:gd name="csY21" fmla="*/ 500885 h 822981"/>
                    <a:gd name="csX22" fmla="*/ 179971 w 1028405"/>
                    <a:gd name="csY22" fmla="*/ 475637 h 822981"/>
                    <a:gd name="csX23" fmla="*/ 218536 w 1028405"/>
                    <a:gd name="csY23" fmla="*/ 437072 h 822981"/>
                    <a:gd name="csX24" fmla="*/ 578581 w 1028405"/>
                    <a:gd name="csY24" fmla="*/ 462577 h 822981"/>
                    <a:gd name="csX25" fmla="*/ 809869 w 1028405"/>
                    <a:gd name="csY25" fmla="*/ 462577 h 822981"/>
                    <a:gd name="csX26" fmla="*/ 848424 w 1028405"/>
                    <a:gd name="csY26" fmla="*/ 501152 h 822981"/>
                    <a:gd name="csX27" fmla="*/ 815114 w 1028405"/>
                    <a:gd name="csY27" fmla="*/ 539347 h 822981"/>
                    <a:gd name="csX28" fmla="*/ 809869 w 1028405"/>
                    <a:gd name="csY28" fmla="*/ 539707 h 822981"/>
                    <a:gd name="csX29" fmla="*/ 578581 w 1028405"/>
                    <a:gd name="csY29" fmla="*/ 539707 h 822981"/>
                    <a:gd name="csX30" fmla="*/ 540026 w 1028405"/>
                    <a:gd name="csY30" fmla="*/ 501131 h 822981"/>
                    <a:gd name="csX31" fmla="*/ 573336 w 1028405"/>
                    <a:gd name="csY31" fmla="*/ 462937 h 822981"/>
                    <a:gd name="csX32" fmla="*/ 578581 w 1028405"/>
                    <a:gd name="csY32" fmla="*/ 462577 h 822981"/>
                    <a:gd name="csX33" fmla="*/ 809869 w 1028405"/>
                    <a:gd name="csY33" fmla="*/ 462577 h 822981"/>
                    <a:gd name="csX34" fmla="*/ 578581 w 1028405"/>
                    <a:gd name="csY34" fmla="*/ 462577 h 822981"/>
                    <a:gd name="csX35" fmla="*/ 308522 w 1028405"/>
                    <a:gd name="csY35" fmla="*/ 231494 h 822981"/>
                    <a:gd name="csX36" fmla="*/ 385652 w 1028405"/>
                    <a:gd name="csY36" fmla="*/ 308624 h 822981"/>
                    <a:gd name="csX37" fmla="*/ 308522 w 1028405"/>
                    <a:gd name="csY37" fmla="*/ 385755 h 822981"/>
                    <a:gd name="csX38" fmla="*/ 231391 w 1028405"/>
                    <a:gd name="csY38" fmla="*/ 308624 h 822981"/>
                    <a:gd name="csX39" fmla="*/ 308522 w 1028405"/>
                    <a:gd name="csY39" fmla="*/ 231494 h 822981"/>
                    <a:gd name="csX40" fmla="*/ 578581 w 1028405"/>
                    <a:gd name="csY40" fmla="*/ 282811 h 822981"/>
                    <a:gd name="csX41" fmla="*/ 809869 w 1028405"/>
                    <a:gd name="csY41" fmla="*/ 282811 h 822981"/>
                    <a:gd name="csX42" fmla="*/ 848424 w 1028405"/>
                    <a:gd name="csY42" fmla="*/ 321387 h 822981"/>
                    <a:gd name="csX43" fmla="*/ 815114 w 1028405"/>
                    <a:gd name="csY43" fmla="*/ 359582 h 822981"/>
                    <a:gd name="csX44" fmla="*/ 809869 w 1028405"/>
                    <a:gd name="csY44" fmla="*/ 359942 h 822981"/>
                    <a:gd name="csX45" fmla="*/ 578581 w 1028405"/>
                    <a:gd name="csY45" fmla="*/ 359942 h 822981"/>
                    <a:gd name="csX46" fmla="*/ 540026 w 1028405"/>
                    <a:gd name="csY46" fmla="*/ 321366 h 822981"/>
                    <a:gd name="csX47" fmla="*/ 573336 w 1028405"/>
                    <a:gd name="csY47" fmla="*/ 283171 h 822981"/>
                    <a:gd name="csX48" fmla="*/ 578581 w 1028405"/>
                    <a:gd name="csY48" fmla="*/ 282811 h 822981"/>
                    <a:gd name="csX49" fmla="*/ 809869 w 1028405"/>
                    <a:gd name="csY49" fmla="*/ 282811 h 822981"/>
                    <a:gd name="csX50" fmla="*/ 578581 w 1028405"/>
                    <a:gd name="csY50"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218536 w 1028405"/>
                    <a:gd name="csY18" fmla="*/ 437072 h 822981"/>
                    <a:gd name="csX19" fmla="*/ 308522 w 1028405"/>
                    <a:gd name="csY19" fmla="*/ 591384 h 822981"/>
                    <a:gd name="csX20" fmla="*/ 180382 w 1028405"/>
                    <a:gd name="csY20" fmla="*/ 506541 h 822981"/>
                    <a:gd name="csX21" fmla="*/ 179971 w 1028405"/>
                    <a:gd name="csY21" fmla="*/ 500885 h 822981"/>
                    <a:gd name="csX22" fmla="*/ 179971 w 1028405"/>
                    <a:gd name="csY22" fmla="*/ 475637 h 822981"/>
                    <a:gd name="csX23" fmla="*/ 218536 w 1028405"/>
                    <a:gd name="csY23" fmla="*/ 437072 h 822981"/>
                    <a:gd name="csX24" fmla="*/ 578581 w 1028405"/>
                    <a:gd name="csY24" fmla="*/ 462577 h 822981"/>
                    <a:gd name="csX25" fmla="*/ 809869 w 1028405"/>
                    <a:gd name="csY25" fmla="*/ 462577 h 822981"/>
                    <a:gd name="csX26" fmla="*/ 848424 w 1028405"/>
                    <a:gd name="csY26" fmla="*/ 501152 h 822981"/>
                    <a:gd name="csX27" fmla="*/ 815114 w 1028405"/>
                    <a:gd name="csY27" fmla="*/ 539347 h 822981"/>
                    <a:gd name="csX28" fmla="*/ 809869 w 1028405"/>
                    <a:gd name="csY28" fmla="*/ 539707 h 822981"/>
                    <a:gd name="csX29" fmla="*/ 578581 w 1028405"/>
                    <a:gd name="csY29" fmla="*/ 539707 h 822981"/>
                    <a:gd name="csX30" fmla="*/ 540026 w 1028405"/>
                    <a:gd name="csY30" fmla="*/ 501131 h 822981"/>
                    <a:gd name="csX31" fmla="*/ 573336 w 1028405"/>
                    <a:gd name="csY31" fmla="*/ 462937 h 822981"/>
                    <a:gd name="csX32" fmla="*/ 578581 w 1028405"/>
                    <a:gd name="csY32" fmla="*/ 462577 h 822981"/>
                    <a:gd name="csX33" fmla="*/ 809869 w 1028405"/>
                    <a:gd name="csY33" fmla="*/ 462577 h 822981"/>
                    <a:gd name="csX34" fmla="*/ 578581 w 1028405"/>
                    <a:gd name="csY34" fmla="*/ 462577 h 822981"/>
                    <a:gd name="csX35" fmla="*/ 308522 w 1028405"/>
                    <a:gd name="csY35" fmla="*/ 231494 h 822981"/>
                    <a:gd name="csX36" fmla="*/ 308522 w 1028405"/>
                    <a:gd name="csY36" fmla="*/ 385755 h 822981"/>
                    <a:gd name="csX37" fmla="*/ 231391 w 1028405"/>
                    <a:gd name="csY37" fmla="*/ 308624 h 822981"/>
                    <a:gd name="csX38" fmla="*/ 308522 w 1028405"/>
                    <a:gd name="csY38" fmla="*/ 231494 h 822981"/>
                    <a:gd name="csX39" fmla="*/ 578581 w 1028405"/>
                    <a:gd name="csY39" fmla="*/ 282811 h 822981"/>
                    <a:gd name="csX40" fmla="*/ 809869 w 1028405"/>
                    <a:gd name="csY40" fmla="*/ 282811 h 822981"/>
                    <a:gd name="csX41" fmla="*/ 848424 w 1028405"/>
                    <a:gd name="csY41" fmla="*/ 321387 h 822981"/>
                    <a:gd name="csX42" fmla="*/ 815114 w 1028405"/>
                    <a:gd name="csY42" fmla="*/ 359582 h 822981"/>
                    <a:gd name="csX43" fmla="*/ 809869 w 1028405"/>
                    <a:gd name="csY43" fmla="*/ 359942 h 822981"/>
                    <a:gd name="csX44" fmla="*/ 578581 w 1028405"/>
                    <a:gd name="csY44" fmla="*/ 359942 h 822981"/>
                    <a:gd name="csX45" fmla="*/ 540026 w 1028405"/>
                    <a:gd name="csY45" fmla="*/ 321366 h 822981"/>
                    <a:gd name="csX46" fmla="*/ 573336 w 1028405"/>
                    <a:gd name="csY46" fmla="*/ 283171 h 822981"/>
                    <a:gd name="csX47" fmla="*/ 578581 w 1028405"/>
                    <a:gd name="csY47" fmla="*/ 282811 h 822981"/>
                    <a:gd name="csX48" fmla="*/ 809869 w 1028405"/>
                    <a:gd name="csY48" fmla="*/ 282811 h 822981"/>
                    <a:gd name="csX49" fmla="*/ 578581 w 1028405"/>
                    <a:gd name="csY49"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179971 w 1028405"/>
                    <a:gd name="csY18" fmla="*/ 475637 h 822981"/>
                    <a:gd name="csX19" fmla="*/ 308522 w 1028405"/>
                    <a:gd name="csY19" fmla="*/ 591384 h 822981"/>
                    <a:gd name="csX20" fmla="*/ 180382 w 1028405"/>
                    <a:gd name="csY20" fmla="*/ 506541 h 822981"/>
                    <a:gd name="csX21" fmla="*/ 179971 w 1028405"/>
                    <a:gd name="csY21" fmla="*/ 500885 h 822981"/>
                    <a:gd name="csX22" fmla="*/ 179971 w 1028405"/>
                    <a:gd name="csY22" fmla="*/ 475637 h 822981"/>
                    <a:gd name="csX23" fmla="*/ 578581 w 1028405"/>
                    <a:gd name="csY23" fmla="*/ 462577 h 822981"/>
                    <a:gd name="csX24" fmla="*/ 809869 w 1028405"/>
                    <a:gd name="csY24" fmla="*/ 462577 h 822981"/>
                    <a:gd name="csX25" fmla="*/ 848424 w 1028405"/>
                    <a:gd name="csY25" fmla="*/ 501152 h 822981"/>
                    <a:gd name="csX26" fmla="*/ 815114 w 1028405"/>
                    <a:gd name="csY26" fmla="*/ 539347 h 822981"/>
                    <a:gd name="csX27" fmla="*/ 809869 w 1028405"/>
                    <a:gd name="csY27" fmla="*/ 539707 h 822981"/>
                    <a:gd name="csX28" fmla="*/ 578581 w 1028405"/>
                    <a:gd name="csY28" fmla="*/ 539707 h 822981"/>
                    <a:gd name="csX29" fmla="*/ 540026 w 1028405"/>
                    <a:gd name="csY29" fmla="*/ 501131 h 822981"/>
                    <a:gd name="csX30" fmla="*/ 573336 w 1028405"/>
                    <a:gd name="csY30" fmla="*/ 462937 h 822981"/>
                    <a:gd name="csX31" fmla="*/ 578581 w 1028405"/>
                    <a:gd name="csY31" fmla="*/ 462577 h 822981"/>
                    <a:gd name="csX32" fmla="*/ 809869 w 1028405"/>
                    <a:gd name="csY32" fmla="*/ 462577 h 822981"/>
                    <a:gd name="csX33" fmla="*/ 578581 w 1028405"/>
                    <a:gd name="csY33" fmla="*/ 462577 h 822981"/>
                    <a:gd name="csX34" fmla="*/ 308522 w 1028405"/>
                    <a:gd name="csY34" fmla="*/ 231494 h 822981"/>
                    <a:gd name="csX35" fmla="*/ 308522 w 1028405"/>
                    <a:gd name="csY35" fmla="*/ 385755 h 822981"/>
                    <a:gd name="csX36" fmla="*/ 231391 w 1028405"/>
                    <a:gd name="csY36" fmla="*/ 308624 h 822981"/>
                    <a:gd name="csX37" fmla="*/ 308522 w 1028405"/>
                    <a:gd name="csY37" fmla="*/ 231494 h 822981"/>
                    <a:gd name="csX38" fmla="*/ 578581 w 1028405"/>
                    <a:gd name="csY38" fmla="*/ 282811 h 822981"/>
                    <a:gd name="csX39" fmla="*/ 809869 w 1028405"/>
                    <a:gd name="csY39" fmla="*/ 282811 h 822981"/>
                    <a:gd name="csX40" fmla="*/ 848424 w 1028405"/>
                    <a:gd name="csY40" fmla="*/ 321387 h 822981"/>
                    <a:gd name="csX41" fmla="*/ 815114 w 1028405"/>
                    <a:gd name="csY41" fmla="*/ 359582 h 822981"/>
                    <a:gd name="csX42" fmla="*/ 809869 w 1028405"/>
                    <a:gd name="csY42" fmla="*/ 359942 h 822981"/>
                    <a:gd name="csX43" fmla="*/ 578581 w 1028405"/>
                    <a:gd name="csY43" fmla="*/ 359942 h 822981"/>
                    <a:gd name="csX44" fmla="*/ 540026 w 1028405"/>
                    <a:gd name="csY44" fmla="*/ 321366 h 822981"/>
                    <a:gd name="csX45" fmla="*/ 573336 w 1028405"/>
                    <a:gd name="csY45" fmla="*/ 283171 h 822981"/>
                    <a:gd name="csX46" fmla="*/ 578581 w 1028405"/>
                    <a:gd name="csY46" fmla="*/ 282811 h 822981"/>
                    <a:gd name="csX47" fmla="*/ 809869 w 1028405"/>
                    <a:gd name="csY47" fmla="*/ 282811 h 822981"/>
                    <a:gd name="csX48" fmla="*/ 578581 w 1028405"/>
                    <a:gd name="csY48"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179971 w 1028405"/>
                    <a:gd name="csY18" fmla="*/ 500885 h 822981"/>
                    <a:gd name="csX19" fmla="*/ 308522 w 1028405"/>
                    <a:gd name="csY19" fmla="*/ 591384 h 822981"/>
                    <a:gd name="csX20" fmla="*/ 180382 w 1028405"/>
                    <a:gd name="csY20" fmla="*/ 506541 h 822981"/>
                    <a:gd name="csX21" fmla="*/ 179971 w 1028405"/>
                    <a:gd name="csY21" fmla="*/ 500885 h 822981"/>
                    <a:gd name="csX22" fmla="*/ 578581 w 1028405"/>
                    <a:gd name="csY22" fmla="*/ 462577 h 822981"/>
                    <a:gd name="csX23" fmla="*/ 809869 w 1028405"/>
                    <a:gd name="csY23" fmla="*/ 462577 h 822981"/>
                    <a:gd name="csX24" fmla="*/ 848424 w 1028405"/>
                    <a:gd name="csY24" fmla="*/ 501152 h 822981"/>
                    <a:gd name="csX25" fmla="*/ 815114 w 1028405"/>
                    <a:gd name="csY25" fmla="*/ 539347 h 822981"/>
                    <a:gd name="csX26" fmla="*/ 809869 w 1028405"/>
                    <a:gd name="csY26" fmla="*/ 539707 h 822981"/>
                    <a:gd name="csX27" fmla="*/ 578581 w 1028405"/>
                    <a:gd name="csY27" fmla="*/ 539707 h 822981"/>
                    <a:gd name="csX28" fmla="*/ 540026 w 1028405"/>
                    <a:gd name="csY28" fmla="*/ 501131 h 822981"/>
                    <a:gd name="csX29" fmla="*/ 573336 w 1028405"/>
                    <a:gd name="csY29" fmla="*/ 462937 h 822981"/>
                    <a:gd name="csX30" fmla="*/ 578581 w 1028405"/>
                    <a:gd name="csY30" fmla="*/ 462577 h 822981"/>
                    <a:gd name="csX31" fmla="*/ 809869 w 1028405"/>
                    <a:gd name="csY31" fmla="*/ 462577 h 822981"/>
                    <a:gd name="csX32" fmla="*/ 578581 w 1028405"/>
                    <a:gd name="csY32" fmla="*/ 462577 h 822981"/>
                    <a:gd name="csX33" fmla="*/ 308522 w 1028405"/>
                    <a:gd name="csY33" fmla="*/ 231494 h 822981"/>
                    <a:gd name="csX34" fmla="*/ 308522 w 1028405"/>
                    <a:gd name="csY34" fmla="*/ 385755 h 822981"/>
                    <a:gd name="csX35" fmla="*/ 231391 w 1028405"/>
                    <a:gd name="csY35" fmla="*/ 308624 h 822981"/>
                    <a:gd name="csX36" fmla="*/ 308522 w 1028405"/>
                    <a:gd name="csY36" fmla="*/ 231494 h 822981"/>
                    <a:gd name="csX37" fmla="*/ 578581 w 1028405"/>
                    <a:gd name="csY37" fmla="*/ 282811 h 822981"/>
                    <a:gd name="csX38" fmla="*/ 809869 w 1028405"/>
                    <a:gd name="csY38" fmla="*/ 282811 h 822981"/>
                    <a:gd name="csX39" fmla="*/ 848424 w 1028405"/>
                    <a:gd name="csY39" fmla="*/ 321387 h 822981"/>
                    <a:gd name="csX40" fmla="*/ 815114 w 1028405"/>
                    <a:gd name="csY40" fmla="*/ 359582 h 822981"/>
                    <a:gd name="csX41" fmla="*/ 809869 w 1028405"/>
                    <a:gd name="csY41" fmla="*/ 359942 h 822981"/>
                    <a:gd name="csX42" fmla="*/ 578581 w 1028405"/>
                    <a:gd name="csY42" fmla="*/ 359942 h 822981"/>
                    <a:gd name="csX43" fmla="*/ 540026 w 1028405"/>
                    <a:gd name="csY43" fmla="*/ 321366 h 822981"/>
                    <a:gd name="csX44" fmla="*/ 573336 w 1028405"/>
                    <a:gd name="csY44" fmla="*/ 283171 h 822981"/>
                    <a:gd name="csX45" fmla="*/ 578581 w 1028405"/>
                    <a:gd name="csY45" fmla="*/ 282811 h 822981"/>
                    <a:gd name="csX46" fmla="*/ 809869 w 1028405"/>
                    <a:gd name="csY46" fmla="*/ 282811 h 822981"/>
                    <a:gd name="csX47" fmla="*/ 578581 w 1028405"/>
                    <a:gd name="csY47"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180382 w 1028405"/>
                    <a:gd name="csY18" fmla="*/ 506541 h 822981"/>
                    <a:gd name="csX19" fmla="*/ 308522 w 1028405"/>
                    <a:gd name="csY19" fmla="*/ 591384 h 822981"/>
                    <a:gd name="csX20" fmla="*/ 180382 w 1028405"/>
                    <a:gd name="csY20" fmla="*/ 506541 h 822981"/>
                    <a:gd name="csX21" fmla="*/ 578581 w 1028405"/>
                    <a:gd name="csY21" fmla="*/ 462577 h 822981"/>
                    <a:gd name="csX22" fmla="*/ 809869 w 1028405"/>
                    <a:gd name="csY22" fmla="*/ 462577 h 822981"/>
                    <a:gd name="csX23" fmla="*/ 848424 w 1028405"/>
                    <a:gd name="csY23" fmla="*/ 501152 h 822981"/>
                    <a:gd name="csX24" fmla="*/ 815114 w 1028405"/>
                    <a:gd name="csY24" fmla="*/ 539347 h 822981"/>
                    <a:gd name="csX25" fmla="*/ 809869 w 1028405"/>
                    <a:gd name="csY25" fmla="*/ 539707 h 822981"/>
                    <a:gd name="csX26" fmla="*/ 578581 w 1028405"/>
                    <a:gd name="csY26" fmla="*/ 539707 h 822981"/>
                    <a:gd name="csX27" fmla="*/ 540026 w 1028405"/>
                    <a:gd name="csY27" fmla="*/ 501131 h 822981"/>
                    <a:gd name="csX28" fmla="*/ 573336 w 1028405"/>
                    <a:gd name="csY28" fmla="*/ 462937 h 822981"/>
                    <a:gd name="csX29" fmla="*/ 578581 w 1028405"/>
                    <a:gd name="csY29" fmla="*/ 462577 h 822981"/>
                    <a:gd name="csX30" fmla="*/ 809869 w 1028405"/>
                    <a:gd name="csY30" fmla="*/ 462577 h 822981"/>
                    <a:gd name="csX31" fmla="*/ 578581 w 1028405"/>
                    <a:gd name="csY31" fmla="*/ 462577 h 822981"/>
                    <a:gd name="csX32" fmla="*/ 308522 w 1028405"/>
                    <a:gd name="csY32" fmla="*/ 231494 h 822981"/>
                    <a:gd name="csX33" fmla="*/ 308522 w 1028405"/>
                    <a:gd name="csY33" fmla="*/ 385755 h 822981"/>
                    <a:gd name="csX34" fmla="*/ 231391 w 1028405"/>
                    <a:gd name="csY34" fmla="*/ 308624 h 822981"/>
                    <a:gd name="csX35" fmla="*/ 308522 w 1028405"/>
                    <a:gd name="csY35" fmla="*/ 231494 h 822981"/>
                    <a:gd name="csX36" fmla="*/ 578581 w 1028405"/>
                    <a:gd name="csY36" fmla="*/ 282811 h 822981"/>
                    <a:gd name="csX37" fmla="*/ 809869 w 1028405"/>
                    <a:gd name="csY37" fmla="*/ 282811 h 822981"/>
                    <a:gd name="csX38" fmla="*/ 848424 w 1028405"/>
                    <a:gd name="csY38" fmla="*/ 321387 h 822981"/>
                    <a:gd name="csX39" fmla="*/ 815114 w 1028405"/>
                    <a:gd name="csY39" fmla="*/ 359582 h 822981"/>
                    <a:gd name="csX40" fmla="*/ 809869 w 1028405"/>
                    <a:gd name="csY40" fmla="*/ 359942 h 822981"/>
                    <a:gd name="csX41" fmla="*/ 578581 w 1028405"/>
                    <a:gd name="csY41" fmla="*/ 359942 h 822981"/>
                    <a:gd name="csX42" fmla="*/ 540026 w 1028405"/>
                    <a:gd name="csY42" fmla="*/ 321366 h 822981"/>
                    <a:gd name="csX43" fmla="*/ 573336 w 1028405"/>
                    <a:gd name="csY43" fmla="*/ 283171 h 822981"/>
                    <a:gd name="csX44" fmla="*/ 578581 w 1028405"/>
                    <a:gd name="csY44" fmla="*/ 282811 h 822981"/>
                    <a:gd name="csX45" fmla="*/ 809869 w 1028405"/>
                    <a:gd name="csY45" fmla="*/ 282811 h 822981"/>
                    <a:gd name="csX46" fmla="*/ 578581 w 1028405"/>
                    <a:gd name="csY46"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578581 w 1028405"/>
                    <a:gd name="csY18" fmla="*/ 462577 h 822981"/>
                    <a:gd name="csX19" fmla="*/ 809869 w 1028405"/>
                    <a:gd name="csY19" fmla="*/ 462577 h 822981"/>
                    <a:gd name="csX20" fmla="*/ 848424 w 1028405"/>
                    <a:gd name="csY20" fmla="*/ 501152 h 822981"/>
                    <a:gd name="csX21" fmla="*/ 815114 w 1028405"/>
                    <a:gd name="csY21" fmla="*/ 539347 h 822981"/>
                    <a:gd name="csX22" fmla="*/ 809869 w 1028405"/>
                    <a:gd name="csY22" fmla="*/ 539707 h 822981"/>
                    <a:gd name="csX23" fmla="*/ 578581 w 1028405"/>
                    <a:gd name="csY23" fmla="*/ 539707 h 822981"/>
                    <a:gd name="csX24" fmla="*/ 540026 w 1028405"/>
                    <a:gd name="csY24" fmla="*/ 501131 h 822981"/>
                    <a:gd name="csX25" fmla="*/ 573336 w 1028405"/>
                    <a:gd name="csY25" fmla="*/ 462937 h 822981"/>
                    <a:gd name="csX26" fmla="*/ 578581 w 1028405"/>
                    <a:gd name="csY26" fmla="*/ 462577 h 822981"/>
                    <a:gd name="csX27" fmla="*/ 809869 w 1028405"/>
                    <a:gd name="csY27" fmla="*/ 462577 h 822981"/>
                    <a:gd name="csX28" fmla="*/ 578581 w 1028405"/>
                    <a:gd name="csY28" fmla="*/ 462577 h 822981"/>
                    <a:gd name="csX29" fmla="*/ 308522 w 1028405"/>
                    <a:gd name="csY29" fmla="*/ 231494 h 822981"/>
                    <a:gd name="csX30" fmla="*/ 308522 w 1028405"/>
                    <a:gd name="csY30" fmla="*/ 385755 h 822981"/>
                    <a:gd name="csX31" fmla="*/ 231391 w 1028405"/>
                    <a:gd name="csY31" fmla="*/ 308624 h 822981"/>
                    <a:gd name="csX32" fmla="*/ 308522 w 1028405"/>
                    <a:gd name="csY32" fmla="*/ 231494 h 822981"/>
                    <a:gd name="csX33" fmla="*/ 578581 w 1028405"/>
                    <a:gd name="csY33" fmla="*/ 282811 h 822981"/>
                    <a:gd name="csX34" fmla="*/ 809869 w 1028405"/>
                    <a:gd name="csY34" fmla="*/ 282811 h 822981"/>
                    <a:gd name="csX35" fmla="*/ 848424 w 1028405"/>
                    <a:gd name="csY35" fmla="*/ 321387 h 822981"/>
                    <a:gd name="csX36" fmla="*/ 815114 w 1028405"/>
                    <a:gd name="csY36" fmla="*/ 359582 h 822981"/>
                    <a:gd name="csX37" fmla="*/ 809869 w 1028405"/>
                    <a:gd name="csY37" fmla="*/ 359942 h 822981"/>
                    <a:gd name="csX38" fmla="*/ 578581 w 1028405"/>
                    <a:gd name="csY38" fmla="*/ 359942 h 822981"/>
                    <a:gd name="csX39" fmla="*/ 540026 w 1028405"/>
                    <a:gd name="csY39" fmla="*/ 321366 h 822981"/>
                    <a:gd name="csX40" fmla="*/ 573336 w 1028405"/>
                    <a:gd name="csY40" fmla="*/ 283171 h 822981"/>
                    <a:gd name="csX41" fmla="*/ 578581 w 1028405"/>
                    <a:gd name="csY41" fmla="*/ 282811 h 822981"/>
                    <a:gd name="csX42" fmla="*/ 809869 w 1028405"/>
                    <a:gd name="csY42" fmla="*/ 282811 h 822981"/>
                    <a:gd name="csX43" fmla="*/ 578581 w 1028405"/>
                    <a:gd name="csY43"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578581 w 1028405"/>
                    <a:gd name="csY18" fmla="*/ 462577 h 822981"/>
                    <a:gd name="csX19" fmla="*/ 809869 w 1028405"/>
                    <a:gd name="csY19" fmla="*/ 462577 h 822981"/>
                    <a:gd name="csX20" fmla="*/ 848424 w 1028405"/>
                    <a:gd name="csY20" fmla="*/ 501152 h 822981"/>
                    <a:gd name="csX21" fmla="*/ 815114 w 1028405"/>
                    <a:gd name="csY21" fmla="*/ 539347 h 822981"/>
                    <a:gd name="csX22" fmla="*/ 809869 w 1028405"/>
                    <a:gd name="csY22" fmla="*/ 539707 h 822981"/>
                    <a:gd name="csX23" fmla="*/ 578581 w 1028405"/>
                    <a:gd name="csY23" fmla="*/ 539707 h 822981"/>
                    <a:gd name="csX24" fmla="*/ 540026 w 1028405"/>
                    <a:gd name="csY24" fmla="*/ 501131 h 822981"/>
                    <a:gd name="csX25" fmla="*/ 573336 w 1028405"/>
                    <a:gd name="csY25" fmla="*/ 462937 h 822981"/>
                    <a:gd name="csX26" fmla="*/ 578581 w 1028405"/>
                    <a:gd name="csY26" fmla="*/ 462577 h 822981"/>
                    <a:gd name="csX27" fmla="*/ 809869 w 1028405"/>
                    <a:gd name="csY27" fmla="*/ 462577 h 822981"/>
                    <a:gd name="csX28" fmla="*/ 578581 w 1028405"/>
                    <a:gd name="csY28" fmla="*/ 462577 h 822981"/>
                    <a:gd name="csX29" fmla="*/ 308522 w 1028405"/>
                    <a:gd name="csY29" fmla="*/ 231494 h 822981"/>
                    <a:gd name="csX30" fmla="*/ 231391 w 1028405"/>
                    <a:gd name="csY30" fmla="*/ 308624 h 822981"/>
                    <a:gd name="csX31" fmla="*/ 308522 w 1028405"/>
                    <a:gd name="csY31" fmla="*/ 231494 h 822981"/>
                    <a:gd name="csX32" fmla="*/ 578581 w 1028405"/>
                    <a:gd name="csY32" fmla="*/ 282811 h 822981"/>
                    <a:gd name="csX33" fmla="*/ 809869 w 1028405"/>
                    <a:gd name="csY33" fmla="*/ 282811 h 822981"/>
                    <a:gd name="csX34" fmla="*/ 848424 w 1028405"/>
                    <a:gd name="csY34" fmla="*/ 321387 h 822981"/>
                    <a:gd name="csX35" fmla="*/ 815114 w 1028405"/>
                    <a:gd name="csY35" fmla="*/ 359582 h 822981"/>
                    <a:gd name="csX36" fmla="*/ 809869 w 1028405"/>
                    <a:gd name="csY36" fmla="*/ 359942 h 822981"/>
                    <a:gd name="csX37" fmla="*/ 578581 w 1028405"/>
                    <a:gd name="csY37" fmla="*/ 359942 h 822981"/>
                    <a:gd name="csX38" fmla="*/ 540026 w 1028405"/>
                    <a:gd name="csY38" fmla="*/ 321366 h 822981"/>
                    <a:gd name="csX39" fmla="*/ 573336 w 1028405"/>
                    <a:gd name="csY39" fmla="*/ 283171 h 822981"/>
                    <a:gd name="csX40" fmla="*/ 578581 w 1028405"/>
                    <a:gd name="csY40" fmla="*/ 282811 h 822981"/>
                    <a:gd name="csX41" fmla="*/ 809869 w 1028405"/>
                    <a:gd name="csY41" fmla="*/ 282811 h 822981"/>
                    <a:gd name="csX42" fmla="*/ 578581 w 1028405"/>
                    <a:gd name="csY42"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578581 w 1028405"/>
                    <a:gd name="csY18" fmla="*/ 462577 h 822981"/>
                    <a:gd name="csX19" fmla="*/ 809869 w 1028405"/>
                    <a:gd name="csY19" fmla="*/ 462577 h 822981"/>
                    <a:gd name="csX20" fmla="*/ 848424 w 1028405"/>
                    <a:gd name="csY20" fmla="*/ 501152 h 822981"/>
                    <a:gd name="csX21" fmla="*/ 815114 w 1028405"/>
                    <a:gd name="csY21" fmla="*/ 539347 h 822981"/>
                    <a:gd name="csX22" fmla="*/ 809869 w 1028405"/>
                    <a:gd name="csY22" fmla="*/ 539707 h 822981"/>
                    <a:gd name="csX23" fmla="*/ 578581 w 1028405"/>
                    <a:gd name="csY23" fmla="*/ 539707 h 822981"/>
                    <a:gd name="csX24" fmla="*/ 540026 w 1028405"/>
                    <a:gd name="csY24" fmla="*/ 501131 h 822981"/>
                    <a:gd name="csX25" fmla="*/ 573336 w 1028405"/>
                    <a:gd name="csY25" fmla="*/ 462937 h 822981"/>
                    <a:gd name="csX26" fmla="*/ 578581 w 1028405"/>
                    <a:gd name="csY26" fmla="*/ 462577 h 822981"/>
                    <a:gd name="csX27" fmla="*/ 809869 w 1028405"/>
                    <a:gd name="csY27" fmla="*/ 462577 h 822981"/>
                    <a:gd name="csX28" fmla="*/ 578581 w 1028405"/>
                    <a:gd name="csY28" fmla="*/ 462577 h 822981"/>
                    <a:gd name="csX29" fmla="*/ 578581 w 1028405"/>
                    <a:gd name="csY29" fmla="*/ 282811 h 822981"/>
                    <a:gd name="csX30" fmla="*/ 809869 w 1028405"/>
                    <a:gd name="csY30" fmla="*/ 282811 h 822981"/>
                    <a:gd name="csX31" fmla="*/ 848424 w 1028405"/>
                    <a:gd name="csY31" fmla="*/ 321387 h 822981"/>
                    <a:gd name="csX32" fmla="*/ 815114 w 1028405"/>
                    <a:gd name="csY32" fmla="*/ 359582 h 822981"/>
                    <a:gd name="csX33" fmla="*/ 809869 w 1028405"/>
                    <a:gd name="csY33" fmla="*/ 359942 h 822981"/>
                    <a:gd name="csX34" fmla="*/ 578581 w 1028405"/>
                    <a:gd name="csY34" fmla="*/ 359942 h 822981"/>
                    <a:gd name="csX35" fmla="*/ 540026 w 1028405"/>
                    <a:gd name="csY35" fmla="*/ 321366 h 822981"/>
                    <a:gd name="csX36" fmla="*/ 573336 w 1028405"/>
                    <a:gd name="csY36" fmla="*/ 283171 h 822981"/>
                    <a:gd name="csX37" fmla="*/ 578581 w 1028405"/>
                    <a:gd name="csY37" fmla="*/ 282811 h 822981"/>
                    <a:gd name="csX38" fmla="*/ 809869 w 1028405"/>
                    <a:gd name="csY38" fmla="*/ 282811 h 822981"/>
                    <a:gd name="csX39" fmla="*/ 578581 w 1028405"/>
                    <a:gd name="csY39" fmla="*/ 282811 h 8229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1028405" h="822981">
                      <a:moveTo>
                        <a:pt x="912709" y="0"/>
                      </a:moveTo>
                      <a:cubicBezTo>
                        <a:pt x="976604" y="0"/>
                        <a:pt x="1028405" y="51799"/>
                        <a:pt x="1028405" y="115696"/>
                      </a:cubicBezTo>
                      <a:lnTo>
                        <a:pt x="1028405" y="707286"/>
                      </a:lnTo>
                      <a:cubicBezTo>
                        <a:pt x="1028405" y="771180"/>
                        <a:pt x="976604" y="822981"/>
                        <a:pt x="912709" y="822981"/>
                      </a:cubicBezTo>
                      <a:lnTo>
                        <a:pt x="115696" y="822981"/>
                      </a:lnTo>
                      <a:cubicBezTo>
                        <a:pt x="51799" y="822981"/>
                        <a:pt x="0" y="771180"/>
                        <a:pt x="0" y="707286"/>
                      </a:cubicBezTo>
                      <a:lnTo>
                        <a:pt x="0" y="115696"/>
                      </a:lnTo>
                      <a:cubicBezTo>
                        <a:pt x="0" y="51799"/>
                        <a:pt x="51799" y="0"/>
                        <a:pt x="115696" y="0"/>
                      </a:cubicBezTo>
                      <a:lnTo>
                        <a:pt x="912709" y="0"/>
                      </a:lnTo>
                      <a:close/>
                      <a:moveTo>
                        <a:pt x="912709" y="77130"/>
                      </a:moveTo>
                      <a:lnTo>
                        <a:pt x="115696" y="77130"/>
                      </a:lnTo>
                      <a:cubicBezTo>
                        <a:pt x="94397" y="77130"/>
                        <a:pt x="77130" y="94397"/>
                        <a:pt x="77130" y="115696"/>
                      </a:cubicBezTo>
                      <a:lnTo>
                        <a:pt x="77130" y="707286"/>
                      </a:lnTo>
                      <a:cubicBezTo>
                        <a:pt x="77130" y="728574"/>
                        <a:pt x="94408" y="745851"/>
                        <a:pt x="115696" y="745851"/>
                      </a:cubicBezTo>
                      <a:lnTo>
                        <a:pt x="912709" y="745851"/>
                      </a:lnTo>
                      <a:cubicBezTo>
                        <a:pt x="934008" y="745851"/>
                        <a:pt x="951275" y="728584"/>
                        <a:pt x="951275" y="707286"/>
                      </a:cubicBezTo>
                      <a:lnTo>
                        <a:pt x="951275" y="115696"/>
                      </a:lnTo>
                      <a:cubicBezTo>
                        <a:pt x="951275" y="94397"/>
                        <a:pt x="934008" y="77130"/>
                        <a:pt x="912709" y="77130"/>
                      </a:cubicBezTo>
                      <a:close/>
                      <a:moveTo>
                        <a:pt x="578581" y="462577"/>
                      </a:moveTo>
                      <a:lnTo>
                        <a:pt x="809869" y="462577"/>
                      </a:lnTo>
                      <a:cubicBezTo>
                        <a:pt x="831167" y="462582"/>
                        <a:pt x="848429" y="479854"/>
                        <a:pt x="848424" y="501152"/>
                      </a:cubicBezTo>
                      <a:cubicBezTo>
                        <a:pt x="848419" y="520419"/>
                        <a:pt x="834196" y="536719"/>
                        <a:pt x="815114" y="539347"/>
                      </a:cubicBezTo>
                      <a:lnTo>
                        <a:pt x="809869" y="539707"/>
                      </a:lnTo>
                      <a:lnTo>
                        <a:pt x="578581" y="539707"/>
                      </a:lnTo>
                      <a:cubicBezTo>
                        <a:pt x="557282" y="539702"/>
                        <a:pt x="540021" y="522430"/>
                        <a:pt x="540026" y="501131"/>
                      </a:cubicBezTo>
                      <a:cubicBezTo>
                        <a:pt x="540031" y="481864"/>
                        <a:pt x="554254" y="465564"/>
                        <a:pt x="573336" y="462937"/>
                      </a:cubicBezTo>
                      <a:lnTo>
                        <a:pt x="578581" y="462577"/>
                      </a:lnTo>
                      <a:lnTo>
                        <a:pt x="809869" y="462577"/>
                      </a:lnTo>
                      <a:lnTo>
                        <a:pt x="578581" y="462577"/>
                      </a:lnTo>
                      <a:close/>
                      <a:moveTo>
                        <a:pt x="578581" y="282811"/>
                      </a:moveTo>
                      <a:lnTo>
                        <a:pt x="809869" y="282811"/>
                      </a:lnTo>
                      <a:cubicBezTo>
                        <a:pt x="831167" y="282818"/>
                        <a:pt x="848429" y="300090"/>
                        <a:pt x="848424" y="321387"/>
                      </a:cubicBezTo>
                      <a:cubicBezTo>
                        <a:pt x="848419" y="340654"/>
                        <a:pt x="834196" y="356954"/>
                        <a:pt x="815114" y="359582"/>
                      </a:cubicBezTo>
                      <a:lnTo>
                        <a:pt x="809869" y="359942"/>
                      </a:lnTo>
                      <a:lnTo>
                        <a:pt x="578581" y="359942"/>
                      </a:lnTo>
                      <a:cubicBezTo>
                        <a:pt x="557282" y="359937"/>
                        <a:pt x="540021" y="342665"/>
                        <a:pt x="540026" y="321366"/>
                      </a:cubicBezTo>
                      <a:cubicBezTo>
                        <a:pt x="540031" y="302102"/>
                        <a:pt x="554254" y="285797"/>
                        <a:pt x="573336" y="283171"/>
                      </a:cubicBezTo>
                      <a:lnTo>
                        <a:pt x="578581" y="282811"/>
                      </a:lnTo>
                      <a:lnTo>
                        <a:pt x="809869" y="282811"/>
                      </a:lnTo>
                      <a:lnTo>
                        <a:pt x="578581" y="282811"/>
                      </a:lnTo>
                      <a:close/>
                    </a:path>
                  </a:pathLst>
                </a:custGeom>
                <a:grpFill/>
                <a:ln w="54372" cap="flat">
                  <a:noFill/>
                  <a:prstDash val="solid"/>
                  <a:miter/>
                </a:ln>
              </p:spPr>
              <p:txBody>
                <a:bodyPr/>
                <a:lstStyle/>
                <a:p>
                  <a:pPr defTabSz="442663">
                    <a:defRPr/>
                  </a:pPr>
                  <a:endParaRPr lang="en-US" sz="1743">
                    <a:solidFill>
                      <a:srgbClr val="FFFFFF"/>
                    </a:solidFill>
                    <a:latin typeface="Segoe UI"/>
                  </a:endParaRPr>
                </a:p>
              </p:txBody>
            </p:sp>
            <p:sp>
              <p:nvSpPr>
                <p:cNvPr id="42" name="Graphic 8">
                  <a:extLst>
                    <a:ext uri="{FF2B5EF4-FFF2-40B4-BE49-F238E27FC236}">
                      <a16:creationId xmlns:a16="http://schemas.microsoft.com/office/drawing/2014/main" id="{FF23BDC9-0B05-CCC3-6B30-C3CC3865B3D3}"/>
                    </a:ext>
                  </a:extLst>
                </p:cNvPr>
                <p:cNvSpPr/>
                <p:nvPr/>
              </p:nvSpPr>
              <p:spPr>
                <a:xfrm>
                  <a:off x="14454143" y="10109651"/>
                  <a:ext cx="332711" cy="292063"/>
                </a:xfrm>
                <a:custGeom>
                  <a:avLst/>
                  <a:gdLst>
                    <a:gd name="csX0" fmla="*/ 254649 w 349850"/>
                    <a:gd name="csY0" fmla="*/ 0 h 307106"/>
                    <a:gd name="csX1" fmla="*/ 95178 w 349850"/>
                    <a:gd name="csY1" fmla="*/ 0 h 307106"/>
                    <a:gd name="csX2" fmla="*/ 81796 w 349850"/>
                    <a:gd name="csY2" fmla="*/ 7724 h 307106"/>
                    <a:gd name="csX3" fmla="*/ 2073 w 349850"/>
                    <a:gd name="csY3" fmla="*/ 145829 h 307106"/>
                    <a:gd name="csX4" fmla="*/ 2073 w 349850"/>
                    <a:gd name="csY4" fmla="*/ 161278 h 307106"/>
                    <a:gd name="csX5" fmla="*/ 81808 w 349850"/>
                    <a:gd name="csY5" fmla="*/ 299382 h 307106"/>
                    <a:gd name="csX6" fmla="*/ 95190 w 349850"/>
                    <a:gd name="csY6" fmla="*/ 307107 h 307106"/>
                    <a:gd name="csX7" fmla="*/ 254661 w 349850"/>
                    <a:gd name="csY7" fmla="*/ 307107 h 307106"/>
                    <a:gd name="csX8" fmla="*/ 268042 w 349850"/>
                    <a:gd name="csY8" fmla="*/ 299382 h 307106"/>
                    <a:gd name="csX9" fmla="*/ 347778 w 349850"/>
                    <a:gd name="csY9" fmla="*/ 161278 h 307106"/>
                    <a:gd name="csX10" fmla="*/ 347778 w 349850"/>
                    <a:gd name="csY10" fmla="*/ 145829 h 307106"/>
                    <a:gd name="csX11" fmla="*/ 268019 w 349850"/>
                    <a:gd name="csY11" fmla="*/ 7724 h 307106"/>
                    <a:gd name="csX12" fmla="*/ 254637 w 349850"/>
                    <a:gd name="csY12" fmla="*/ 0 h 3071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9850" h="307106">
                      <a:moveTo>
                        <a:pt x="254649" y="0"/>
                      </a:moveTo>
                      <a:lnTo>
                        <a:pt x="95178" y="0"/>
                      </a:lnTo>
                      <a:cubicBezTo>
                        <a:pt x="89662" y="0"/>
                        <a:pt x="84560" y="2941"/>
                        <a:pt x="81796" y="7724"/>
                      </a:cubicBezTo>
                      <a:lnTo>
                        <a:pt x="2073" y="145829"/>
                      </a:lnTo>
                      <a:cubicBezTo>
                        <a:pt x="-691" y="150612"/>
                        <a:pt x="-691" y="156494"/>
                        <a:pt x="2073" y="161278"/>
                      </a:cubicBezTo>
                      <a:lnTo>
                        <a:pt x="81808" y="299382"/>
                      </a:lnTo>
                      <a:cubicBezTo>
                        <a:pt x="84572" y="304166"/>
                        <a:pt x="89662" y="307107"/>
                        <a:pt x="95190" y="307107"/>
                      </a:cubicBezTo>
                      <a:lnTo>
                        <a:pt x="254661" y="307107"/>
                      </a:lnTo>
                      <a:cubicBezTo>
                        <a:pt x="260176" y="307107"/>
                        <a:pt x="265279" y="304166"/>
                        <a:pt x="268042" y="299382"/>
                      </a:cubicBezTo>
                      <a:lnTo>
                        <a:pt x="347778" y="161278"/>
                      </a:lnTo>
                      <a:cubicBezTo>
                        <a:pt x="350542" y="156494"/>
                        <a:pt x="350542" y="150612"/>
                        <a:pt x="347778" y="145829"/>
                      </a:cubicBezTo>
                      <a:lnTo>
                        <a:pt x="268019" y="7724"/>
                      </a:lnTo>
                      <a:cubicBezTo>
                        <a:pt x="265255" y="2941"/>
                        <a:pt x="260165" y="0"/>
                        <a:pt x="254637" y="0"/>
                      </a:cubicBezTo>
                      <a:close/>
                    </a:path>
                  </a:pathLst>
                </a:custGeom>
                <a:grpFill/>
                <a:ln w="1160" cap="flat">
                  <a:noFill/>
                  <a:prstDash val="solid"/>
                  <a:miter/>
                </a:ln>
              </p:spPr>
              <p:txBody>
                <a:bodyPr/>
                <a:lstStyle/>
                <a:p>
                  <a:pPr defTabSz="442663">
                    <a:defRPr/>
                  </a:pPr>
                  <a:endParaRPr lang="en-US" sz="1743">
                    <a:solidFill>
                      <a:srgbClr val="FFFFFF"/>
                    </a:solidFill>
                    <a:latin typeface="Segoe UI"/>
                  </a:endParaRPr>
                </a:p>
              </p:txBody>
            </p:sp>
          </p:grpSp>
        </p:grpSp>
        <p:grpSp>
          <p:nvGrpSpPr>
            <p:cNvPr id="20" name="Group 19">
              <a:extLst>
                <a:ext uri="{FF2B5EF4-FFF2-40B4-BE49-F238E27FC236}">
                  <a16:creationId xmlns:a16="http://schemas.microsoft.com/office/drawing/2014/main" id="{9677D035-45FC-5AE3-6754-D78FC792F39C}"/>
                </a:ext>
              </a:extLst>
            </p:cNvPr>
            <p:cNvGrpSpPr/>
            <p:nvPr/>
          </p:nvGrpSpPr>
          <p:grpSpPr>
            <a:xfrm>
              <a:off x="6558631" y="3628338"/>
              <a:ext cx="589140" cy="595560"/>
              <a:chOff x="6558631" y="3628338"/>
              <a:chExt cx="589140" cy="595560"/>
            </a:xfrm>
          </p:grpSpPr>
          <p:sp>
            <p:nvSpPr>
              <p:cNvPr id="28" name="Oval 27">
                <a:extLst>
                  <a:ext uri="{FF2B5EF4-FFF2-40B4-BE49-F238E27FC236}">
                    <a16:creationId xmlns:a16="http://schemas.microsoft.com/office/drawing/2014/main" id="{E795E87C-CA81-6768-E740-7103A79DA571}"/>
                  </a:ext>
                </a:extLst>
              </p:cNvPr>
              <p:cNvSpPr/>
              <p:nvPr/>
            </p:nvSpPr>
            <p:spPr>
              <a:xfrm>
                <a:off x="6558631" y="3628338"/>
                <a:ext cx="589140" cy="589140"/>
              </a:xfrm>
              <a:prstGeom prst="ellipse">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30" name="Oval 29">
                <a:extLst>
                  <a:ext uri="{FF2B5EF4-FFF2-40B4-BE49-F238E27FC236}">
                    <a16:creationId xmlns:a16="http://schemas.microsoft.com/office/drawing/2014/main" id="{E8BDD6B8-B56A-E882-05C7-2826854F2FFE}"/>
                  </a:ext>
                </a:extLst>
              </p:cNvPr>
              <p:cNvSpPr/>
              <p:nvPr/>
            </p:nvSpPr>
            <p:spPr>
              <a:xfrm>
                <a:off x="6558631" y="3634758"/>
                <a:ext cx="589140" cy="589140"/>
              </a:xfrm>
              <a:prstGeom prst="ellipse">
                <a:avLst/>
              </a:prstGeom>
              <a:noFill/>
              <a:ln w="12700">
                <a:solidFill>
                  <a:schemeClr val="bg1">
                    <a:alpha val="3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31" name="Graphic 16">
                <a:extLst>
                  <a:ext uri="{FF2B5EF4-FFF2-40B4-BE49-F238E27FC236}">
                    <a16:creationId xmlns:a16="http://schemas.microsoft.com/office/drawing/2014/main" id="{04296997-B54D-F850-E729-F49CE78E9A96}"/>
                  </a:ext>
                </a:extLst>
              </p:cNvPr>
              <p:cNvSpPr/>
              <p:nvPr/>
            </p:nvSpPr>
            <p:spPr>
              <a:xfrm>
                <a:off x="6725600" y="3782641"/>
                <a:ext cx="293373" cy="293373"/>
              </a:xfrm>
              <a:custGeom>
                <a:avLst/>
                <a:gdLst>
                  <a:gd name="csX0" fmla="*/ 179785 w 1118663"/>
                  <a:gd name="csY0" fmla="*/ 79905 h 1118663"/>
                  <a:gd name="csX1" fmla="*/ 79905 w 1118663"/>
                  <a:gd name="csY1" fmla="*/ 179785 h 1118663"/>
                  <a:gd name="csX2" fmla="*/ 179785 w 1118663"/>
                  <a:gd name="csY2" fmla="*/ 279666 h 1118663"/>
                  <a:gd name="csX3" fmla="*/ 279666 w 1118663"/>
                  <a:gd name="csY3" fmla="*/ 179785 h 1118663"/>
                  <a:gd name="csX4" fmla="*/ 179785 w 1118663"/>
                  <a:gd name="csY4" fmla="*/ 79905 h 1118663"/>
                  <a:gd name="csX5" fmla="*/ 0 w 1118663"/>
                  <a:gd name="csY5" fmla="*/ 179785 h 1118663"/>
                  <a:gd name="csX6" fmla="*/ 179785 w 1118663"/>
                  <a:gd name="csY6" fmla="*/ 0 h 1118663"/>
                  <a:gd name="csX7" fmla="*/ 359571 w 1118663"/>
                  <a:gd name="csY7" fmla="*/ 179785 h 1118663"/>
                  <a:gd name="csX8" fmla="*/ 332003 w 1118663"/>
                  <a:gd name="csY8" fmla="*/ 275501 h 1118663"/>
                  <a:gd name="csX9" fmla="*/ 463618 w 1118663"/>
                  <a:gd name="csY9" fmla="*/ 407114 h 1118663"/>
                  <a:gd name="csX10" fmla="*/ 559332 w 1118663"/>
                  <a:gd name="csY10" fmla="*/ 379547 h 1118663"/>
                  <a:gd name="csX11" fmla="*/ 655046 w 1118663"/>
                  <a:gd name="csY11" fmla="*/ 407114 h 1118663"/>
                  <a:gd name="csX12" fmla="*/ 786660 w 1118663"/>
                  <a:gd name="csY12" fmla="*/ 275501 h 1118663"/>
                  <a:gd name="csX13" fmla="*/ 759093 w 1118663"/>
                  <a:gd name="csY13" fmla="*/ 179785 h 1118663"/>
                  <a:gd name="csX14" fmla="*/ 938879 w 1118663"/>
                  <a:gd name="csY14" fmla="*/ 0 h 1118663"/>
                  <a:gd name="csX15" fmla="*/ 1118664 w 1118663"/>
                  <a:gd name="csY15" fmla="*/ 179785 h 1118663"/>
                  <a:gd name="csX16" fmla="*/ 938879 w 1118663"/>
                  <a:gd name="csY16" fmla="*/ 359571 h 1118663"/>
                  <a:gd name="csX17" fmla="*/ 843165 w 1118663"/>
                  <a:gd name="csY17" fmla="*/ 332003 h 1118663"/>
                  <a:gd name="csX18" fmla="*/ 711550 w 1118663"/>
                  <a:gd name="csY18" fmla="*/ 463618 h 1118663"/>
                  <a:gd name="csX19" fmla="*/ 739117 w 1118663"/>
                  <a:gd name="csY19" fmla="*/ 559332 h 1118663"/>
                  <a:gd name="csX20" fmla="*/ 711550 w 1118663"/>
                  <a:gd name="csY20" fmla="*/ 655046 h 1118663"/>
                  <a:gd name="csX21" fmla="*/ 843165 w 1118663"/>
                  <a:gd name="csY21" fmla="*/ 786660 h 1118663"/>
                  <a:gd name="csX22" fmla="*/ 938879 w 1118663"/>
                  <a:gd name="csY22" fmla="*/ 759093 h 1118663"/>
                  <a:gd name="csX23" fmla="*/ 1118664 w 1118663"/>
                  <a:gd name="csY23" fmla="*/ 938879 h 1118663"/>
                  <a:gd name="csX24" fmla="*/ 938879 w 1118663"/>
                  <a:gd name="csY24" fmla="*/ 1118664 h 1118663"/>
                  <a:gd name="csX25" fmla="*/ 759093 w 1118663"/>
                  <a:gd name="csY25" fmla="*/ 938879 h 1118663"/>
                  <a:gd name="csX26" fmla="*/ 786660 w 1118663"/>
                  <a:gd name="csY26" fmla="*/ 843165 h 1118663"/>
                  <a:gd name="csX27" fmla="*/ 655046 w 1118663"/>
                  <a:gd name="csY27" fmla="*/ 711550 h 1118663"/>
                  <a:gd name="csX28" fmla="*/ 559332 w 1118663"/>
                  <a:gd name="csY28" fmla="*/ 739117 h 1118663"/>
                  <a:gd name="csX29" fmla="*/ 463618 w 1118663"/>
                  <a:gd name="csY29" fmla="*/ 711550 h 1118663"/>
                  <a:gd name="csX30" fmla="*/ 332003 w 1118663"/>
                  <a:gd name="csY30" fmla="*/ 843165 h 1118663"/>
                  <a:gd name="csX31" fmla="*/ 359571 w 1118663"/>
                  <a:gd name="csY31" fmla="*/ 938879 h 1118663"/>
                  <a:gd name="csX32" fmla="*/ 179785 w 1118663"/>
                  <a:gd name="csY32" fmla="*/ 1118664 h 1118663"/>
                  <a:gd name="csX33" fmla="*/ 0 w 1118663"/>
                  <a:gd name="csY33" fmla="*/ 938879 h 1118663"/>
                  <a:gd name="csX34" fmla="*/ 179785 w 1118663"/>
                  <a:gd name="csY34" fmla="*/ 759093 h 1118663"/>
                  <a:gd name="csX35" fmla="*/ 275501 w 1118663"/>
                  <a:gd name="csY35" fmla="*/ 786660 h 1118663"/>
                  <a:gd name="csX36" fmla="*/ 407114 w 1118663"/>
                  <a:gd name="csY36" fmla="*/ 655046 h 1118663"/>
                  <a:gd name="csX37" fmla="*/ 379547 w 1118663"/>
                  <a:gd name="csY37" fmla="*/ 559332 h 1118663"/>
                  <a:gd name="csX38" fmla="*/ 407114 w 1118663"/>
                  <a:gd name="csY38" fmla="*/ 463618 h 1118663"/>
                  <a:gd name="csX39" fmla="*/ 275501 w 1118663"/>
                  <a:gd name="csY39" fmla="*/ 332003 h 1118663"/>
                  <a:gd name="csX40" fmla="*/ 179785 w 1118663"/>
                  <a:gd name="csY40" fmla="*/ 359571 h 1118663"/>
                  <a:gd name="csX41" fmla="*/ 0 w 1118663"/>
                  <a:gd name="csY41" fmla="*/ 179785 h 1118663"/>
                  <a:gd name="csX42" fmla="*/ 938879 w 1118663"/>
                  <a:gd name="csY42" fmla="*/ 79905 h 1118663"/>
                  <a:gd name="csX43" fmla="*/ 838998 w 1118663"/>
                  <a:gd name="csY43" fmla="*/ 179785 h 1118663"/>
                  <a:gd name="csX44" fmla="*/ 938879 w 1118663"/>
                  <a:gd name="csY44" fmla="*/ 279666 h 1118663"/>
                  <a:gd name="csX45" fmla="*/ 1038759 w 1118663"/>
                  <a:gd name="csY45" fmla="*/ 179785 h 1118663"/>
                  <a:gd name="csX46" fmla="*/ 938879 w 1118663"/>
                  <a:gd name="csY46" fmla="*/ 79905 h 1118663"/>
                  <a:gd name="csX47" fmla="*/ 79905 w 1118663"/>
                  <a:gd name="csY47" fmla="*/ 938879 h 1118663"/>
                  <a:gd name="csX48" fmla="*/ 179785 w 1118663"/>
                  <a:gd name="csY48" fmla="*/ 1038759 h 1118663"/>
                  <a:gd name="csX49" fmla="*/ 279666 w 1118663"/>
                  <a:gd name="csY49" fmla="*/ 938879 h 1118663"/>
                  <a:gd name="csX50" fmla="*/ 179785 w 1118663"/>
                  <a:gd name="csY50" fmla="*/ 838998 h 1118663"/>
                  <a:gd name="csX51" fmla="*/ 79905 w 1118663"/>
                  <a:gd name="csY51" fmla="*/ 938879 h 1118663"/>
                  <a:gd name="csX52" fmla="*/ 559332 w 1118663"/>
                  <a:gd name="csY52" fmla="*/ 459451 h 1118663"/>
                  <a:gd name="csX53" fmla="*/ 459451 w 1118663"/>
                  <a:gd name="csY53" fmla="*/ 559332 h 1118663"/>
                  <a:gd name="csX54" fmla="*/ 559332 w 1118663"/>
                  <a:gd name="csY54" fmla="*/ 659213 h 1118663"/>
                  <a:gd name="csX55" fmla="*/ 659213 w 1118663"/>
                  <a:gd name="csY55" fmla="*/ 559332 h 1118663"/>
                  <a:gd name="csX56" fmla="*/ 559332 w 1118663"/>
                  <a:gd name="csY56" fmla="*/ 459451 h 1118663"/>
                  <a:gd name="csX57" fmla="*/ 838998 w 1118663"/>
                  <a:gd name="csY57" fmla="*/ 938879 h 1118663"/>
                  <a:gd name="csX58" fmla="*/ 938879 w 1118663"/>
                  <a:gd name="csY58" fmla="*/ 1038759 h 1118663"/>
                  <a:gd name="csX59" fmla="*/ 1038759 w 1118663"/>
                  <a:gd name="csY59" fmla="*/ 938879 h 1118663"/>
                  <a:gd name="csX60" fmla="*/ 938879 w 1118663"/>
                  <a:gd name="csY60" fmla="*/ 838998 h 1118663"/>
                  <a:gd name="csX61" fmla="*/ 838998 w 1118663"/>
                  <a:gd name="csY61" fmla="*/ 938879 h 11186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Lst>
                <a:rect l="l" t="t" r="r" b="b"/>
                <a:pathLst>
                  <a:path w="1118663" h="1118663">
                    <a:moveTo>
                      <a:pt x="179785" y="79905"/>
                    </a:moveTo>
                    <a:cubicBezTo>
                      <a:pt x="124623" y="79905"/>
                      <a:pt x="79905" y="124623"/>
                      <a:pt x="79905" y="179785"/>
                    </a:cubicBezTo>
                    <a:cubicBezTo>
                      <a:pt x="79905" y="234948"/>
                      <a:pt x="124623" y="279666"/>
                      <a:pt x="179785" y="279666"/>
                    </a:cubicBezTo>
                    <a:cubicBezTo>
                      <a:pt x="234948" y="279666"/>
                      <a:pt x="279666" y="234948"/>
                      <a:pt x="279666" y="179785"/>
                    </a:cubicBezTo>
                    <a:cubicBezTo>
                      <a:pt x="279666" y="124623"/>
                      <a:pt x="234948" y="79905"/>
                      <a:pt x="179785" y="79905"/>
                    </a:cubicBezTo>
                    <a:close/>
                    <a:moveTo>
                      <a:pt x="0" y="179785"/>
                    </a:moveTo>
                    <a:cubicBezTo>
                      <a:pt x="0" y="80493"/>
                      <a:pt x="80493" y="0"/>
                      <a:pt x="179785" y="0"/>
                    </a:cubicBezTo>
                    <a:cubicBezTo>
                      <a:pt x="279078" y="0"/>
                      <a:pt x="359571" y="80493"/>
                      <a:pt x="359571" y="179785"/>
                    </a:cubicBezTo>
                    <a:cubicBezTo>
                      <a:pt x="359571" y="214965"/>
                      <a:pt x="349467" y="247784"/>
                      <a:pt x="332003" y="275501"/>
                    </a:cubicBezTo>
                    <a:lnTo>
                      <a:pt x="463618" y="407114"/>
                    </a:lnTo>
                    <a:cubicBezTo>
                      <a:pt x="491333" y="389651"/>
                      <a:pt x="524154" y="379547"/>
                      <a:pt x="559332" y="379547"/>
                    </a:cubicBezTo>
                    <a:cubicBezTo>
                      <a:pt x="594510" y="379547"/>
                      <a:pt x="627331" y="389651"/>
                      <a:pt x="655046" y="407114"/>
                    </a:cubicBezTo>
                    <a:lnTo>
                      <a:pt x="786660" y="275501"/>
                    </a:lnTo>
                    <a:cubicBezTo>
                      <a:pt x="769197" y="247784"/>
                      <a:pt x="759093" y="214965"/>
                      <a:pt x="759093" y="179785"/>
                    </a:cubicBezTo>
                    <a:cubicBezTo>
                      <a:pt x="759093" y="80493"/>
                      <a:pt x="839585" y="0"/>
                      <a:pt x="938879" y="0"/>
                    </a:cubicBezTo>
                    <a:cubicBezTo>
                      <a:pt x="1038172" y="0"/>
                      <a:pt x="1118664" y="80493"/>
                      <a:pt x="1118664" y="179785"/>
                    </a:cubicBezTo>
                    <a:cubicBezTo>
                      <a:pt x="1118664" y="279078"/>
                      <a:pt x="1038172" y="359571"/>
                      <a:pt x="938879" y="359571"/>
                    </a:cubicBezTo>
                    <a:cubicBezTo>
                      <a:pt x="903701" y="359571"/>
                      <a:pt x="870880" y="349467"/>
                      <a:pt x="843165" y="332003"/>
                    </a:cubicBezTo>
                    <a:lnTo>
                      <a:pt x="711550" y="463618"/>
                    </a:lnTo>
                    <a:cubicBezTo>
                      <a:pt x="729013" y="491333"/>
                      <a:pt x="739117" y="524154"/>
                      <a:pt x="739117" y="559332"/>
                    </a:cubicBezTo>
                    <a:cubicBezTo>
                      <a:pt x="739117" y="594510"/>
                      <a:pt x="729013" y="627331"/>
                      <a:pt x="711550" y="655046"/>
                    </a:cubicBezTo>
                    <a:lnTo>
                      <a:pt x="843165" y="786660"/>
                    </a:lnTo>
                    <a:cubicBezTo>
                      <a:pt x="870880" y="769197"/>
                      <a:pt x="903701" y="759093"/>
                      <a:pt x="938879" y="759093"/>
                    </a:cubicBezTo>
                    <a:cubicBezTo>
                      <a:pt x="1038172" y="759093"/>
                      <a:pt x="1118664" y="839585"/>
                      <a:pt x="1118664" y="938879"/>
                    </a:cubicBezTo>
                    <a:cubicBezTo>
                      <a:pt x="1118664" y="1038172"/>
                      <a:pt x="1038172" y="1118664"/>
                      <a:pt x="938879" y="1118664"/>
                    </a:cubicBezTo>
                    <a:cubicBezTo>
                      <a:pt x="839585" y="1118664"/>
                      <a:pt x="759093" y="1038172"/>
                      <a:pt x="759093" y="938879"/>
                    </a:cubicBezTo>
                    <a:cubicBezTo>
                      <a:pt x="759093" y="903701"/>
                      <a:pt x="769197" y="870880"/>
                      <a:pt x="786660" y="843165"/>
                    </a:cubicBezTo>
                    <a:lnTo>
                      <a:pt x="655046" y="711550"/>
                    </a:lnTo>
                    <a:cubicBezTo>
                      <a:pt x="627331" y="729013"/>
                      <a:pt x="594510" y="739117"/>
                      <a:pt x="559332" y="739117"/>
                    </a:cubicBezTo>
                    <a:cubicBezTo>
                      <a:pt x="524154" y="739117"/>
                      <a:pt x="491333" y="729013"/>
                      <a:pt x="463618" y="711550"/>
                    </a:cubicBezTo>
                    <a:lnTo>
                      <a:pt x="332003" y="843165"/>
                    </a:lnTo>
                    <a:cubicBezTo>
                      <a:pt x="349467" y="870880"/>
                      <a:pt x="359571" y="903701"/>
                      <a:pt x="359571" y="938879"/>
                    </a:cubicBezTo>
                    <a:cubicBezTo>
                      <a:pt x="359571" y="1038172"/>
                      <a:pt x="279078" y="1118664"/>
                      <a:pt x="179785" y="1118664"/>
                    </a:cubicBezTo>
                    <a:cubicBezTo>
                      <a:pt x="80493" y="1118664"/>
                      <a:pt x="0" y="1038172"/>
                      <a:pt x="0" y="938879"/>
                    </a:cubicBezTo>
                    <a:cubicBezTo>
                      <a:pt x="0" y="839585"/>
                      <a:pt x="80493" y="759093"/>
                      <a:pt x="179785" y="759093"/>
                    </a:cubicBezTo>
                    <a:cubicBezTo>
                      <a:pt x="214965" y="759093"/>
                      <a:pt x="247784" y="769197"/>
                      <a:pt x="275501" y="786660"/>
                    </a:cubicBezTo>
                    <a:lnTo>
                      <a:pt x="407114" y="655046"/>
                    </a:lnTo>
                    <a:cubicBezTo>
                      <a:pt x="389651" y="627331"/>
                      <a:pt x="379547" y="594510"/>
                      <a:pt x="379547" y="559332"/>
                    </a:cubicBezTo>
                    <a:cubicBezTo>
                      <a:pt x="379547" y="524154"/>
                      <a:pt x="389651" y="491333"/>
                      <a:pt x="407114" y="463618"/>
                    </a:cubicBezTo>
                    <a:lnTo>
                      <a:pt x="275501" y="332003"/>
                    </a:lnTo>
                    <a:cubicBezTo>
                      <a:pt x="247784" y="349467"/>
                      <a:pt x="214965" y="359571"/>
                      <a:pt x="179785" y="359571"/>
                    </a:cubicBezTo>
                    <a:cubicBezTo>
                      <a:pt x="80493" y="359571"/>
                      <a:pt x="0" y="279078"/>
                      <a:pt x="0" y="179785"/>
                    </a:cubicBezTo>
                    <a:close/>
                    <a:moveTo>
                      <a:pt x="938879" y="79905"/>
                    </a:moveTo>
                    <a:cubicBezTo>
                      <a:pt x="883717" y="79905"/>
                      <a:pt x="838998" y="124623"/>
                      <a:pt x="838998" y="179785"/>
                    </a:cubicBezTo>
                    <a:cubicBezTo>
                      <a:pt x="838998" y="234948"/>
                      <a:pt x="883717" y="279666"/>
                      <a:pt x="938879" y="279666"/>
                    </a:cubicBezTo>
                    <a:cubicBezTo>
                      <a:pt x="994041" y="279666"/>
                      <a:pt x="1038759" y="234948"/>
                      <a:pt x="1038759" y="179785"/>
                    </a:cubicBezTo>
                    <a:cubicBezTo>
                      <a:pt x="1038759" y="124623"/>
                      <a:pt x="994041" y="79905"/>
                      <a:pt x="938879" y="79905"/>
                    </a:cubicBezTo>
                    <a:close/>
                    <a:moveTo>
                      <a:pt x="79905" y="938879"/>
                    </a:moveTo>
                    <a:cubicBezTo>
                      <a:pt x="79905" y="994041"/>
                      <a:pt x="124623" y="1038759"/>
                      <a:pt x="179785" y="1038759"/>
                    </a:cubicBezTo>
                    <a:cubicBezTo>
                      <a:pt x="234948" y="1038759"/>
                      <a:pt x="279666" y="994041"/>
                      <a:pt x="279666" y="938879"/>
                    </a:cubicBezTo>
                    <a:cubicBezTo>
                      <a:pt x="279666" y="883717"/>
                      <a:pt x="234948" y="838998"/>
                      <a:pt x="179785" y="838998"/>
                    </a:cubicBezTo>
                    <a:cubicBezTo>
                      <a:pt x="124623" y="838998"/>
                      <a:pt x="79905" y="883717"/>
                      <a:pt x="79905" y="938879"/>
                    </a:cubicBezTo>
                    <a:close/>
                    <a:moveTo>
                      <a:pt x="559332" y="459451"/>
                    </a:moveTo>
                    <a:cubicBezTo>
                      <a:pt x="504170" y="459451"/>
                      <a:pt x="459451" y="504170"/>
                      <a:pt x="459451" y="559332"/>
                    </a:cubicBezTo>
                    <a:cubicBezTo>
                      <a:pt x="459451" y="614494"/>
                      <a:pt x="504170" y="659213"/>
                      <a:pt x="559332" y="659213"/>
                    </a:cubicBezTo>
                    <a:cubicBezTo>
                      <a:pt x="614494" y="659213"/>
                      <a:pt x="659213" y="614494"/>
                      <a:pt x="659213" y="559332"/>
                    </a:cubicBezTo>
                    <a:cubicBezTo>
                      <a:pt x="659213" y="504170"/>
                      <a:pt x="614494" y="459451"/>
                      <a:pt x="559332" y="459451"/>
                    </a:cubicBezTo>
                    <a:close/>
                    <a:moveTo>
                      <a:pt x="838998" y="938879"/>
                    </a:moveTo>
                    <a:cubicBezTo>
                      <a:pt x="838998" y="994041"/>
                      <a:pt x="883717" y="1038759"/>
                      <a:pt x="938879" y="1038759"/>
                    </a:cubicBezTo>
                    <a:cubicBezTo>
                      <a:pt x="994041" y="1038759"/>
                      <a:pt x="1038759" y="994041"/>
                      <a:pt x="1038759" y="938879"/>
                    </a:cubicBezTo>
                    <a:cubicBezTo>
                      <a:pt x="1038759" y="883717"/>
                      <a:pt x="994041" y="838998"/>
                      <a:pt x="938879" y="838998"/>
                    </a:cubicBezTo>
                    <a:cubicBezTo>
                      <a:pt x="883717" y="838998"/>
                      <a:pt x="838998" y="883717"/>
                      <a:pt x="838998" y="938879"/>
                    </a:cubicBezTo>
                    <a:close/>
                  </a:path>
                </a:pathLst>
              </a:custGeom>
              <a:solidFill>
                <a:schemeClr val="bg1"/>
              </a:solidFill>
              <a:ln w="39886" cap="flat">
                <a:noFill/>
                <a:prstDash val="solid"/>
                <a:miter/>
              </a:ln>
            </p:spPr>
            <p:txBody>
              <a:bodyPr/>
              <a:lstStyle/>
              <a:p>
                <a:pPr defTabSz="442663">
                  <a:defRPr/>
                </a:pPr>
                <a:endParaRPr lang="en-US" sz="1743">
                  <a:solidFill>
                    <a:srgbClr val="FFFFFF"/>
                  </a:solidFill>
                  <a:latin typeface="Segoe UI"/>
                </a:endParaRPr>
              </a:p>
            </p:txBody>
          </p:sp>
        </p:grpSp>
        <p:grpSp>
          <p:nvGrpSpPr>
            <p:cNvPr id="21" name="Group 20">
              <a:extLst>
                <a:ext uri="{FF2B5EF4-FFF2-40B4-BE49-F238E27FC236}">
                  <a16:creationId xmlns:a16="http://schemas.microsoft.com/office/drawing/2014/main" id="{500FE68F-D022-8E2E-552E-A9310AA20C70}"/>
                </a:ext>
              </a:extLst>
            </p:cNvPr>
            <p:cNvGrpSpPr/>
            <p:nvPr/>
          </p:nvGrpSpPr>
          <p:grpSpPr>
            <a:xfrm>
              <a:off x="5071627" y="3607616"/>
              <a:ext cx="592916" cy="600017"/>
              <a:chOff x="5071627" y="3607616"/>
              <a:chExt cx="592916" cy="600017"/>
            </a:xfrm>
          </p:grpSpPr>
          <p:sp>
            <p:nvSpPr>
              <p:cNvPr id="22" name="Oval 21">
                <a:extLst>
                  <a:ext uri="{FF2B5EF4-FFF2-40B4-BE49-F238E27FC236}">
                    <a16:creationId xmlns:a16="http://schemas.microsoft.com/office/drawing/2014/main" id="{5C2F0A3E-F6E2-24D3-1486-F9EC7A6EFDF9}"/>
                  </a:ext>
                </a:extLst>
              </p:cNvPr>
              <p:cNvSpPr/>
              <p:nvPr/>
            </p:nvSpPr>
            <p:spPr>
              <a:xfrm>
                <a:off x="5075403" y="3618493"/>
                <a:ext cx="589140" cy="589140"/>
              </a:xfrm>
              <a:prstGeom prst="ellipse">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23" name="Oval 22">
                <a:extLst>
                  <a:ext uri="{FF2B5EF4-FFF2-40B4-BE49-F238E27FC236}">
                    <a16:creationId xmlns:a16="http://schemas.microsoft.com/office/drawing/2014/main" id="{C8184274-CEC9-A4B3-D8A0-E8CB5D68157E}"/>
                  </a:ext>
                </a:extLst>
              </p:cNvPr>
              <p:cNvSpPr/>
              <p:nvPr/>
            </p:nvSpPr>
            <p:spPr>
              <a:xfrm>
                <a:off x="5071627" y="3607616"/>
                <a:ext cx="589140" cy="589140"/>
              </a:xfrm>
              <a:prstGeom prst="ellipse">
                <a:avLst/>
              </a:prstGeom>
              <a:noFill/>
              <a:ln w="12700">
                <a:solidFill>
                  <a:schemeClr val="bg1">
                    <a:alpha val="3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p>
            </p:txBody>
          </p:sp>
          <p:sp>
            <p:nvSpPr>
              <p:cNvPr id="24" name="Graphic 140">
                <a:extLst>
                  <a:ext uri="{FF2B5EF4-FFF2-40B4-BE49-F238E27FC236}">
                    <a16:creationId xmlns:a16="http://schemas.microsoft.com/office/drawing/2014/main" id="{22C1924C-9F7B-10C8-8532-4220BD9E8B69}"/>
                  </a:ext>
                </a:extLst>
              </p:cNvPr>
              <p:cNvSpPr/>
              <p:nvPr/>
            </p:nvSpPr>
            <p:spPr>
              <a:xfrm>
                <a:off x="5239380" y="3754067"/>
                <a:ext cx="274320" cy="304124"/>
              </a:xfrm>
              <a:custGeom>
                <a:avLst/>
                <a:gdLst>
                  <a:gd name="csX0" fmla="*/ 0 w 859618"/>
                  <a:gd name="csY0" fmla="*/ 179087 h 955142"/>
                  <a:gd name="csX1" fmla="*/ 35817 w 859618"/>
                  <a:gd name="csY1" fmla="*/ 143270 h 955142"/>
                  <a:gd name="csX2" fmla="*/ 408319 w 859618"/>
                  <a:gd name="csY2" fmla="*/ 7163 h 955142"/>
                  <a:gd name="csX3" fmla="*/ 451300 w 859618"/>
                  <a:gd name="csY3" fmla="*/ 7163 h 955142"/>
                  <a:gd name="csX4" fmla="*/ 823801 w 859618"/>
                  <a:gd name="csY4" fmla="*/ 143270 h 955142"/>
                  <a:gd name="csX5" fmla="*/ 859619 w 859618"/>
                  <a:gd name="csY5" fmla="*/ 179087 h 955142"/>
                  <a:gd name="csX6" fmla="*/ 859619 w 859618"/>
                  <a:gd name="csY6" fmla="*/ 429809 h 955142"/>
                  <a:gd name="csX7" fmla="*/ 442942 w 859618"/>
                  <a:gd name="csY7" fmla="*/ 952648 h 955142"/>
                  <a:gd name="csX8" fmla="*/ 416676 w 859618"/>
                  <a:gd name="csY8" fmla="*/ 952648 h 955142"/>
                  <a:gd name="csX9" fmla="*/ 0 w 859618"/>
                  <a:gd name="csY9" fmla="*/ 429809 h 955142"/>
                  <a:gd name="csX10" fmla="*/ 0 w 859618"/>
                  <a:gd name="csY10" fmla="*/ 179087 h 955142"/>
                  <a:gd name="csX11" fmla="*/ 71635 w 859618"/>
                  <a:gd name="csY11" fmla="*/ 213854 h 955142"/>
                  <a:gd name="csX12" fmla="*/ 71635 w 859618"/>
                  <a:gd name="csY12" fmla="*/ 429809 h 955142"/>
                  <a:gd name="csX13" fmla="*/ 429809 w 859618"/>
                  <a:gd name="csY13" fmla="*/ 880727 h 955142"/>
                  <a:gd name="csX14" fmla="*/ 787984 w 859618"/>
                  <a:gd name="csY14" fmla="*/ 429809 h 955142"/>
                  <a:gd name="csX15" fmla="*/ 787984 w 859618"/>
                  <a:gd name="csY15" fmla="*/ 213854 h 955142"/>
                  <a:gd name="csX16" fmla="*/ 429809 w 859618"/>
                  <a:gd name="csY16" fmla="*/ 80136 h 955142"/>
                  <a:gd name="csX17" fmla="*/ 71635 w 859618"/>
                  <a:gd name="csY17" fmla="*/ 213854 h 9551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859618" h="955142">
                    <a:moveTo>
                      <a:pt x="0" y="179087"/>
                    </a:moveTo>
                    <a:cubicBezTo>
                      <a:pt x="0" y="159306"/>
                      <a:pt x="16036" y="143270"/>
                      <a:pt x="35817" y="143270"/>
                    </a:cubicBezTo>
                    <a:cubicBezTo>
                      <a:pt x="162993" y="143270"/>
                      <a:pt x="286922" y="98235"/>
                      <a:pt x="408319" y="7163"/>
                    </a:cubicBezTo>
                    <a:cubicBezTo>
                      <a:pt x="421054" y="-2388"/>
                      <a:pt x="438565" y="-2388"/>
                      <a:pt x="451300" y="7163"/>
                    </a:cubicBezTo>
                    <a:cubicBezTo>
                      <a:pt x="572697" y="98235"/>
                      <a:pt x="696625" y="143270"/>
                      <a:pt x="823801" y="143270"/>
                    </a:cubicBezTo>
                    <a:cubicBezTo>
                      <a:pt x="843583" y="143270"/>
                      <a:pt x="859619" y="159306"/>
                      <a:pt x="859619" y="179087"/>
                    </a:cubicBezTo>
                    <a:lnTo>
                      <a:pt x="859619" y="429809"/>
                    </a:lnTo>
                    <a:cubicBezTo>
                      <a:pt x="859619" y="668640"/>
                      <a:pt x="718355" y="844145"/>
                      <a:pt x="442942" y="952648"/>
                    </a:cubicBezTo>
                    <a:cubicBezTo>
                      <a:pt x="434503" y="955974"/>
                      <a:pt x="425116" y="955974"/>
                      <a:pt x="416676" y="952648"/>
                    </a:cubicBezTo>
                    <a:cubicBezTo>
                      <a:pt x="141264" y="844145"/>
                      <a:pt x="0" y="668592"/>
                      <a:pt x="0" y="429809"/>
                    </a:cubicBezTo>
                    <a:lnTo>
                      <a:pt x="0" y="179087"/>
                    </a:lnTo>
                    <a:close/>
                    <a:moveTo>
                      <a:pt x="71635" y="213854"/>
                    </a:moveTo>
                    <a:lnTo>
                      <a:pt x="71635" y="429809"/>
                    </a:lnTo>
                    <a:cubicBezTo>
                      <a:pt x="71635" y="633061"/>
                      <a:pt x="188782" y="782205"/>
                      <a:pt x="429809" y="880727"/>
                    </a:cubicBezTo>
                    <a:cubicBezTo>
                      <a:pt x="670837" y="782205"/>
                      <a:pt x="787984" y="633061"/>
                      <a:pt x="787984" y="429809"/>
                    </a:cubicBezTo>
                    <a:lnTo>
                      <a:pt x="787984" y="213854"/>
                    </a:lnTo>
                    <a:cubicBezTo>
                      <a:pt x="664915" y="206595"/>
                      <a:pt x="545380" y="161799"/>
                      <a:pt x="429809" y="80136"/>
                    </a:cubicBezTo>
                    <a:cubicBezTo>
                      <a:pt x="314238" y="161799"/>
                      <a:pt x="194704" y="206595"/>
                      <a:pt x="71635" y="213854"/>
                    </a:cubicBezTo>
                    <a:close/>
                  </a:path>
                </a:pathLst>
              </a:custGeom>
              <a:solidFill>
                <a:schemeClr val="bg1"/>
              </a:solidFill>
              <a:ln w="54372" cap="flat">
                <a:noFill/>
                <a:prstDash val="solid"/>
                <a:miter/>
              </a:ln>
            </p:spPr>
            <p:txBody>
              <a:bodyPr/>
              <a:lstStyle/>
              <a:p>
                <a:pPr defTabSz="442663">
                  <a:defRPr/>
                </a:pPr>
                <a:endParaRPr lang="en-US" sz="1743">
                  <a:solidFill>
                    <a:srgbClr val="FFFFFF"/>
                  </a:solidFill>
                  <a:latin typeface="Segoe UI"/>
                </a:endParaRPr>
              </a:p>
            </p:txBody>
          </p:sp>
        </p:grpSp>
      </p:grpSp>
      <p:sp>
        <p:nvSpPr>
          <p:cNvPr id="67" name="Your solutions, your way">
            <a:extLst>
              <a:ext uri="{FF2B5EF4-FFF2-40B4-BE49-F238E27FC236}">
                <a16:creationId xmlns:a16="http://schemas.microsoft.com/office/drawing/2014/main" id="{FDBCCD70-A7FE-0463-9FC2-AE7626EA825B}"/>
              </a:ext>
            </a:extLst>
          </p:cNvPr>
          <p:cNvSpPr txBox="1"/>
          <p:nvPr/>
        </p:nvSpPr>
        <p:spPr>
          <a:xfrm>
            <a:off x="6779978" y="2192656"/>
            <a:ext cx="3664299" cy="950773"/>
          </a:xfrm>
          <a:prstGeom prst="rect">
            <a:avLst/>
          </a:prstGeom>
          <a:noFill/>
        </p:spPr>
        <p:txBody>
          <a:bodyPr wrap="square" rtlCol="0" anchor="ctr">
            <a:spAutoFit/>
          </a:bodyPr>
          <a:lstStyle>
            <a:defPPr>
              <a:defRPr lang="en-US"/>
            </a:defPPr>
            <a:lvl1pPr marR="0" lvl="0" indent="0" algn="ctr" fontAlgn="auto">
              <a:lnSpc>
                <a:spcPct val="95000"/>
              </a:lnSpc>
              <a:spcBef>
                <a:spcPts val="0"/>
              </a:spcBef>
              <a:spcAft>
                <a:spcPts val="0"/>
              </a:spcAft>
              <a:buClrTx/>
              <a:buSzTx/>
              <a:buFontTx/>
              <a:buNone/>
              <a:tabLst/>
              <a:defRPr kumimoji="0" sz="4800" b="1" u="none" strike="noStrike" cap="none" spc="0" normalizeH="0">
                <a:ln w="3175">
                  <a:noFill/>
                </a:ln>
                <a:gradFill flip="none" rotWithShape="1">
                  <a:gsLst>
                    <a:gs pos="70000">
                      <a:schemeClr val="bg1"/>
                    </a:gs>
                    <a:gs pos="0">
                      <a:schemeClr val="bg1"/>
                    </a:gs>
                  </a:gsLst>
                  <a:path path="circle">
                    <a:fillToRect l="100000" t="100000"/>
                  </a:path>
                  <a:tileRect r="-100000" b="-100000"/>
                </a:gradFill>
                <a:effectLst/>
                <a:uLnTx/>
                <a:uFillTx/>
                <a:latin typeface="Segoe Sans Display Semibold" pitchFamily="2" charset="0"/>
                <a:cs typeface="Segoe Sans Display Semibold" pitchFamily="2" charset="0"/>
              </a:defRPr>
            </a:lvl1pPr>
          </a:lstStyle>
          <a:p>
            <a:r>
              <a:rPr lang="en-US" sz="2936">
                <a:solidFill>
                  <a:schemeClr val="tx1"/>
                </a:solidFill>
              </a:rPr>
              <a:t>Your solutions,</a:t>
            </a:r>
          </a:p>
          <a:p>
            <a:r>
              <a:rPr lang="en-US" sz="2936">
                <a:solidFill>
                  <a:schemeClr val="tx1"/>
                </a:solidFill>
              </a:rPr>
              <a:t>your way</a:t>
            </a:r>
          </a:p>
        </p:txBody>
      </p:sp>
    </p:spTree>
    <p:extLst>
      <p:ext uri="{BB962C8B-B14F-4D97-AF65-F5344CB8AC3E}">
        <p14:creationId xmlns:p14="http://schemas.microsoft.com/office/powerpoint/2010/main" val="175492859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561291-BDB6-C141-ED04-C36AF6EAFD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AA82F1E-BC6C-EC3E-637C-75D0E97C260B}"/>
              </a:ext>
            </a:extLst>
          </p:cNvPr>
          <p:cNvSpPr txBox="1"/>
          <p:nvPr/>
        </p:nvSpPr>
        <p:spPr>
          <a:xfrm>
            <a:off x="965107" y="2739004"/>
            <a:ext cx="2932216" cy="1379993"/>
          </a:xfrm>
          <a:prstGeom prst="rect">
            <a:avLst/>
          </a:prstGeom>
          <a:noFill/>
        </p:spPr>
        <p:txBody>
          <a:bodyPr wrap="square" rtlCol="0" anchor="ctr">
            <a:spAutoFit/>
          </a:bodyPr>
          <a:lstStyle>
            <a:defPPr>
              <a:defRPr lang="en-US"/>
            </a:defPPr>
            <a:lvl1pPr marR="0" lvl="0" indent="0" algn="ctr" fontAlgn="auto">
              <a:lnSpc>
                <a:spcPct val="95000"/>
              </a:lnSpc>
              <a:spcBef>
                <a:spcPts val="0"/>
              </a:spcBef>
              <a:spcAft>
                <a:spcPts val="0"/>
              </a:spcAft>
              <a:buClrTx/>
              <a:buSzTx/>
              <a:buFontTx/>
              <a:buNone/>
              <a:tabLst/>
              <a:defRPr kumimoji="0" sz="4800" b="1" u="none" strike="noStrike" cap="none" spc="0" normalizeH="0">
                <a:ln w="3175">
                  <a:noFill/>
                </a:ln>
                <a:gradFill flip="none" rotWithShape="1">
                  <a:gsLst>
                    <a:gs pos="70000">
                      <a:schemeClr val="bg1"/>
                    </a:gs>
                    <a:gs pos="0">
                      <a:schemeClr val="bg1"/>
                    </a:gs>
                  </a:gsLst>
                  <a:path path="circle">
                    <a:fillToRect l="100000" t="100000"/>
                  </a:path>
                  <a:tileRect r="-100000" b="-100000"/>
                </a:gradFill>
                <a:effectLst/>
                <a:uLnTx/>
                <a:uFillTx/>
                <a:latin typeface="Segoe Sans Display Semibold" pitchFamily="2" charset="0"/>
                <a:cs typeface="Segoe Sans Display Semibold" pitchFamily="2" charset="0"/>
              </a:defRPr>
            </a:lvl1pPr>
          </a:lstStyle>
          <a:p>
            <a:pPr algn="l"/>
            <a:r>
              <a:rPr lang="en-US" sz="2936" spc="-100">
                <a:gradFill flip="none" rotWithShape="1">
                  <a:gsLst>
                    <a:gs pos="80000">
                      <a:srgbClr val="016BEB"/>
                    </a:gs>
                    <a:gs pos="30000">
                      <a:srgbClr val="CF43A2"/>
                    </a:gs>
                    <a:gs pos="0">
                      <a:srgbClr val="F09F52"/>
                    </a:gs>
                  </a:gsLst>
                  <a:path path="circle">
                    <a:fillToRect l="100000" t="100000"/>
                  </a:path>
                  <a:tileRect r="-100000" b="-100000"/>
                </a:gradFill>
                <a:ea typeface="Menlo" panose="020B0609030804020204" pitchFamily="49" charset="0"/>
              </a:rPr>
              <a:t>All</a:t>
            </a:r>
            <a:r>
              <a:rPr lang="en-US" sz="2936"/>
              <a:t> </a:t>
            </a:r>
            <a:r>
              <a:rPr lang="en-US" sz="2936" spc="-100">
                <a:gradFill flip="none" rotWithShape="1">
                  <a:gsLst>
                    <a:gs pos="80000">
                      <a:srgbClr val="016BEB"/>
                    </a:gs>
                    <a:gs pos="30000">
                      <a:srgbClr val="CF43A2"/>
                    </a:gs>
                    <a:gs pos="0">
                      <a:srgbClr val="F09F52"/>
                    </a:gs>
                  </a:gsLst>
                  <a:path path="circle">
                    <a:fillToRect l="100000" t="100000"/>
                  </a:path>
                  <a:tileRect r="-100000" b="-100000"/>
                </a:gradFill>
                <a:ea typeface="Menlo" panose="020B0609030804020204" pitchFamily="49" charset="0"/>
              </a:rPr>
              <a:t>deployed on an enterprise ready platform.</a:t>
            </a:r>
          </a:p>
        </p:txBody>
      </p:sp>
      <p:grpSp>
        <p:nvGrpSpPr>
          <p:cNvPr id="2" name="Group 1">
            <a:extLst>
              <a:ext uri="{FF2B5EF4-FFF2-40B4-BE49-F238E27FC236}">
                <a16:creationId xmlns:a16="http://schemas.microsoft.com/office/drawing/2014/main" id="{FC2C8003-2160-B364-6820-195243F52105}"/>
              </a:ext>
            </a:extLst>
          </p:cNvPr>
          <p:cNvGrpSpPr/>
          <p:nvPr/>
        </p:nvGrpSpPr>
        <p:grpSpPr>
          <a:xfrm>
            <a:off x="4391528" y="2254560"/>
            <a:ext cx="6835365" cy="2348880"/>
            <a:chOff x="7180263" y="1508760"/>
            <a:chExt cx="11176000" cy="3840480"/>
          </a:xfrm>
        </p:grpSpPr>
        <p:sp>
          <p:nvSpPr>
            <p:cNvPr id="10" name="frame">
              <a:extLst>
                <a:ext uri="{FF2B5EF4-FFF2-40B4-BE49-F238E27FC236}">
                  <a16:creationId xmlns:a16="http://schemas.microsoft.com/office/drawing/2014/main" id="{1538969F-A97D-5190-E52E-F24F9F0D36A8}"/>
                </a:ext>
              </a:extLst>
            </p:cNvPr>
            <p:cNvSpPr/>
            <p:nvPr/>
          </p:nvSpPr>
          <p:spPr>
            <a:xfrm>
              <a:off x="7180263" y="1508760"/>
              <a:ext cx="11176000" cy="3840480"/>
            </a:xfrm>
            <a:prstGeom prst="roundRect">
              <a:avLst>
                <a:gd name="adj" fmla="val 4625"/>
              </a:avLst>
            </a:prstGeom>
            <a:solidFill>
              <a:srgbClr val="0D173C">
                <a:alpha val="0"/>
              </a:srgbClr>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1">
                <a:solidFill>
                  <a:srgbClr val="FFFFFF"/>
                </a:solidFill>
                <a:latin typeface="Calibri" panose="020F0502020204030204"/>
              </a:endParaRPr>
            </a:p>
          </p:txBody>
        </p:sp>
        <p:grpSp>
          <p:nvGrpSpPr>
            <p:cNvPr id="11" name="Group 10">
              <a:extLst>
                <a:ext uri="{FF2B5EF4-FFF2-40B4-BE49-F238E27FC236}">
                  <a16:creationId xmlns:a16="http://schemas.microsoft.com/office/drawing/2014/main" id="{8177393A-ED5A-1C3F-9C0B-0063EB8558C0}"/>
                </a:ext>
              </a:extLst>
            </p:cNvPr>
            <p:cNvGrpSpPr/>
            <p:nvPr/>
          </p:nvGrpSpPr>
          <p:grpSpPr>
            <a:xfrm>
              <a:off x="7468740" y="1918364"/>
              <a:ext cx="10557006" cy="3021272"/>
              <a:chOff x="812771" y="2271562"/>
              <a:chExt cx="10557006" cy="3021272"/>
            </a:xfrm>
          </p:grpSpPr>
          <p:sp>
            <p:nvSpPr>
              <p:cNvPr id="12" name="Rounded Rectangle 64" descr="Copilot stack:  AI safety and security encompass everything in the Copilot stack.   Top layer: - Copilot Studio - Microsoft Copilot; Your copilots - Microsoft apps  Middle layer: AI orchestration and tools  The bottom layer: - Your data - Foundation models &amp; AI toolchain - AI infrastructure  Between each layer are bidirectional arrows.  Microsoft Cloud is the foundation of the Copilot stack">
                <a:extLst>
                  <a:ext uri="{FF2B5EF4-FFF2-40B4-BE49-F238E27FC236}">
                    <a16:creationId xmlns:a16="http://schemas.microsoft.com/office/drawing/2014/main" id="{DDB08316-900A-A3C6-A051-889651B0F422}"/>
                  </a:ext>
                </a:extLst>
              </p:cNvPr>
              <p:cNvSpPr/>
              <p:nvPr/>
            </p:nvSpPr>
            <p:spPr bwMode="auto">
              <a:xfrm>
                <a:off x="812771" y="2271562"/>
                <a:ext cx="2425730" cy="3021272"/>
              </a:xfrm>
              <a:prstGeom prst="roundRect">
                <a:avLst>
                  <a:gd name="adj" fmla="val 10057"/>
                </a:avLst>
              </a:prstGeom>
              <a:blipFill dpi="0" rotWithShape="1">
                <a:blip r:embed="rId3">
                  <a:alphaModFix amt="10000"/>
                  <a:extLst>
                    <a:ext uri="{28A0092B-C50C-407E-A947-70E740481C1C}">
                      <a14:useLocalDpi xmlns:a14="http://schemas.microsoft.com/office/drawing/2010/main"/>
                    </a:ext>
                  </a:extLst>
                </a:blip>
                <a:srcRect/>
                <a:stretch>
                  <a:fillRect/>
                </a:stretch>
              </a:blipFill>
              <a:ln w="10795" cap="flat" cmpd="sng" algn="ctr">
                <a:gradFill flip="none" rotWithShape="1">
                  <a:gsLst>
                    <a:gs pos="0">
                      <a:srgbClr val="FFFFFF">
                        <a:alpha val="29678"/>
                      </a:srgbClr>
                    </a:gs>
                    <a:gs pos="42000">
                      <a:srgbClr val="FFFFFF">
                        <a:alpha val="10140"/>
                      </a:srgbClr>
                    </a:gs>
                    <a:gs pos="59000">
                      <a:srgbClr val="FFFFFF">
                        <a:alpha val="10000"/>
                      </a:srgbClr>
                    </a:gs>
                    <a:gs pos="100000">
                      <a:srgbClr val="FFFFFF">
                        <a:alpha val="30348"/>
                      </a:srgbClr>
                    </a:gs>
                  </a:gsLst>
                  <a:lin ang="8100000" scaled="1"/>
                  <a:tileRect/>
                </a:gradFill>
                <a:prstDash val="solid"/>
              </a:ln>
              <a:effectLst/>
            </p:spPr>
            <p:txBody>
              <a:bodyPr rtlCol="0" anchor="ctr"/>
              <a:lstStyle/>
              <a:p>
                <a:pPr algn="ctr" defTabSz="279624">
                  <a:spcAft>
                    <a:spcPts val="734"/>
                  </a:spcAft>
                  <a:defRPr/>
                </a:pPr>
                <a:r>
                  <a:rPr lang="en-US" sz="1468" b="1" spc="-31">
                    <a:solidFill>
                      <a:schemeClr val="tx2"/>
                    </a:solidFill>
                    <a:effectLst/>
                    <a:latin typeface="Segoe UI Semibold" panose="020B0502040204020203" pitchFamily="34" charset="0"/>
                    <a:cs typeface="Segoe UI Semibold" panose="020B0502040204020203" pitchFamily="34" charset="0"/>
                  </a:rPr>
                  <a:t>Managed </a:t>
                </a:r>
                <a:br>
                  <a:rPr lang="en-US" sz="1468" b="1" spc="-31">
                    <a:solidFill>
                      <a:schemeClr val="tx2"/>
                    </a:solidFill>
                    <a:effectLst/>
                    <a:latin typeface="Segoe UI Semibold" panose="020B0502040204020203" pitchFamily="34" charset="0"/>
                    <a:cs typeface="Segoe UI Semibold" panose="020B0502040204020203" pitchFamily="34" charset="0"/>
                  </a:rPr>
                </a:br>
                <a:r>
                  <a:rPr lang="en-US" sz="1468" b="1" spc="-31">
                    <a:solidFill>
                      <a:schemeClr val="tx2"/>
                    </a:solidFill>
                    <a:effectLst/>
                    <a:latin typeface="Segoe UI Semibold" panose="020B0502040204020203" pitchFamily="34" charset="0"/>
                    <a:cs typeface="Segoe UI Semibold" panose="020B0502040204020203" pitchFamily="34" charset="0"/>
                  </a:rPr>
                  <a:t>security</a:t>
                </a:r>
              </a:p>
              <a:p>
                <a:pPr algn="ctr" defTabSz="279624">
                  <a:spcAft>
                    <a:spcPts val="734"/>
                  </a:spcAft>
                  <a:defRPr/>
                </a:pPr>
                <a:r>
                  <a:rPr lang="en-US" sz="856">
                    <a:effectLst/>
                    <a:latin typeface="Segoe UI" panose="020B0502040204020203" pitchFamily="34" charset="0"/>
                    <a:cs typeface="Segoe UI" panose="020B0502040204020203" pitchFamily="34" charset="0"/>
                  </a:rPr>
                  <a:t>Advanced </a:t>
                </a:r>
                <a:br>
                  <a:rPr lang="en-US" sz="856">
                    <a:effectLst/>
                    <a:latin typeface="Segoe UI" panose="020B0502040204020203" pitchFamily="34" charset="0"/>
                    <a:cs typeface="Segoe UI" panose="020B0502040204020203" pitchFamily="34" charset="0"/>
                  </a:rPr>
                </a:br>
                <a:r>
                  <a:rPr lang="en-US" sz="856">
                    <a:effectLst/>
                    <a:latin typeface="Segoe UI" panose="020B0502040204020203" pitchFamily="34" charset="0"/>
                    <a:cs typeface="Segoe UI" panose="020B0502040204020203" pitchFamily="34" charset="0"/>
                  </a:rPr>
                  <a:t>protection for an </a:t>
                </a:r>
                <a:br>
                  <a:rPr lang="en-US" sz="856">
                    <a:effectLst/>
                    <a:latin typeface="Segoe UI" panose="020B0502040204020203" pitchFamily="34" charset="0"/>
                    <a:cs typeface="Segoe UI" panose="020B0502040204020203" pitchFamily="34" charset="0"/>
                  </a:rPr>
                </a:br>
                <a:r>
                  <a:rPr lang="en-US" sz="856">
                    <a:effectLst/>
                    <a:latin typeface="Segoe UI" panose="020B0502040204020203" pitchFamily="34" charset="0"/>
                    <a:cs typeface="Segoe UI" panose="020B0502040204020203" pitchFamily="34" charset="0"/>
                  </a:rPr>
                  <a:t>AI-driven world</a:t>
                </a:r>
              </a:p>
            </p:txBody>
          </p:sp>
          <p:sp>
            <p:nvSpPr>
              <p:cNvPr id="13" name="Rounded Rectangle 64" descr="Copilot stack:  AI safety and security encompass everything in the Copilot stack.   Top layer: - Copilot Studio - Microsoft Copilot; Your copilots - Microsoft apps  Middle layer: AI orchestration and tools  The bottom layer: - Your data - Foundation models &amp; AI toolchain - AI infrastructure  Between each layer are bidirectional arrows.  Microsoft Cloud is the foundation of the Copilot stack">
                <a:extLst>
                  <a:ext uri="{FF2B5EF4-FFF2-40B4-BE49-F238E27FC236}">
                    <a16:creationId xmlns:a16="http://schemas.microsoft.com/office/drawing/2014/main" id="{4CEE4E90-2DF1-F112-0590-24114F4DFDD5}"/>
                  </a:ext>
                </a:extLst>
              </p:cNvPr>
              <p:cNvSpPr/>
              <p:nvPr/>
            </p:nvSpPr>
            <p:spPr bwMode="auto">
              <a:xfrm>
                <a:off x="3565803" y="2271562"/>
                <a:ext cx="2425730" cy="3021272"/>
              </a:xfrm>
              <a:prstGeom prst="roundRect">
                <a:avLst>
                  <a:gd name="adj" fmla="val 10057"/>
                </a:avLst>
              </a:prstGeom>
              <a:blipFill dpi="0" rotWithShape="1">
                <a:blip r:embed="rId3">
                  <a:alphaModFix amt="10000"/>
                  <a:extLst>
                    <a:ext uri="{28A0092B-C50C-407E-A947-70E740481C1C}">
                      <a14:useLocalDpi xmlns:a14="http://schemas.microsoft.com/office/drawing/2010/main"/>
                    </a:ext>
                  </a:extLst>
                </a:blip>
                <a:srcRect/>
                <a:stretch>
                  <a:fillRect/>
                </a:stretch>
              </a:blipFill>
              <a:ln w="10795" cap="flat" cmpd="sng" algn="ctr">
                <a:gradFill flip="none" rotWithShape="1">
                  <a:gsLst>
                    <a:gs pos="0">
                      <a:srgbClr val="FFFFFF">
                        <a:alpha val="29678"/>
                      </a:srgbClr>
                    </a:gs>
                    <a:gs pos="42000">
                      <a:srgbClr val="FFFFFF">
                        <a:alpha val="10140"/>
                      </a:srgbClr>
                    </a:gs>
                    <a:gs pos="59000">
                      <a:srgbClr val="FFFFFF">
                        <a:alpha val="10000"/>
                      </a:srgbClr>
                    </a:gs>
                    <a:gs pos="100000">
                      <a:srgbClr val="FFFFFF">
                        <a:alpha val="30348"/>
                      </a:srgbClr>
                    </a:gs>
                  </a:gsLst>
                  <a:lin ang="8100000" scaled="1"/>
                  <a:tileRect/>
                </a:gradFill>
                <a:prstDash val="solid"/>
              </a:ln>
              <a:effectLst>
                <a:glow rad="127000">
                  <a:srgbClr val="202020">
                    <a:alpha val="5057"/>
                  </a:srgbClr>
                </a:glow>
              </a:effectLst>
            </p:spPr>
            <p:txBody>
              <a:bodyPr rtlCol="0" anchor="ctr"/>
              <a:lstStyle/>
              <a:p>
                <a:pPr algn="ctr" defTabSz="279624">
                  <a:spcAft>
                    <a:spcPts val="734"/>
                  </a:spcAft>
                  <a:defRPr/>
                </a:pPr>
                <a:r>
                  <a:rPr lang="en-US" sz="1468" b="1" spc="-31">
                    <a:solidFill>
                      <a:schemeClr val="tx2"/>
                    </a:solidFill>
                    <a:latin typeface="Segoe UI Semibold" panose="020B0502040204020203" pitchFamily="34" charset="0"/>
                    <a:cs typeface="Segoe UI Semibold" panose="020B0502040204020203" pitchFamily="34" charset="0"/>
                  </a:rPr>
                  <a:t>Managed </a:t>
                </a:r>
                <a:br>
                  <a:rPr lang="en-US" sz="1468" b="1" spc="-31">
                    <a:solidFill>
                      <a:schemeClr val="tx2"/>
                    </a:solidFill>
                    <a:latin typeface="Segoe UI Semibold" panose="020B0502040204020203" pitchFamily="34" charset="0"/>
                    <a:cs typeface="Segoe UI Semibold" panose="020B0502040204020203" pitchFamily="34" charset="0"/>
                  </a:rPr>
                </a:br>
                <a:r>
                  <a:rPr lang="en-US" sz="1468" b="1" spc="-31">
                    <a:solidFill>
                      <a:schemeClr val="tx2"/>
                    </a:solidFill>
                    <a:latin typeface="Segoe UI Semibold" panose="020B0502040204020203" pitchFamily="34" charset="0"/>
                    <a:cs typeface="Segoe UI Semibold" panose="020B0502040204020203" pitchFamily="34" charset="0"/>
                  </a:rPr>
                  <a:t>governance</a:t>
                </a:r>
              </a:p>
              <a:p>
                <a:pPr algn="ctr" defTabSz="279624">
                  <a:spcAft>
                    <a:spcPts val="734"/>
                  </a:spcAft>
                  <a:defRPr/>
                </a:pPr>
                <a:r>
                  <a:rPr lang="en-US" sz="856">
                    <a:latin typeface="Segoe UI" panose="020B0502040204020203" pitchFamily="34" charset="0"/>
                    <a:cs typeface="Segoe UI" panose="020B0502040204020203" pitchFamily="34" charset="0"/>
                  </a:rPr>
                  <a:t>More visibility,               more control,                   less effort</a:t>
                </a:r>
              </a:p>
            </p:txBody>
          </p:sp>
          <p:sp>
            <p:nvSpPr>
              <p:cNvPr id="14" name="Rounded Rectangle 64" descr="Copilot stack:  AI safety and security encompass everything in the Copilot stack.   Top layer: - Copilot Studio - Microsoft Copilot; Your copilots - Microsoft apps  Middle layer: AI orchestration and tools  The bottom layer: - Your data - Foundation models &amp; AI toolchain - AI infrastructure  Between each layer are bidirectional arrows.  Microsoft Cloud is the foundation of the Copilot stack">
                <a:extLst>
                  <a:ext uri="{FF2B5EF4-FFF2-40B4-BE49-F238E27FC236}">
                    <a16:creationId xmlns:a16="http://schemas.microsoft.com/office/drawing/2014/main" id="{FFBA57C0-6498-F702-3767-3FE933961728}"/>
                  </a:ext>
                </a:extLst>
              </p:cNvPr>
              <p:cNvSpPr/>
              <p:nvPr/>
            </p:nvSpPr>
            <p:spPr bwMode="auto">
              <a:xfrm>
                <a:off x="6250009" y="2271562"/>
                <a:ext cx="2425730" cy="3021272"/>
              </a:xfrm>
              <a:prstGeom prst="roundRect">
                <a:avLst>
                  <a:gd name="adj" fmla="val 10057"/>
                </a:avLst>
              </a:prstGeom>
              <a:blipFill dpi="0" rotWithShape="1">
                <a:blip r:embed="rId3">
                  <a:alphaModFix amt="10000"/>
                  <a:extLst>
                    <a:ext uri="{28A0092B-C50C-407E-A947-70E740481C1C}">
                      <a14:useLocalDpi xmlns:a14="http://schemas.microsoft.com/office/drawing/2010/main"/>
                    </a:ext>
                  </a:extLst>
                </a:blip>
                <a:srcRect/>
                <a:stretch>
                  <a:fillRect/>
                </a:stretch>
              </a:blipFill>
              <a:ln w="10795" cap="flat" cmpd="sng" algn="ctr">
                <a:gradFill flip="none" rotWithShape="1">
                  <a:gsLst>
                    <a:gs pos="0">
                      <a:srgbClr val="FFFFFF">
                        <a:alpha val="29678"/>
                      </a:srgbClr>
                    </a:gs>
                    <a:gs pos="42000">
                      <a:srgbClr val="FFFFFF">
                        <a:alpha val="10140"/>
                      </a:srgbClr>
                    </a:gs>
                    <a:gs pos="59000">
                      <a:srgbClr val="FFFFFF">
                        <a:alpha val="10000"/>
                      </a:srgbClr>
                    </a:gs>
                    <a:gs pos="100000">
                      <a:srgbClr val="FFFFFF">
                        <a:alpha val="30348"/>
                      </a:srgbClr>
                    </a:gs>
                  </a:gsLst>
                  <a:lin ang="8100000" scaled="1"/>
                  <a:tileRect/>
                </a:gradFill>
                <a:prstDash val="solid"/>
              </a:ln>
              <a:effectLst>
                <a:glow rad="127000">
                  <a:srgbClr val="202020">
                    <a:alpha val="5057"/>
                  </a:srgbClr>
                </a:glow>
              </a:effectLst>
            </p:spPr>
            <p:txBody>
              <a:bodyPr rtlCol="0" anchor="ctr"/>
              <a:lstStyle/>
              <a:p>
                <a:pPr algn="ctr" defTabSz="279624">
                  <a:spcAft>
                    <a:spcPts val="734"/>
                  </a:spcAft>
                  <a:defRPr/>
                </a:pPr>
                <a:r>
                  <a:rPr lang="en-US" sz="1468" b="1" spc="-31">
                    <a:solidFill>
                      <a:schemeClr val="tx2"/>
                    </a:solidFill>
                    <a:latin typeface="Segoe UI Semibold" panose="020B0502040204020203" pitchFamily="34" charset="0"/>
                    <a:cs typeface="Segoe UI Semibold" panose="020B0502040204020203" pitchFamily="34" charset="0"/>
                  </a:rPr>
                  <a:t>Managed operations</a:t>
                </a:r>
              </a:p>
              <a:p>
                <a:pPr algn="ctr" defTabSz="279624">
                  <a:spcAft>
                    <a:spcPts val="734"/>
                  </a:spcAft>
                  <a:defRPr/>
                </a:pPr>
                <a:r>
                  <a:rPr lang="en-US" sz="856">
                    <a:latin typeface="Segoe UI" panose="020B0502040204020203" pitchFamily="34" charset="0"/>
                    <a:cs typeface="Segoe UI" panose="020B0502040204020203" pitchFamily="34" charset="0"/>
                  </a:rPr>
                  <a:t>Operational </a:t>
                </a:r>
                <a:br>
                  <a:rPr lang="en-US" sz="856">
                    <a:latin typeface="Segoe UI" panose="020B0502040204020203" pitchFamily="34" charset="0"/>
                    <a:cs typeface="Segoe UI" panose="020B0502040204020203" pitchFamily="34" charset="0"/>
                  </a:rPr>
                </a:br>
                <a:r>
                  <a:rPr lang="en-US" sz="856">
                    <a:latin typeface="Segoe UI" panose="020B0502040204020203" pitchFamily="34" charset="0"/>
                    <a:cs typeface="Segoe UI" panose="020B0502040204020203" pitchFamily="34" charset="0"/>
                  </a:rPr>
                  <a:t>excellence for </a:t>
                </a:r>
                <a:br>
                  <a:rPr lang="en-US" sz="856">
                    <a:latin typeface="Segoe UI" panose="020B0502040204020203" pitchFamily="34" charset="0"/>
                    <a:cs typeface="Segoe UI" panose="020B0502040204020203" pitchFamily="34" charset="0"/>
                  </a:rPr>
                </a:br>
                <a:r>
                  <a:rPr lang="en-US" sz="856">
                    <a:latin typeface="Segoe UI" panose="020B0502040204020203" pitchFamily="34" charset="0"/>
                    <a:cs typeface="Segoe UI" panose="020B0502040204020203" pitchFamily="34" charset="0"/>
                  </a:rPr>
                  <a:t>agents at scale</a:t>
                </a:r>
                <a:endParaRPr lang="en-US" sz="856" b="1" spc="-31">
                  <a:latin typeface="Segoe UI Semibold" panose="020B0502040204020203" pitchFamily="34" charset="0"/>
                  <a:cs typeface="Segoe UI Semibold" panose="020B0502040204020203" pitchFamily="34" charset="0"/>
                </a:endParaRPr>
              </a:p>
            </p:txBody>
          </p:sp>
          <p:sp>
            <p:nvSpPr>
              <p:cNvPr id="15" name="Rounded Rectangle 64" descr="Copilot stack:  AI safety and security encompass everything in the Copilot stack.   Top layer: - Copilot Studio - Microsoft Copilot; Your copilots - Microsoft apps  Middle layer: AI orchestration and tools  The bottom layer: - Your data - Foundation models &amp; AI toolchain - AI infrastructure  Between each layer are bidirectional arrows.  Microsoft Cloud is the foundation of the Copilot stack">
                <a:extLst>
                  <a:ext uri="{FF2B5EF4-FFF2-40B4-BE49-F238E27FC236}">
                    <a16:creationId xmlns:a16="http://schemas.microsoft.com/office/drawing/2014/main" id="{D7278378-A605-2EE2-09CA-17FE7AFB58B9}"/>
                  </a:ext>
                </a:extLst>
              </p:cNvPr>
              <p:cNvSpPr/>
              <p:nvPr/>
            </p:nvSpPr>
            <p:spPr bwMode="auto">
              <a:xfrm>
                <a:off x="8944047" y="2271562"/>
                <a:ext cx="2425730" cy="3021272"/>
              </a:xfrm>
              <a:prstGeom prst="roundRect">
                <a:avLst>
                  <a:gd name="adj" fmla="val 10057"/>
                </a:avLst>
              </a:prstGeom>
              <a:blipFill dpi="0" rotWithShape="1">
                <a:blip r:embed="rId3">
                  <a:alphaModFix amt="10000"/>
                  <a:extLst>
                    <a:ext uri="{28A0092B-C50C-407E-A947-70E740481C1C}">
                      <a14:useLocalDpi xmlns:a14="http://schemas.microsoft.com/office/drawing/2010/main"/>
                    </a:ext>
                  </a:extLst>
                </a:blip>
                <a:srcRect/>
                <a:stretch>
                  <a:fillRect/>
                </a:stretch>
              </a:blipFill>
              <a:ln w="10795" cap="flat" cmpd="sng" algn="ctr">
                <a:gradFill flip="none" rotWithShape="1">
                  <a:gsLst>
                    <a:gs pos="0">
                      <a:srgbClr val="FFFFFF">
                        <a:alpha val="29678"/>
                      </a:srgbClr>
                    </a:gs>
                    <a:gs pos="42000">
                      <a:srgbClr val="FFFFFF">
                        <a:alpha val="10140"/>
                      </a:srgbClr>
                    </a:gs>
                    <a:gs pos="59000">
                      <a:srgbClr val="FFFFFF">
                        <a:alpha val="10000"/>
                      </a:srgbClr>
                    </a:gs>
                    <a:gs pos="100000">
                      <a:srgbClr val="FFFFFF">
                        <a:alpha val="30348"/>
                      </a:srgbClr>
                    </a:gs>
                  </a:gsLst>
                  <a:lin ang="8100000" scaled="1"/>
                  <a:tileRect/>
                </a:gradFill>
                <a:prstDash val="solid"/>
              </a:ln>
              <a:effectLst>
                <a:glow rad="127000">
                  <a:srgbClr val="202020">
                    <a:alpha val="5057"/>
                  </a:srgbClr>
                </a:glow>
              </a:effectLst>
            </p:spPr>
            <p:txBody>
              <a:bodyPr rtlCol="0" anchor="ctr"/>
              <a:lstStyle/>
              <a:p>
                <a:pPr algn="ctr" defTabSz="279624">
                  <a:spcAft>
                    <a:spcPts val="734"/>
                  </a:spcAft>
                  <a:defRPr/>
                </a:pPr>
                <a:r>
                  <a:rPr lang="en-US" sz="1468" b="1" spc="-31">
                    <a:solidFill>
                      <a:schemeClr val="tx2"/>
                    </a:solidFill>
                    <a:latin typeface="Segoe UI Semibold" panose="020B0502040204020203" pitchFamily="34" charset="0"/>
                    <a:cs typeface="Segoe UI Semibold" panose="020B0502040204020203" pitchFamily="34" charset="0"/>
                  </a:rPr>
                  <a:t>Managed availability</a:t>
                </a:r>
              </a:p>
              <a:p>
                <a:pPr algn="ctr" defTabSz="279624">
                  <a:spcAft>
                    <a:spcPts val="734"/>
                  </a:spcAft>
                  <a:defRPr/>
                </a:pPr>
                <a:r>
                  <a:rPr lang="en-US" sz="856">
                    <a:latin typeface="Segoe UI" panose="020B0502040204020203" pitchFamily="34" charset="0"/>
                    <a:cs typeface="Segoe UI" panose="020B0502040204020203" pitchFamily="34" charset="0"/>
                  </a:rPr>
                  <a:t>Enterprise-grade reliability for mission critical workloads</a:t>
                </a:r>
                <a:endParaRPr lang="en-US" sz="1100" kern="0">
                  <a:latin typeface="Calibri" panose="020F0502020204030204"/>
                </a:endParaRPr>
              </a:p>
            </p:txBody>
          </p:sp>
        </p:grpSp>
      </p:grpSp>
    </p:spTree>
    <p:extLst>
      <p:ext uri="{BB962C8B-B14F-4D97-AF65-F5344CB8AC3E}">
        <p14:creationId xmlns:p14="http://schemas.microsoft.com/office/powerpoint/2010/main" val="250394472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path" presetSubtype="0" decel="100000" fill="hold" grpId="1" nodeType="withEffect">
                                  <p:stCondLst>
                                    <p:cond delay="0"/>
                                  </p:stCondLst>
                                  <p:childTnLst>
                                    <p:animMotion origin="layout" path="M -6.87266E-7 0.03889 L -6.87266E-7 1.85185E-6 " pathEditMode="relative" rAng="0" ptsTypes="AA">
                                      <p:cBhvr>
                                        <p:cTn id="9" dur="500" fill="hold"/>
                                        <p:tgtEl>
                                          <p:spTgt spid="3"/>
                                        </p:tgtEl>
                                        <p:attrNameLst>
                                          <p:attrName>ppt_x</p:attrName>
                                          <p:attrName>ppt_y</p:attrName>
                                        </p:attrNameLst>
                                      </p:cBhvr>
                                      <p:rCtr x="0" y="-1944"/>
                                    </p:animMotion>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250"/>
                                        <p:tgtEl>
                                          <p:spTgt spid="2"/>
                                        </p:tgtEl>
                                      </p:cBhvr>
                                    </p:animEffect>
                                  </p:childTnLst>
                                </p:cTn>
                              </p:par>
                              <p:par>
                                <p:cTn id="14" presetID="42" presetClass="path" presetSubtype="0" decel="100000" fill="hold" nodeType="withEffect">
                                  <p:stCondLst>
                                    <p:cond delay="0"/>
                                  </p:stCondLst>
                                  <p:childTnLst>
                                    <p:animMotion origin="layout" path="M 1.25E-6 0.03889 L 1.25E-6 1.85185E-6 " pathEditMode="relative" rAng="0" ptsTypes="AA">
                                      <p:cBhvr>
                                        <p:cTn id="15" dur="500" fill="hold"/>
                                        <p:tgtEl>
                                          <p:spTgt spid="2"/>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99052-9C09-60B1-E352-7F07B6FF962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51B33A3-00C8-2E31-27CE-8D135C4F0790}"/>
              </a:ext>
            </a:extLst>
          </p:cNvPr>
          <p:cNvPicPr>
            <a:picLocks noChangeAspect="1"/>
          </p:cNvPicPr>
          <p:nvPr/>
        </p:nvPicPr>
        <p:blipFill>
          <a:blip r:embed="rId3">
            <a:alphaModFix amt="50000"/>
          </a:blip>
          <a:stretch>
            <a:fillRect/>
          </a:stretch>
        </p:blipFill>
        <p:spPr>
          <a:xfrm>
            <a:off x="0" y="-585472"/>
            <a:ext cx="12192000" cy="6858000"/>
          </a:xfrm>
          <a:prstGeom prst="rect">
            <a:avLst/>
          </a:prstGeom>
        </p:spPr>
      </p:pic>
      <p:sp>
        <p:nvSpPr>
          <p:cNvPr id="7" name="Rectangle 6">
            <a:extLst>
              <a:ext uri="{FF2B5EF4-FFF2-40B4-BE49-F238E27FC236}">
                <a16:creationId xmlns:a16="http://schemas.microsoft.com/office/drawing/2014/main" id="{20D20113-BCF6-7CDF-3891-B4718EEF9A8E}"/>
              </a:ext>
            </a:extLst>
          </p:cNvPr>
          <p:cNvSpPr/>
          <p:nvPr/>
        </p:nvSpPr>
        <p:spPr>
          <a:xfrm>
            <a:off x="6076741" y="1331786"/>
            <a:ext cx="1465454" cy="4194428"/>
          </a:xfrm>
          <a:prstGeom prst="rect">
            <a:avLst/>
          </a:prstGeom>
          <a:solidFill>
            <a:schemeClr val="tx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79624"/>
            <a:endParaRPr lang="en-US" sz="1101">
              <a:solidFill>
                <a:prstClr val="white"/>
              </a:solidFill>
              <a:latin typeface="Aptos" panose="02110004020202020204"/>
            </a:endParaRPr>
          </a:p>
        </p:txBody>
      </p:sp>
      <p:sp>
        <p:nvSpPr>
          <p:cNvPr id="47" name="Copilot">
            <a:extLst>
              <a:ext uri="{FF2B5EF4-FFF2-40B4-BE49-F238E27FC236}">
                <a16:creationId xmlns:a16="http://schemas.microsoft.com/office/drawing/2014/main" id="{48630CE2-9905-19A8-98F1-3C89EB7CF808}"/>
              </a:ext>
            </a:extLst>
          </p:cNvPr>
          <p:cNvSpPr>
            <a:spLocks noChangeAspect="1"/>
          </p:cNvSpPr>
          <p:nvPr/>
        </p:nvSpPr>
        <p:spPr>
          <a:xfrm>
            <a:off x="3586144" y="3340844"/>
            <a:ext cx="223703" cy="223703"/>
          </a:xfrm>
          <a:prstGeom prst="rect">
            <a:avLst/>
          </a:prstGeom>
          <a:blipFill>
            <a:blip>
              <a:alphaModFix amt="0"/>
              <a:extLst>
                <a:ext uri="{96DAC541-7B7A-43D3-8B79-37D633B846F1}">
                  <asvg:svgBlip xmlns:asvg="http://schemas.microsoft.com/office/drawing/2016/SVG/main" r:embed="rId4"/>
                </a:ext>
              </a:extLst>
            </a:blip>
            <a:stretch>
              <a:fillRect/>
            </a:stretch>
          </a:blipFill>
          <a:ln>
            <a:noFill/>
          </a:ln>
          <a:effectLst>
            <a:outerShdw blurRad="92463" dist="25400" dir="5400000" sx="101579" sy="101579" algn="ctr" rotWithShape="0">
              <a:schemeClr val="bg1">
                <a:alpha val="6485"/>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59079">
              <a:defRPr/>
            </a:pPr>
            <a:endParaRPr lang="en-US" sz="1100">
              <a:solidFill>
                <a:srgbClr val="FFFFFF"/>
              </a:solidFill>
              <a:latin typeface="Calibri" panose="020F0502020204030204"/>
            </a:endParaRPr>
          </a:p>
        </p:txBody>
      </p:sp>
      <p:sp>
        <p:nvSpPr>
          <p:cNvPr id="48" name="Rectangle 47">
            <a:extLst>
              <a:ext uri="{FF2B5EF4-FFF2-40B4-BE49-F238E27FC236}">
                <a16:creationId xmlns:a16="http://schemas.microsoft.com/office/drawing/2014/main" id="{F060FA77-E162-8EDB-C6A6-2A0714105461}"/>
              </a:ext>
            </a:extLst>
          </p:cNvPr>
          <p:cNvSpPr>
            <a:spLocks noChangeAspect="1"/>
          </p:cNvSpPr>
          <p:nvPr/>
        </p:nvSpPr>
        <p:spPr>
          <a:xfrm>
            <a:off x="6273040" y="3286863"/>
            <a:ext cx="279629" cy="279629"/>
          </a:xfrm>
          <a:prstGeom prst="rect">
            <a:avLst/>
          </a:prstGeom>
          <a:blipFill>
            <a:blip>
              <a:alphaModFix amt="0"/>
              <a:extLst>
                <a:ext uri="{96DAC541-7B7A-43D3-8B79-37D633B846F1}">
                  <asvg:svgBlip xmlns:asvg="http://schemas.microsoft.com/office/drawing/2016/SVG/main" r:embed="rId5"/>
                </a:ext>
              </a:extLst>
            </a:blip>
            <a:stretch>
              <a:fillRect/>
            </a:stretch>
          </a:blipFill>
          <a:ln>
            <a:noFill/>
          </a:ln>
          <a:effectLst>
            <a:outerShdw blurRad="92463" dist="25400" dir="5400000" sx="101579" sy="101579" algn="ctr" rotWithShape="0">
              <a:schemeClr val="bg1">
                <a:alpha val="6485"/>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59079">
              <a:defRPr/>
            </a:pPr>
            <a:endParaRPr lang="en-US" sz="1100">
              <a:solidFill>
                <a:srgbClr val="FFFFFF"/>
              </a:solidFill>
              <a:latin typeface="Calibri" panose="020F0502020204030204"/>
            </a:endParaRPr>
          </a:p>
        </p:txBody>
      </p:sp>
      <p:pic>
        <p:nvPicPr>
          <p:cNvPr id="49" name="Picture 48" descr="A blue and purple logo  AI-generated content may be incorrect.">
            <a:extLst>
              <a:ext uri="{FF2B5EF4-FFF2-40B4-BE49-F238E27FC236}">
                <a16:creationId xmlns:a16="http://schemas.microsoft.com/office/drawing/2014/main" id="{8B4F769D-7C1C-61A9-39D2-0F0234343EF1}"/>
              </a:ext>
            </a:extLst>
          </p:cNvPr>
          <p:cNvPicPr>
            <a:picLocks noChangeAspect="1"/>
          </p:cNvPicPr>
          <p:nvPr/>
        </p:nvPicPr>
        <p:blipFill>
          <a:blip r:embed="rId6">
            <a:alphaModFix amt="0"/>
            <a:extLst>
              <a:ext uri="{28A0092B-C50C-407E-A947-70E740481C1C}">
                <a14:useLocalDpi xmlns:a14="http://schemas.microsoft.com/office/drawing/2010/main" val="0"/>
              </a:ext>
            </a:extLst>
          </a:blip>
          <a:stretch>
            <a:fillRect/>
          </a:stretch>
        </p:blipFill>
        <p:spPr>
          <a:xfrm>
            <a:off x="4848655" y="3324955"/>
            <a:ext cx="223703" cy="223703"/>
          </a:xfrm>
          <a:prstGeom prst="rect">
            <a:avLst/>
          </a:prstGeom>
        </p:spPr>
      </p:pic>
      <p:pic>
        <p:nvPicPr>
          <p:cNvPr id="50" name="Agent 365">
            <a:extLst>
              <a:ext uri="{FF2B5EF4-FFF2-40B4-BE49-F238E27FC236}">
                <a16:creationId xmlns:a16="http://schemas.microsoft.com/office/drawing/2014/main" id="{427C5C40-7E76-CCE1-913D-5842F1D1EB54}"/>
              </a:ext>
            </a:extLst>
          </p:cNvPr>
          <p:cNvPicPr>
            <a:picLocks noChangeAspect="1"/>
          </p:cNvPicPr>
          <p:nvPr/>
        </p:nvPicPr>
        <p:blipFill>
          <a:blip>
            <a:alphaModFix amt="0"/>
            <a:extLst>
              <a:ext uri="{96DAC541-7B7A-43D3-8B79-37D633B846F1}">
                <asvg:svgBlip xmlns:asvg="http://schemas.microsoft.com/office/drawing/2016/SVG/main" r:embed="rId7"/>
              </a:ext>
            </a:extLst>
          </a:blip>
          <a:stretch>
            <a:fillRect/>
          </a:stretch>
        </p:blipFill>
        <p:spPr>
          <a:xfrm>
            <a:off x="8412543" y="3317149"/>
            <a:ext cx="223703" cy="223703"/>
          </a:xfrm>
          <a:prstGeom prst="rect">
            <a:avLst/>
          </a:prstGeom>
          <a:effectLst>
            <a:outerShdw blurRad="50800" dist="38100" dir="2700000" algn="tl" rotWithShape="0">
              <a:srgbClr val="0C073D">
                <a:alpha val="40000"/>
              </a:srgbClr>
            </a:outerShdw>
          </a:effectLst>
        </p:spPr>
      </p:pic>
      <p:pic>
        <p:nvPicPr>
          <p:cNvPr id="54" name="Graphic 53">
            <a:extLst>
              <a:ext uri="{FF2B5EF4-FFF2-40B4-BE49-F238E27FC236}">
                <a16:creationId xmlns:a16="http://schemas.microsoft.com/office/drawing/2014/main" id="{F54984FB-C9B6-1F6C-3076-F91A0ACBCDE8}"/>
              </a:ext>
            </a:extLst>
          </p:cNvPr>
          <p:cNvPicPr>
            <a:picLocks noChangeAspect="1"/>
          </p:cNvPicPr>
          <p:nvPr/>
        </p:nvPicPr>
        <p:blipFill>
          <a:blip>
            <a:alphaModFix amt="0"/>
            <a:extLst>
              <a:ext uri="{96DAC541-7B7A-43D3-8B79-37D633B846F1}">
                <asvg:svgBlip xmlns:asvg="http://schemas.microsoft.com/office/drawing/2016/SVG/main" r:embed="rId8"/>
              </a:ext>
            </a:extLst>
          </a:blip>
          <a:stretch>
            <a:fillRect/>
          </a:stretch>
        </p:blipFill>
        <p:spPr>
          <a:xfrm>
            <a:off x="5956184" y="3317149"/>
            <a:ext cx="223703" cy="223703"/>
          </a:xfrm>
          <a:prstGeom prst="rect">
            <a:avLst/>
          </a:prstGeom>
        </p:spPr>
      </p:pic>
      <p:pic>
        <p:nvPicPr>
          <p:cNvPr id="55" name="Graphic 54">
            <a:extLst>
              <a:ext uri="{FF2B5EF4-FFF2-40B4-BE49-F238E27FC236}">
                <a16:creationId xmlns:a16="http://schemas.microsoft.com/office/drawing/2014/main" id="{CB37E741-EDEB-2423-33CE-38144E23D5FE}"/>
              </a:ext>
            </a:extLst>
          </p:cNvPr>
          <p:cNvPicPr>
            <a:picLocks noChangeAspect="1"/>
          </p:cNvPicPr>
          <p:nvPr/>
        </p:nvPicPr>
        <p:blipFill>
          <a:blip>
            <a:alphaModFix amt="0"/>
            <a:extLst>
              <a:ext uri="{96DAC541-7B7A-43D3-8B79-37D633B846F1}">
                <asvg:svgBlip xmlns:asvg="http://schemas.microsoft.com/office/drawing/2016/SVG/main" r:embed="rId9"/>
              </a:ext>
            </a:extLst>
          </a:blip>
          <a:stretch>
            <a:fillRect/>
          </a:stretch>
        </p:blipFill>
        <p:spPr>
          <a:xfrm>
            <a:off x="6675226" y="3314960"/>
            <a:ext cx="223703" cy="223703"/>
          </a:xfrm>
          <a:prstGeom prst="rect">
            <a:avLst/>
          </a:prstGeom>
        </p:spPr>
      </p:pic>
      <p:pic>
        <p:nvPicPr>
          <p:cNvPr id="56" name="Graphic 55">
            <a:extLst>
              <a:ext uri="{FF2B5EF4-FFF2-40B4-BE49-F238E27FC236}">
                <a16:creationId xmlns:a16="http://schemas.microsoft.com/office/drawing/2014/main" id="{5783C97E-3493-4337-9A3A-4A19F417A596}"/>
              </a:ext>
            </a:extLst>
          </p:cNvPr>
          <p:cNvPicPr>
            <a:picLocks noChangeAspect="1"/>
          </p:cNvPicPr>
          <p:nvPr/>
        </p:nvPicPr>
        <p:blipFill>
          <a:blip>
            <a:alphaModFix amt="0"/>
            <a:extLst>
              <a:ext uri="{96DAC541-7B7A-43D3-8B79-37D633B846F1}">
                <asvg:svgBlip xmlns:asvg="http://schemas.microsoft.com/office/drawing/2016/SVG/main" r:embed="rId10"/>
              </a:ext>
            </a:extLst>
          </a:blip>
          <a:stretch>
            <a:fillRect/>
          </a:stretch>
        </p:blipFill>
        <p:spPr>
          <a:xfrm>
            <a:off x="7151463" y="3314960"/>
            <a:ext cx="223703" cy="223703"/>
          </a:xfrm>
          <a:prstGeom prst="rect">
            <a:avLst/>
          </a:prstGeom>
        </p:spPr>
      </p:pic>
      <p:pic>
        <p:nvPicPr>
          <p:cNvPr id="57" name="Graphic 56">
            <a:extLst>
              <a:ext uri="{FF2B5EF4-FFF2-40B4-BE49-F238E27FC236}">
                <a16:creationId xmlns:a16="http://schemas.microsoft.com/office/drawing/2014/main" id="{081E622A-D0D3-3FF9-31D2-01DC3924450B}"/>
              </a:ext>
            </a:extLst>
          </p:cNvPr>
          <p:cNvPicPr>
            <a:picLocks noChangeAspect="1"/>
          </p:cNvPicPr>
          <p:nvPr/>
        </p:nvPicPr>
        <p:blipFill>
          <a:blip>
            <a:alphaModFix amt="0"/>
            <a:extLst>
              <a:ext uri="{96DAC541-7B7A-43D3-8B79-37D633B846F1}">
                <asvg:svgBlip xmlns:asvg="http://schemas.microsoft.com/office/drawing/2016/SVG/main" r:embed="rId11"/>
              </a:ext>
            </a:extLst>
          </a:blip>
          <a:stretch>
            <a:fillRect/>
          </a:stretch>
        </p:blipFill>
        <p:spPr>
          <a:xfrm>
            <a:off x="7750668" y="3328577"/>
            <a:ext cx="223703" cy="223703"/>
          </a:xfrm>
          <a:prstGeom prst="rect">
            <a:avLst/>
          </a:prstGeom>
        </p:spPr>
      </p:pic>
      <p:pic>
        <p:nvPicPr>
          <p:cNvPr id="58" name="Picture 57">
            <a:extLst>
              <a:ext uri="{FF2B5EF4-FFF2-40B4-BE49-F238E27FC236}">
                <a16:creationId xmlns:a16="http://schemas.microsoft.com/office/drawing/2014/main" id="{B0B5325D-A6BA-2C59-26E8-FFA6736A95B4}"/>
              </a:ext>
            </a:extLst>
          </p:cNvPr>
          <p:cNvPicPr>
            <a:picLocks noChangeAspect="1"/>
          </p:cNvPicPr>
          <p:nvPr/>
        </p:nvPicPr>
        <p:blipFill>
          <a:blip r:embed="rId12">
            <a:alphaModFix amt="0"/>
          </a:blip>
          <a:stretch>
            <a:fillRect/>
          </a:stretch>
        </p:blipFill>
        <p:spPr>
          <a:xfrm>
            <a:off x="5296452" y="3324955"/>
            <a:ext cx="223703" cy="223703"/>
          </a:xfrm>
          <a:prstGeom prst="rect">
            <a:avLst/>
          </a:prstGeom>
        </p:spPr>
      </p:pic>
      <p:pic>
        <p:nvPicPr>
          <p:cNvPr id="59" name="Graphic 58">
            <a:extLst>
              <a:ext uri="{FF2B5EF4-FFF2-40B4-BE49-F238E27FC236}">
                <a16:creationId xmlns:a16="http://schemas.microsoft.com/office/drawing/2014/main" id="{F385117B-BE4D-68A7-BECD-9ABCF42376B6}"/>
              </a:ext>
            </a:extLst>
          </p:cNvPr>
          <p:cNvPicPr>
            <a:picLocks noChangeAspect="1"/>
          </p:cNvPicPr>
          <p:nvPr/>
        </p:nvPicPr>
        <p:blipFill>
          <a:blip>
            <a:alphaModFix amt="0"/>
            <a:extLst>
              <a:ext uri="{96DAC541-7B7A-43D3-8B79-37D633B846F1}">
                <asvg:svgBlip xmlns:asvg="http://schemas.microsoft.com/office/drawing/2016/SVG/main" r:embed="rId13"/>
              </a:ext>
            </a:extLst>
          </a:blip>
          <a:stretch>
            <a:fillRect/>
          </a:stretch>
        </p:blipFill>
        <p:spPr>
          <a:xfrm>
            <a:off x="5627170" y="3326389"/>
            <a:ext cx="223703" cy="223703"/>
          </a:xfrm>
          <a:prstGeom prst="rect">
            <a:avLst/>
          </a:prstGeom>
        </p:spPr>
      </p:pic>
      <p:pic>
        <p:nvPicPr>
          <p:cNvPr id="60" name="Graphic 59">
            <a:extLst>
              <a:ext uri="{FF2B5EF4-FFF2-40B4-BE49-F238E27FC236}">
                <a16:creationId xmlns:a16="http://schemas.microsoft.com/office/drawing/2014/main" id="{CEBF7172-779D-4E4A-AED9-09E604ECB3A3}"/>
              </a:ext>
            </a:extLst>
          </p:cNvPr>
          <p:cNvPicPr>
            <a:picLocks noChangeAspect="1"/>
          </p:cNvPicPr>
          <p:nvPr/>
        </p:nvPicPr>
        <p:blipFill>
          <a:blip>
            <a:alphaModFix amt="0"/>
            <a:extLst>
              <a:ext uri="{96DAC541-7B7A-43D3-8B79-37D633B846F1}">
                <asvg:svgBlip xmlns:asvg="http://schemas.microsoft.com/office/drawing/2016/SVG/main" r:embed="rId14"/>
              </a:ext>
            </a:extLst>
          </a:blip>
          <a:stretch>
            <a:fillRect/>
          </a:stretch>
        </p:blipFill>
        <p:spPr>
          <a:xfrm>
            <a:off x="4284632" y="3341573"/>
            <a:ext cx="223703" cy="223703"/>
          </a:xfrm>
          <a:prstGeom prst="rect">
            <a:avLst/>
          </a:prstGeom>
        </p:spPr>
      </p:pic>
      <p:sp>
        <p:nvSpPr>
          <p:cNvPr id="4" name="Headline">
            <a:extLst>
              <a:ext uri="{FF2B5EF4-FFF2-40B4-BE49-F238E27FC236}">
                <a16:creationId xmlns:a16="http://schemas.microsoft.com/office/drawing/2014/main" id="{FD4A0B68-80A1-2635-A30D-53281C4F3BBF}"/>
              </a:ext>
            </a:extLst>
          </p:cNvPr>
          <p:cNvSpPr txBox="1"/>
          <p:nvPr/>
        </p:nvSpPr>
        <p:spPr>
          <a:xfrm>
            <a:off x="3851716" y="2562152"/>
            <a:ext cx="1660972" cy="451790"/>
          </a:xfrm>
          <a:prstGeom prst="rect">
            <a:avLst/>
          </a:prstGeom>
          <a:noFill/>
        </p:spPr>
        <p:txBody>
          <a:bodyPr wrap="square" lIns="0" tIns="0" rIns="0" bIns="0">
            <a:spAutoFit/>
          </a:bodyPr>
          <a:lstStyle>
            <a:defPPr>
              <a:defRPr lang="en-US"/>
            </a:defPPr>
            <a:lvl1pPr marR="0" lvl="0" indent="0" algn="ctr" fontAlgn="base">
              <a:lnSpc>
                <a:spcPct val="100000"/>
              </a:lnSpc>
              <a:spcBef>
                <a:spcPts val="0"/>
              </a:spcBef>
              <a:spcAft>
                <a:spcPts val="0"/>
              </a:spcAft>
              <a:buClrTx/>
              <a:buSzTx/>
              <a:buFontTx/>
              <a:buNone/>
              <a:tabLst/>
              <a:defRPr kumimoji="0" sz="4800" u="none" strike="noStrike" cap="none" spc="-50" normalizeH="0" baseline="0">
                <a:ln w="3175">
                  <a:noFill/>
                </a:ln>
                <a:solidFill>
                  <a:prstClr val="white"/>
                </a:solidFill>
                <a:effectLst/>
                <a:uLnTx/>
                <a:uFillTx/>
                <a:latin typeface="Segoe UI" panose="020B0502040204020203" pitchFamily="34" charset="0"/>
                <a:cs typeface="Segoe UI" panose="020B0502040204020203" pitchFamily="34" charset="0"/>
              </a:defRPr>
            </a:lvl1pPr>
          </a:lstStyle>
          <a:p>
            <a:pPr defTabSz="279624"/>
            <a:r>
              <a:rPr lang="en-US" sz="2936" b="1" spc="-31">
                <a:latin typeface="Segoe Sans Display Semibold" pitchFamily="2" charset="0"/>
                <a:cs typeface="Segoe Sans Display Semibold" pitchFamily="2" charset="0"/>
              </a:rPr>
              <a:t>The tools</a:t>
            </a:r>
          </a:p>
        </p:txBody>
      </p:sp>
      <p:sp>
        <p:nvSpPr>
          <p:cNvPr id="6" name="Headline">
            <a:extLst>
              <a:ext uri="{FF2B5EF4-FFF2-40B4-BE49-F238E27FC236}">
                <a16:creationId xmlns:a16="http://schemas.microsoft.com/office/drawing/2014/main" id="{B6B29515-C77F-3C51-286C-066A816C0528}"/>
              </a:ext>
            </a:extLst>
          </p:cNvPr>
          <p:cNvSpPr txBox="1"/>
          <p:nvPr/>
        </p:nvSpPr>
        <p:spPr>
          <a:xfrm>
            <a:off x="5488804" y="2562152"/>
            <a:ext cx="3114653" cy="451790"/>
          </a:xfrm>
          <a:prstGeom prst="rect">
            <a:avLst/>
          </a:prstGeom>
          <a:noFill/>
        </p:spPr>
        <p:txBody>
          <a:bodyPr wrap="square" lIns="0" tIns="0" rIns="0" bIns="0">
            <a:spAutoFit/>
          </a:bodyPr>
          <a:lstStyle>
            <a:defPPr>
              <a:defRPr lang="en-US"/>
            </a:defPPr>
            <a:lvl1pPr marR="0" lvl="0" indent="0" algn="ctr" fontAlgn="base">
              <a:lnSpc>
                <a:spcPct val="100000"/>
              </a:lnSpc>
              <a:spcBef>
                <a:spcPts val="0"/>
              </a:spcBef>
              <a:spcAft>
                <a:spcPts val="0"/>
              </a:spcAft>
              <a:buClrTx/>
              <a:buSzTx/>
              <a:buFontTx/>
              <a:buNone/>
              <a:tabLst/>
              <a:defRPr kumimoji="0" sz="4800" u="none" strike="noStrike" cap="none" spc="-50" normalizeH="0" baseline="0">
                <a:ln w="3175">
                  <a:noFill/>
                </a:ln>
                <a:solidFill>
                  <a:prstClr val="white"/>
                </a:solidFill>
                <a:effectLst/>
                <a:uLnTx/>
                <a:uFillTx/>
                <a:latin typeface="Segoe Sans Display" pitchFamily="2" charset="0"/>
                <a:cs typeface="Segoe Sans Display" pitchFamily="2" charset="0"/>
              </a:defRPr>
            </a:lvl1pPr>
          </a:lstStyle>
          <a:p>
            <a:pPr defTabSz="279624"/>
            <a:r>
              <a:rPr lang="en-US" sz="2936" b="1" spc="-31">
                <a:latin typeface="Segoe Sans Display Semibold" pitchFamily="2" charset="0"/>
                <a:cs typeface="Segoe Sans Display Semibold" pitchFamily="2" charset="0"/>
              </a:rPr>
              <a:t>take the backseat. </a:t>
            </a:r>
          </a:p>
        </p:txBody>
      </p:sp>
      <p:sp>
        <p:nvSpPr>
          <p:cNvPr id="9" name="Headline">
            <a:extLst>
              <a:ext uri="{FF2B5EF4-FFF2-40B4-BE49-F238E27FC236}">
                <a16:creationId xmlns:a16="http://schemas.microsoft.com/office/drawing/2014/main" id="{5CBCCE14-CE0A-9FAC-C51D-E004273A579F}"/>
              </a:ext>
            </a:extLst>
          </p:cNvPr>
          <p:cNvSpPr txBox="1"/>
          <p:nvPr/>
        </p:nvSpPr>
        <p:spPr>
          <a:xfrm>
            <a:off x="3205071" y="3318717"/>
            <a:ext cx="5781860" cy="451790"/>
          </a:xfrm>
          <a:prstGeom prst="rect">
            <a:avLst/>
          </a:prstGeom>
          <a:noFill/>
        </p:spPr>
        <p:txBody>
          <a:bodyPr wrap="square" lIns="0" tIns="0" rIns="0" bIns="0">
            <a:spAutoFit/>
          </a:bodyPr>
          <a:lstStyle>
            <a:defPPr>
              <a:defRPr lang="en-US"/>
            </a:defPPr>
            <a:lvl1pPr marR="0" lvl="0" indent="0" algn="ctr" fontAlgn="base">
              <a:lnSpc>
                <a:spcPct val="100000"/>
              </a:lnSpc>
              <a:spcBef>
                <a:spcPts val="0"/>
              </a:spcBef>
              <a:spcAft>
                <a:spcPts val="0"/>
              </a:spcAft>
              <a:buClrTx/>
              <a:buSzTx/>
              <a:buFontTx/>
              <a:buNone/>
              <a:tabLst/>
              <a:defRPr kumimoji="0" sz="4800" u="none" strike="noStrike" cap="none" spc="-50" normalizeH="0" baseline="0">
                <a:ln w="3175">
                  <a:noFill/>
                </a:ln>
                <a:solidFill>
                  <a:prstClr val="white"/>
                </a:solidFill>
                <a:effectLst/>
                <a:uLnTx/>
                <a:uFillTx/>
                <a:latin typeface="Segoe Sans Display" pitchFamily="2" charset="0"/>
                <a:cs typeface="Segoe Sans Display" pitchFamily="2" charset="0"/>
              </a:defRPr>
            </a:lvl1pPr>
          </a:lstStyle>
          <a:p>
            <a:pPr defTabSz="279624"/>
            <a:r>
              <a:rPr lang="en-US" sz="2936" b="1" spc="-31">
                <a:latin typeface="Segoe Sans Display Semibold" pitchFamily="2" charset="0"/>
                <a:cs typeface="Segoe Sans Display Semibold" pitchFamily="2" charset="0"/>
              </a:rPr>
              <a:t>Your business takes the front seat. </a:t>
            </a:r>
          </a:p>
        </p:txBody>
      </p:sp>
    </p:spTree>
    <p:extLst>
      <p:ext uri="{BB962C8B-B14F-4D97-AF65-F5344CB8AC3E}">
        <p14:creationId xmlns:p14="http://schemas.microsoft.com/office/powerpoint/2010/main" val="87454258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childTnLst>
                                </p:cTn>
                              </p:par>
                              <p:par>
                                <p:cTn id="8" presetID="42" presetClass="path" presetSubtype="0" decel="100000" fill="hold" grpId="1" nodeType="withEffect">
                                  <p:stCondLst>
                                    <p:cond delay="500"/>
                                  </p:stCondLst>
                                  <p:childTnLst>
                                    <p:animMotion origin="layout" path="M -1.81572E-7 0.03889 L -1.81572E-7 3.7037E-6 " pathEditMode="relative" rAng="0" ptsTypes="AA">
                                      <p:cBhvr>
                                        <p:cTn id="9" dur="1000" fill="hold"/>
                                        <p:tgtEl>
                                          <p:spTgt spid="9"/>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CE0D085-4768-FD80-AD57-EC2C96217977}"/>
              </a:ext>
            </a:extLst>
          </p:cNvPr>
          <p:cNvSpPr>
            <a:spLocks noGrp="1"/>
          </p:cNvSpPr>
          <p:nvPr>
            <p:ph type="body" sz="quarter" idx="10"/>
          </p:nvPr>
        </p:nvSpPr>
        <p:spPr>
          <a:xfrm>
            <a:off x="3137413" y="2367054"/>
            <a:ext cx="8489560" cy="1912479"/>
          </a:xfrm>
        </p:spPr>
        <p:txBody>
          <a:bodyPr/>
          <a:lstStyle/>
          <a:p>
            <a:r>
              <a:rPr lang="en-GB" dirty="0">
                <a:latin typeface="Segoe Sans Text Semibold" pitchFamily="2" charset="0"/>
                <a:cs typeface="Segoe Sans Text Semibold" pitchFamily="2" charset="0"/>
              </a:rPr>
              <a:t>Power Series Labs </a:t>
            </a:r>
          </a:p>
          <a:p>
            <a:endParaRPr lang="en-GB" sz="1650" i="1" dirty="0">
              <a:solidFill>
                <a:srgbClr val="00B0F0"/>
              </a:solidFill>
              <a:latin typeface="Segoe UI"/>
            </a:endParaRPr>
          </a:p>
          <a:p>
            <a:r>
              <a:rPr lang="en-US" sz="2400" i="1" dirty="0">
                <a:solidFill>
                  <a:srgbClr val="00B0F0"/>
                </a:solidFill>
                <a:latin typeface="Segoe Sans Text Semibold" pitchFamily="2" charset="0"/>
                <a:cs typeface="Segoe Sans Text Semibold" pitchFamily="2" charset="0"/>
              </a:rPr>
              <a:t>Automation Foundations</a:t>
            </a:r>
            <a:endParaRPr lang="en-GB" sz="2400" i="1" dirty="0">
              <a:solidFill>
                <a:srgbClr val="00B0F0"/>
              </a:solidFill>
              <a:latin typeface="Segoe Sans Text Semibold" pitchFamily="2" charset="0"/>
              <a:cs typeface="Segoe Sans Text Semibold" pitchFamily="2" charset="0"/>
            </a:endParaRPr>
          </a:p>
        </p:txBody>
      </p:sp>
      <p:pic>
        <p:nvPicPr>
          <p:cNvPr id="5" name="Picture 4" descr="The image depicts the Microsoft Power Platform logo, which features a green background with the Microsoft logo in white and a white circle in the center.&#10;&#10;AI-generated content may be incorrect.">
            <a:extLst>
              <a:ext uri="{FF2B5EF4-FFF2-40B4-BE49-F238E27FC236}">
                <a16:creationId xmlns:a16="http://schemas.microsoft.com/office/drawing/2014/main" id="{95FF5576-ABDF-6BED-5AF7-5BBA2AECAAA3}"/>
              </a:ext>
            </a:extLst>
          </p:cNvPr>
          <p:cNvPicPr>
            <a:picLocks noChangeAspect="1"/>
          </p:cNvPicPr>
          <p:nvPr/>
        </p:nvPicPr>
        <p:blipFill>
          <a:blip r:embed="rId3"/>
          <a:stretch>
            <a:fillRect/>
          </a:stretch>
        </p:blipFill>
        <p:spPr>
          <a:xfrm>
            <a:off x="9259957" y="5975927"/>
            <a:ext cx="2932043" cy="701158"/>
          </a:xfrm>
          <a:prstGeom prst="rect">
            <a:avLst/>
          </a:prstGeom>
        </p:spPr>
      </p:pic>
    </p:spTree>
    <p:extLst>
      <p:ext uri="{BB962C8B-B14F-4D97-AF65-F5344CB8AC3E}">
        <p14:creationId xmlns:p14="http://schemas.microsoft.com/office/powerpoint/2010/main" val="402943100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frame">
            <a:extLst>
              <a:ext uri="{FF2B5EF4-FFF2-40B4-BE49-F238E27FC236}">
                <a16:creationId xmlns:a16="http://schemas.microsoft.com/office/drawing/2014/main" id="{B2126AED-C8DB-2FD4-F908-DB22A7E5EB8B}"/>
              </a:ext>
            </a:extLst>
          </p:cNvPr>
          <p:cNvSpPr/>
          <p:nvPr/>
        </p:nvSpPr>
        <p:spPr>
          <a:xfrm>
            <a:off x="549273" y="4024467"/>
            <a:ext cx="1964933" cy="1976399"/>
          </a:xfrm>
          <a:prstGeom prst="roundRect">
            <a:avLst>
              <a:gd name="adj" fmla="val 4625"/>
            </a:avLst>
          </a:prstGeom>
          <a:solidFill>
            <a:srgbClr val="EEEEEE"/>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279624" rtl="0" eaLnBrk="1" fontAlgn="auto" latinLnBrk="0" hangingPunct="1">
              <a:lnSpc>
                <a:spcPct val="100000"/>
              </a:lnSpc>
              <a:spcBef>
                <a:spcPts val="0"/>
              </a:spcBef>
              <a:spcAft>
                <a:spcPts val="734"/>
              </a:spcAft>
              <a:buClrTx/>
              <a:buSzTx/>
              <a:buFontTx/>
              <a:buNone/>
              <a:tabLst/>
              <a:defRPr/>
            </a:pPr>
            <a:r>
              <a:rPr kumimoji="0" lang="en-US" sz="1468" b="1" i="0" u="none" strike="noStrike" kern="1200" cap="none" spc="-31" normalizeH="0" baseline="0" noProof="0">
                <a:ln>
                  <a:noFill/>
                </a:ln>
                <a:solidFill>
                  <a:srgbClr val="091F2C"/>
                </a:solidFill>
                <a:effectLst/>
                <a:uLnTx/>
                <a:uFillTx/>
                <a:latin typeface="Segoe UI Semibold" panose="020B0502040204020203" pitchFamily="34" charset="0"/>
                <a:ea typeface="+mn-ea"/>
                <a:cs typeface="Segoe UI Semibold" panose="020B0502040204020203" pitchFamily="34" charset="0"/>
              </a:rPr>
              <a:t>Digitize Internal Operations</a:t>
            </a:r>
          </a:p>
          <a:p>
            <a:pPr marL="0" marR="0" lvl="0" indent="0" algn="ctr" defTabSz="279624" rtl="0" eaLnBrk="1" fontAlgn="auto" latinLnBrk="0" hangingPunct="1">
              <a:lnSpc>
                <a:spcPct val="100000"/>
              </a:lnSpc>
              <a:spcBef>
                <a:spcPts val="0"/>
              </a:spcBef>
              <a:spcAft>
                <a:spcPts val="734"/>
              </a:spcAft>
              <a:buClrTx/>
              <a:buSzTx/>
              <a:buFontTx/>
              <a:buNone/>
              <a:tabLst/>
              <a:defRPr/>
            </a:pPr>
            <a:r>
              <a:rPr kumimoji="0" lang="en-US" sz="856"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Replace manual work with focused apps and connected data</a:t>
            </a:r>
          </a:p>
        </p:txBody>
      </p:sp>
      <p:pic>
        <p:nvPicPr>
          <p:cNvPr id="4" name="Picture 3" descr="The image features a minimalist design with four multicolored, cubic shapes in shades of purple, blue, and white.&#10;&#10;AI-generated content may be incorrect.">
            <a:extLst>
              <a:ext uri="{FF2B5EF4-FFF2-40B4-BE49-F238E27FC236}">
                <a16:creationId xmlns:a16="http://schemas.microsoft.com/office/drawing/2014/main" id="{E0C8FF59-071C-978C-25EB-ED6F8B6A0CAB}"/>
              </a:ext>
            </a:extLst>
          </p:cNvPr>
          <p:cNvPicPr>
            <a:picLocks noChangeAspect="1"/>
          </p:cNvPicPr>
          <p:nvPr/>
        </p:nvPicPr>
        <p:blipFill>
          <a:blip r:embed="rId2"/>
          <a:stretch>
            <a:fillRect/>
          </a:stretch>
        </p:blipFill>
        <p:spPr>
          <a:xfrm>
            <a:off x="198723" y="331438"/>
            <a:ext cx="701101" cy="739204"/>
          </a:xfrm>
          <a:prstGeom prst="rect">
            <a:avLst/>
          </a:prstGeom>
        </p:spPr>
      </p:pic>
      <p:sp>
        <p:nvSpPr>
          <p:cNvPr id="5" name="Title 4">
            <a:extLst>
              <a:ext uri="{FF2B5EF4-FFF2-40B4-BE49-F238E27FC236}">
                <a16:creationId xmlns:a16="http://schemas.microsoft.com/office/drawing/2014/main" id="{27E50399-8254-7423-42AB-B7E9BE578B52}"/>
              </a:ext>
            </a:extLst>
          </p:cNvPr>
          <p:cNvSpPr>
            <a:spLocks noGrp="1"/>
          </p:cNvSpPr>
          <p:nvPr>
            <p:ph type="title"/>
          </p:nvPr>
        </p:nvSpPr>
        <p:spPr>
          <a:xfrm>
            <a:off x="1001855" y="472440"/>
            <a:ext cx="11089218" cy="457200"/>
          </a:xfrm>
        </p:spPr>
        <p:txBody>
          <a:bodyPr/>
          <a:lstStyle/>
          <a:p>
            <a:r>
              <a:rPr lang="en-US"/>
              <a:t>The Power Series</a:t>
            </a:r>
          </a:p>
        </p:txBody>
      </p:sp>
      <p:pic>
        <p:nvPicPr>
          <p:cNvPr id="8" name="Picture 7">
            <a:extLst>
              <a:ext uri="{FF2B5EF4-FFF2-40B4-BE49-F238E27FC236}">
                <a16:creationId xmlns:a16="http://schemas.microsoft.com/office/drawing/2014/main" id="{FEC5234F-8EAE-23B3-FC28-96854F3940DD}"/>
              </a:ext>
            </a:extLst>
          </p:cNvPr>
          <p:cNvPicPr>
            <a:picLocks noChangeAspect="1"/>
          </p:cNvPicPr>
          <p:nvPr/>
        </p:nvPicPr>
        <p:blipFill>
          <a:blip r:embed="rId3"/>
          <a:stretch>
            <a:fillRect/>
          </a:stretch>
        </p:blipFill>
        <p:spPr>
          <a:xfrm>
            <a:off x="11116855" y="295747"/>
            <a:ext cx="876422" cy="342948"/>
          </a:xfrm>
          <a:prstGeom prst="rect">
            <a:avLst/>
          </a:prstGeom>
        </p:spPr>
      </p:pic>
      <p:sp>
        <p:nvSpPr>
          <p:cNvPr id="10" name="TextBox 9">
            <a:extLst>
              <a:ext uri="{FF2B5EF4-FFF2-40B4-BE49-F238E27FC236}">
                <a16:creationId xmlns:a16="http://schemas.microsoft.com/office/drawing/2014/main" id="{82500312-017D-6588-9321-25FEED705E0F}"/>
              </a:ext>
            </a:extLst>
          </p:cNvPr>
          <p:cNvSpPr txBox="1"/>
          <p:nvPr/>
        </p:nvSpPr>
        <p:spPr>
          <a:xfrm>
            <a:off x="549273" y="1247335"/>
            <a:ext cx="11444004" cy="1990801"/>
          </a:xfrm>
          <a:prstGeom prst="rect">
            <a:avLst/>
          </a:prstGeom>
          <a:noFill/>
        </p:spPr>
        <p:txBody>
          <a:bodyPr wrap="square">
            <a:spAutoFit/>
          </a:bodyPr>
          <a:lstStyle/>
          <a:p>
            <a:pPr marL="0" marR="0" indent="0" algn="l">
              <a:lnSpc>
                <a:spcPct val="120000"/>
              </a:lnSpc>
              <a:spcBef>
                <a:spcPts val="600"/>
              </a:spcBef>
              <a:buNone/>
            </a:pPr>
            <a:r>
              <a:rPr lang="en-US" sz="2800" b="1" spc="-61">
                <a:ln w="3175">
                  <a:noFill/>
                </a:ln>
                <a:gradFill flip="none" rotWithShape="1">
                  <a:gsLst>
                    <a:gs pos="70000">
                      <a:srgbClr val="016BEB"/>
                    </a:gs>
                    <a:gs pos="50000">
                      <a:srgbClr val="CF43A2"/>
                    </a:gs>
                    <a:gs pos="40000">
                      <a:srgbClr val="F09F52"/>
                    </a:gs>
                  </a:gsLst>
                  <a:path path="circle">
                    <a:fillToRect l="100000" t="100000"/>
                  </a:path>
                  <a:tileRect r="-100000" b="-100000"/>
                </a:gradFill>
                <a:latin typeface="Segoe Sans Display Semibold" pitchFamily="2" charset="0"/>
                <a:cs typeface="Segoe Sans Display Semibold" pitchFamily="2" charset="0"/>
              </a:rPr>
              <a:t>One Catalog. Five Tracks. Endless Possibilities.</a:t>
            </a:r>
          </a:p>
          <a:p>
            <a:pPr marL="0" marR="0" indent="0" algn="l">
              <a:lnSpc>
                <a:spcPct val="120000"/>
              </a:lnSpc>
              <a:spcBef>
                <a:spcPts val="600"/>
              </a:spcBef>
              <a:buNone/>
            </a:pPr>
            <a:r>
              <a:rPr lang="en-US" sz="1800" b="1" i="0">
                <a:solidFill>
                  <a:schemeClr val="tx1"/>
                </a:solidFill>
                <a:effectLst/>
                <a:latin typeface="+mn-lt"/>
              </a:rPr>
              <a:t>Let your business need shape the solution.</a:t>
            </a:r>
            <a:r>
              <a:rPr lang="en-US" sz="1800" b="0" i="0">
                <a:solidFill>
                  <a:schemeClr val="tx1"/>
                </a:solidFill>
                <a:effectLst/>
                <a:latin typeface="+mn-lt"/>
              </a:rPr>
              <a:t> </a:t>
            </a:r>
          </a:p>
          <a:p>
            <a:pPr marL="0" marR="0" indent="0" algn="l">
              <a:lnSpc>
                <a:spcPct val="100000"/>
              </a:lnSpc>
              <a:spcBef>
                <a:spcPts val="1050"/>
              </a:spcBef>
              <a:buNone/>
            </a:pPr>
            <a:r>
              <a:rPr lang="en-US" sz="1800" b="0" i="0">
                <a:solidFill>
                  <a:schemeClr val="tx1"/>
                </a:solidFill>
                <a:effectLst/>
                <a:latin typeface="+mn-lt"/>
              </a:rPr>
              <a:t>The Power Series gets you hands-on with every Power Platform capability, so you design the right solution for any business process – one or more apps, automations and agents, working together on a governed foundation. Run a track end to end, or pick the modules that fit your scenario, audience and skill level.</a:t>
            </a:r>
            <a:endParaRPr lang="en-US" sz="975" b="0" i="0">
              <a:solidFill>
                <a:srgbClr val="16243A"/>
              </a:solidFill>
              <a:effectLst/>
              <a:latin typeface="Segoe UI" panose="020B0502040204020203" pitchFamily="34" charset="0"/>
            </a:endParaRPr>
          </a:p>
        </p:txBody>
      </p:sp>
      <p:sp>
        <p:nvSpPr>
          <p:cNvPr id="71" name="frame">
            <a:extLst>
              <a:ext uri="{FF2B5EF4-FFF2-40B4-BE49-F238E27FC236}">
                <a16:creationId xmlns:a16="http://schemas.microsoft.com/office/drawing/2014/main" id="{EE5F846B-2451-9D46-9C55-2DD15C1B5969}"/>
              </a:ext>
            </a:extLst>
          </p:cNvPr>
          <p:cNvSpPr/>
          <p:nvPr/>
        </p:nvSpPr>
        <p:spPr>
          <a:xfrm>
            <a:off x="2826035" y="4024467"/>
            <a:ext cx="1964933" cy="1976399"/>
          </a:xfrm>
          <a:prstGeom prst="roundRect">
            <a:avLst>
              <a:gd name="adj" fmla="val 4625"/>
            </a:avLst>
          </a:prstGeom>
          <a:solidFill>
            <a:srgbClr val="EEEEEE"/>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279624" rtl="0" eaLnBrk="1" fontAlgn="auto" latinLnBrk="0" hangingPunct="1">
              <a:lnSpc>
                <a:spcPct val="100000"/>
              </a:lnSpc>
              <a:spcBef>
                <a:spcPts val="0"/>
              </a:spcBef>
              <a:spcAft>
                <a:spcPts val="734"/>
              </a:spcAft>
              <a:buClrTx/>
              <a:buSzTx/>
              <a:buFontTx/>
              <a:buNone/>
              <a:tabLst/>
              <a:defRPr/>
            </a:pPr>
            <a:r>
              <a:rPr kumimoji="0" lang="en-US" sz="1468" b="1" i="0" u="none" strike="noStrike" kern="1200" cap="none" spc="-31" normalizeH="0" baseline="0" noProof="0">
                <a:ln>
                  <a:noFill/>
                </a:ln>
                <a:solidFill>
                  <a:srgbClr val="091F2C"/>
                </a:solidFill>
                <a:effectLst/>
                <a:uLnTx/>
                <a:uFillTx/>
                <a:latin typeface="Segoe UI Semibold" panose="020B0502040204020203" pitchFamily="34" charset="0"/>
                <a:ea typeface="+mn-ea"/>
                <a:cs typeface="Segoe UI Semibold" panose="020B0502040204020203" pitchFamily="34" charset="0"/>
              </a:rPr>
              <a:t>Automate workflows and processes</a:t>
            </a:r>
          </a:p>
          <a:p>
            <a:pPr marL="0" marR="0" lvl="0" indent="0" algn="ctr" defTabSz="279624" rtl="0" eaLnBrk="1" fontAlgn="auto" latinLnBrk="0" hangingPunct="1">
              <a:lnSpc>
                <a:spcPct val="100000"/>
              </a:lnSpc>
              <a:spcBef>
                <a:spcPts val="0"/>
              </a:spcBef>
              <a:spcAft>
                <a:spcPts val="734"/>
              </a:spcAft>
              <a:buClrTx/>
              <a:buSzTx/>
              <a:buFontTx/>
              <a:buNone/>
              <a:tabLst/>
              <a:defRPr/>
            </a:pPr>
            <a:r>
              <a:rPr kumimoji="0" lang="en-US" sz="856"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Reduce repetitive work with automation, approvals, and AI</a:t>
            </a:r>
          </a:p>
        </p:txBody>
      </p:sp>
      <p:sp>
        <p:nvSpPr>
          <p:cNvPr id="73" name="frame">
            <a:extLst>
              <a:ext uri="{FF2B5EF4-FFF2-40B4-BE49-F238E27FC236}">
                <a16:creationId xmlns:a16="http://schemas.microsoft.com/office/drawing/2014/main" id="{58B68F7A-B7FE-1526-FF4F-A6E15C8143B1}"/>
              </a:ext>
            </a:extLst>
          </p:cNvPr>
          <p:cNvSpPr/>
          <p:nvPr/>
        </p:nvSpPr>
        <p:spPr>
          <a:xfrm>
            <a:off x="5102797" y="4024466"/>
            <a:ext cx="1964933" cy="1976399"/>
          </a:xfrm>
          <a:prstGeom prst="roundRect">
            <a:avLst>
              <a:gd name="adj" fmla="val 4625"/>
            </a:avLst>
          </a:prstGeom>
          <a:solidFill>
            <a:srgbClr val="EEEEEE"/>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279624" rtl="0" eaLnBrk="1" fontAlgn="auto" latinLnBrk="0" hangingPunct="1">
              <a:lnSpc>
                <a:spcPct val="100000"/>
              </a:lnSpc>
              <a:spcBef>
                <a:spcPts val="0"/>
              </a:spcBef>
              <a:spcAft>
                <a:spcPts val="734"/>
              </a:spcAft>
              <a:buClrTx/>
              <a:buSzTx/>
              <a:buFontTx/>
              <a:buNone/>
              <a:tabLst/>
              <a:defRPr/>
            </a:pPr>
            <a:r>
              <a:rPr kumimoji="0" lang="en-US" sz="1468" b="1" i="0" u="none" strike="noStrike" kern="1200" cap="none" spc="-31" normalizeH="0" baseline="0" noProof="0">
                <a:ln>
                  <a:noFill/>
                </a:ln>
                <a:solidFill>
                  <a:srgbClr val="091F2C"/>
                </a:solidFill>
                <a:effectLst/>
                <a:uLnTx/>
                <a:uFillTx/>
                <a:latin typeface="Segoe UI Semibold" panose="020B0502040204020203" pitchFamily="34" charset="0"/>
                <a:ea typeface="+mn-ea"/>
                <a:cs typeface="Segoe UI Semibold" panose="020B0502040204020203" pitchFamily="34" charset="0"/>
              </a:rPr>
              <a:t>Improve customer interactions</a:t>
            </a:r>
          </a:p>
          <a:p>
            <a:pPr marL="0" marR="0" lvl="0" indent="0" algn="ctr" defTabSz="279624" rtl="0" eaLnBrk="1" fontAlgn="auto" latinLnBrk="0" hangingPunct="1">
              <a:lnSpc>
                <a:spcPct val="100000"/>
              </a:lnSpc>
              <a:spcBef>
                <a:spcPts val="0"/>
              </a:spcBef>
              <a:spcAft>
                <a:spcPts val="734"/>
              </a:spcAft>
              <a:buClrTx/>
              <a:buSzTx/>
              <a:buFontTx/>
              <a:buNone/>
              <a:tabLst/>
              <a:defRPr/>
            </a:pPr>
            <a:r>
              <a:rPr kumimoji="0" lang="en-US" sz="856"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Create secure experiences for customers, partners and communities</a:t>
            </a:r>
          </a:p>
        </p:txBody>
      </p:sp>
      <p:sp>
        <p:nvSpPr>
          <p:cNvPr id="75" name="frame">
            <a:extLst>
              <a:ext uri="{FF2B5EF4-FFF2-40B4-BE49-F238E27FC236}">
                <a16:creationId xmlns:a16="http://schemas.microsoft.com/office/drawing/2014/main" id="{1B0F637B-A162-9991-5355-E0841F96FC56}"/>
              </a:ext>
            </a:extLst>
          </p:cNvPr>
          <p:cNvSpPr/>
          <p:nvPr/>
        </p:nvSpPr>
        <p:spPr>
          <a:xfrm>
            <a:off x="7379562" y="4024466"/>
            <a:ext cx="1964933" cy="1976399"/>
          </a:xfrm>
          <a:prstGeom prst="roundRect">
            <a:avLst>
              <a:gd name="adj" fmla="val 4625"/>
            </a:avLst>
          </a:prstGeom>
          <a:solidFill>
            <a:srgbClr val="EEEEEE"/>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279624" rtl="0" eaLnBrk="1" fontAlgn="auto" latinLnBrk="0" hangingPunct="1">
              <a:lnSpc>
                <a:spcPct val="100000"/>
              </a:lnSpc>
              <a:spcBef>
                <a:spcPts val="0"/>
              </a:spcBef>
              <a:spcAft>
                <a:spcPts val="734"/>
              </a:spcAft>
              <a:buClrTx/>
              <a:buSzTx/>
              <a:buFontTx/>
              <a:buNone/>
              <a:tabLst/>
              <a:defRPr/>
            </a:pPr>
            <a:r>
              <a:rPr kumimoji="0" lang="en-US" sz="1468" b="1" i="0" u="none" strike="noStrike" kern="1200" cap="none" spc="-31" normalizeH="0" baseline="0" noProof="0">
                <a:ln>
                  <a:noFill/>
                </a:ln>
                <a:solidFill>
                  <a:srgbClr val="091F2C"/>
                </a:solidFill>
                <a:effectLst/>
                <a:uLnTx/>
                <a:uFillTx/>
                <a:latin typeface="Segoe UI Semibold" panose="020B0502040204020203" pitchFamily="34" charset="0"/>
                <a:ea typeface="+mn-ea"/>
                <a:cs typeface="Segoe UI Semibold" panose="020B0502040204020203" pitchFamily="34" charset="0"/>
              </a:rPr>
              <a:t>Modernize existing applications</a:t>
            </a:r>
          </a:p>
          <a:p>
            <a:pPr marL="0" marR="0" lvl="0" indent="0" algn="ctr" defTabSz="279624" rtl="0" eaLnBrk="1" fontAlgn="auto" latinLnBrk="0" hangingPunct="1">
              <a:lnSpc>
                <a:spcPct val="100000"/>
              </a:lnSpc>
              <a:spcBef>
                <a:spcPts val="0"/>
              </a:spcBef>
              <a:spcAft>
                <a:spcPts val="734"/>
              </a:spcAft>
              <a:buClrTx/>
              <a:buSzTx/>
              <a:buFontTx/>
              <a:buNone/>
              <a:tabLst/>
              <a:defRPr/>
            </a:pPr>
            <a:r>
              <a:rPr kumimoji="0" lang="en-US" sz="856"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Evolve legacy solutions with modern apps, automation, and AI</a:t>
            </a:r>
          </a:p>
          <a:p>
            <a:pPr marL="0" marR="0" lvl="0" indent="0" algn="ctr" defTabSz="279624" rtl="0" eaLnBrk="1" fontAlgn="auto" latinLnBrk="0" hangingPunct="1">
              <a:lnSpc>
                <a:spcPct val="100000"/>
              </a:lnSpc>
              <a:spcBef>
                <a:spcPts val="0"/>
              </a:spcBef>
              <a:spcAft>
                <a:spcPts val="734"/>
              </a:spcAft>
              <a:buClrTx/>
              <a:buSzTx/>
              <a:buFontTx/>
              <a:buNone/>
              <a:tabLst/>
              <a:defRPr/>
            </a:pPr>
            <a:endParaRPr kumimoji="0" lang="en-US" sz="856"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77" name="frame">
            <a:extLst>
              <a:ext uri="{FF2B5EF4-FFF2-40B4-BE49-F238E27FC236}">
                <a16:creationId xmlns:a16="http://schemas.microsoft.com/office/drawing/2014/main" id="{9690D83D-C335-EC9D-34A9-B3B519B8A341}"/>
              </a:ext>
            </a:extLst>
          </p:cNvPr>
          <p:cNvSpPr/>
          <p:nvPr/>
        </p:nvSpPr>
        <p:spPr>
          <a:xfrm>
            <a:off x="9656324" y="4024466"/>
            <a:ext cx="1964933" cy="1976399"/>
          </a:xfrm>
          <a:prstGeom prst="roundRect">
            <a:avLst>
              <a:gd name="adj" fmla="val 4625"/>
            </a:avLst>
          </a:prstGeom>
          <a:solidFill>
            <a:srgbClr val="EEEEEE"/>
          </a:solidFill>
          <a:ln w="19050">
            <a:gradFill flip="none" rotWithShape="1">
              <a:gsLst>
                <a:gs pos="70000">
                  <a:srgbClr val="016BEB"/>
                </a:gs>
                <a:gs pos="30000">
                  <a:srgbClr val="CF43A2"/>
                </a:gs>
                <a:gs pos="0">
                  <a:srgbClr val="F09F52"/>
                </a:gs>
              </a:gsLst>
              <a:path path="circle">
                <a:fillToRect l="100000" t="100000"/>
              </a:path>
              <a:tileRect r="-100000" b="-100000"/>
            </a:gradFill>
          </a:ln>
          <a:effectLst>
            <a:outerShdw blurRad="203200" dist="1016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279624" rtl="0" eaLnBrk="1" fontAlgn="auto" latinLnBrk="0" hangingPunct="1">
              <a:lnSpc>
                <a:spcPct val="100000"/>
              </a:lnSpc>
              <a:spcBef>
                <a:spcPts val="0"/>
              </a:spcBef>
              <a:spcAft>
                <a:spcPts val="734"/>
              </a:spcAft>
              <a:buClrTx/>
              <a:buSzTx/>
              <a:buFontTx/>
              <a:buNone/>
              <a:tabLst/>
              <a:defRPr/>
            </a:pPr>
            <a:r>
              <a:rPr kumimoji="0" lang="en-US" sz="1468" b="1" i="0" u="none" strike="noStrike" kern="1200" cap="none" spc="-31" normalizeH="0" baseline="0" noProof="0">
                <a:ln>
                  <a:noFill/>
                </a:ln>
                <a:solidFill>
                  <a:srgbClr val="091F2C"/>
                </a:solidFill>
                <a:effectLst/>
                <a:uLnTx/>
                <a:uFillTx/>
                <a:latin typeface="Segoe UI Semibold" panose="020B0502040204020203" pitchFamily="34" charset="0"/>
                <a:ea typeface="+mn-ea"/>
                <a:cs typeface="Segoe UI Semibold" panose="020B0502040204020203" pitchFamily="34" charset="0"/>
              </a:rPr>
              <a:t>Strengthen governance and security</a:t>
            </a:r>
          </a:p>
          <a:p>
            <a:pPr marL="0" marR="0" lvl="0" indent="0" algn="ctr" defTabSz="279624" rtl="0" eaLnBrk="1" fontAlgn="auto" latinLnBrk="0" hangingPunct="1">
              <a:lnSpc>
                <a:spcPct val="100000"/>
              </a:lnSpc>
              <a:spcBef>
                <a:spcPts val="0"/>
              </a:spcBef>
              <a:spcAft>
                <a:spcPts val="734"/>
              </a:spcAft>
              <a:buClrTx/>
              <a:buSzTx/>
              <a:buFontTx/>
              <a:buNone/>
              <a:tabLst/>
              <a:defRPr/>
            </a:pPr>
            <a:r>
              <a:rPr kumimoji="0" lang="en-US" sz="856"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Apply guardrails, visibility, and control across the platform</a:t>
            </a:r>
          </a:p>
        </p:txBody>
      </p:sp>
    </p:spTree>
    <p:extLst>
      <p:ext uri="{BB962C8B-B14F-4D97-AF65-F5344CB8AC3E}">
        <p14:creationId xmlns:p14="http://schemas.microsoft.com/office/powerpoint/2010/main" val="225241492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A035A-B250-9C17-BF43-72251BE29A8F}"/>
              </a:ext>
            </a:extLst>
          </p:cNvPr>
          <p:cNvSpPr txBox="1">
            <a:spLocks/>
          </p:cNvSpPr>
          <p:nvPr/>
        </p:nvSpPr>
        <p:spPr>
          <a:xfrm>
            <a:off x="126097" y="1679259"/>
            <a:ext cx="12192000" cy="1651000"/>
          </a:xfrm>
          <a:prstGeom prst="rect">
            <a:avLst/>
          </a:prstGeom>
        </p:spPr>
        <p:txBody>
          <a:bodyPr anchor="ctr"/>
          <a:lstStyle>
            <a:lvl1pPr algn="l" defTabSz="914400" rtl="0" eaLnBrk="1" latinLnBrk="0" hangingPunct="1">
              <a:lnSpc>
                <a:spcPct val="90000"/>
              </a:lnSpc>
              <a:spcBef>
                <a:spcPct val="0"/>
              </a:spcBef>
              <a:buNone/>
              <a:defRPr sz="4200" b="1" i="0" kern="1200" spc="-70" baseline="0">
                <a:solidFill>
                  <a:schemeClr val="tx1"/>
                </a:solidFill>
                <a:latin typeface="Segoe Sans Display Semibold" pitchFamily="2" charset="0"/>
                <a:ea typeface="+mj-ea"/>
                <a:cs typeface="Segoe Sans Display Semibold" pitchFamily="2" charset="0"/>
              </a:defRPr>
            </a:lvl1pPr>
          </a:lstStyle>
          <a:p>
            <a:pPr algn="ctr">
              <a:lnSpc>
                <a:spcPct val="150000"/>
              </a:lnSpc>
            </a:pPr>
            <a:r>
              <a:rPr lang="en-GB" sz="3200" dirty="0">
                <a:latin typeface="Segoe Sans Text Semibold" pitchFamily="2" charset="0"/>
                <a:cs typeface="Segoe Sans Text Semibold" pitchFamily="2" charset="0"/>
              </a:rPr>
              <a:t>Lab: </a:t>
            </a:r>
            <a:r>
              <a:rPr lang="en-US" sz="3200" dirty="0">
                <a:latin typeface="Segoe Sans Text Semibold" pitchFamily="2" charset="0"/>
                <a:cs typeface="Segoe Sans Text Semibold" pitchFamily="2" charset="0"/>
              </a:rPr>
              <a:t>Automation Foundations</a:t>
            </a:r>
          </a:p>
        </p:txBody>
      </p:sp>
      <p:pic>
        <p:nvPicPr>
          <p:cNvPr id="3" name="Picture 2" descr="The image features a minimalist design with four multicolored, cubic shapes in shades of purple, blue, and white.&#10;&#10;AI-generated content may be incorrect.">
            <a:extLst>
              <a:ext uri="{FF2B5EF4-FFF2-40B4-BE49-F238E27FC236}">
                <a16:creationId xmlns:a16="http://schemas.microsoft.com/office/drawing/2014/main" id="{2C116654-D4C8-B40B-C6A8-9F482C4566C2}"/>
              </a:ext>
            </a:extLst>
          </p:cNvPr>
          <p:cNvPicPr>
            <a:picLocks noChangeAspect="1"/>
          </p:cNvPicPr>
          <p:nvPr/>
        </p:nvPicPr>
        <p:blipFill>
          <a:blip r:embed="rId2"/>
          <a:stretch>
            <a:fillRect/>
          </a:stretch>
        </p:blipFill>
        <p:spPr>
          <a:xfrm>
            <a:off x="198723" y="331438"/>
            <a:ext cx="701101" cy="739204"/>
          </a:xfrm>
          <a:prstGeom prst="rect">
            <a:avLst/>
          </a:prstGeom>
        </p:spPr>
      </p:pic>
      <p:sp>
        <p:nvSpPr>
          <p:cNvPr id="4" name="Title 4">
            <a:extLst>
              <a:ext uri="{FF2B5EF4-FFF2-40B4-BE49-F238E27FC236}">
                <a16:creationId xmlns:a16="http://schemas.microsoft.com/office/drawing/2014/main" id="{1EF7932E-8AB5-09F7-B8EE-E920100D05A1}"/>
              </a:ext>
            </a:extLst>
          </p:cNvPr>
          <p:cNvSpPr txBox="1">
            <a:spLocks/>
          </p:cNvSpPr>
          <p:nvPr/>
        </p:nvSpPr>
        <p:spPr>
          <a:xfrm>
            <a:off x="1001855" y="472440"/>
            <a:ext cx="11089218" cy="457200"/>
          </a:xfrm>
          <a:prstGeom prst="rect">
            <a:avLst/>
          </a:prstGeom>
        </p:spPr>
        <p:txBody>
          <a:bodyPr/>
          <a:lstStyle>
            <a:lvl1pPr algn="l" defTabSz="914400" rtl="0" eaLnBrk="1" latinLnBrk="0" hangingPunct="1">
              <a:lnSpc>
                <a:spcPct val="90000"/>
              </a:lnSpc>
              <a:spcBef>
                <a:spcPct val="0"/>
              </a:spcBef>
              <a:buNone/>
              <a:defRPr sz="4200" b="1" i="0" kern="1200" spc="-70" baseline="0">
                <a:solidFill>
                  <a:schemeClr val="tx1"/>
                </a:solidFill>
                <a:latin typeface="Segoe Sans Display Semibold" pitchFamily="2" charset="0"/>
                <a:ea typeface="+mj-ea"/>
                <a:cs typeface="Segoe Sans Display Semibold" pitchFamily="2" charset="0"/>
              </a:defRPr>
            </a:lvl1pPr>
          </a:lstStyle>
          <a:p>
            <a:r>
              <a:rPr lang="en-US"/>
              <a:t>The Power Series</a:t>
            </a:r>
          </a:p>
        </p:txBody>
      </p:sp>
      <p:sp>
        <p:nvSpPr>
          <p:cNvPr id="10" name="TextBox 9">
            <a:extLst>
              <a:ext uri="{FF2B5EF4-FFF2-40B4-BE49-F238E27FC236}">
                <a16:creationId xmlns:a16="http://schemas.microsoft.com/office/drawing/2014/main" id="{FB02551C-C033-7F2A-F431-B61740DBFCD9}"/>
              </a:ext>
            </a:extLst>
          </p:cNvPr>
          <p:cNvSpPr txBox="1"/>
          <p:nvPr/>
        </p:nvSpPr>
        <p:spPr>
          <a:xfrm>
            <a:off x="1743775" y="3678261"/>
            <a:ext cx="9400475" cy="803233"/>
          </a:xfrm>
          <a:prstGeom prst="rect">
            <a:avLst/>
          </a:prstGeom>
          <a:noFill/>
        </p:spPr>
        <p:txBody>
          <a:bodyPr wrap="square">
            <a:spAutoFit/>
          </a:bodyPr>
          <a:lstStyle/>
          <a:p>
            <a:pPr marL="285750" indent="-285750">
              <a:lnSpc>
                <a:spcPct val="120000"/>
              </a:lnSpc>
              <a:spcBef>
                <a:spcPts val="600"/>
              </a:spcBef>
              <a:buFont typeface="Arial" panose="020B0604020202020204" pitchFamily="34" charset="0"/>
              <a:buChar char="•"/>
            </a:pPr>
            <a:r>
              <a:rPr lang="en-US" sz="1800" dirty="0">
                <a:latin typeface="+mj-lt"/>
                <a:cs typeface="Segoe UI"/>
              </a:rPr>
              <a:t>Create an automated cloud flow triggered by Dataverse events.</a:t>
            </a:r>
          </a:p>
          <a:p>
            <a:pPr marL="285750" indent="-285750">
              <a:lnSpc>
                <a:spcPct val="120000"/>
              </a:lnSpc>
              <a:spcBef>
                <a:spcPts val="600"/>
              </a:spcBef>
              <a:buFont typeface="Arial" panose="020B0604020202020204" pitchFamily="34" charset="0"/>
              <a:buChar char="•"/>
            </a:pPr>
            <a:r>
              <a:rPr lang="en-US" sz="1800" dirty="0">
                <a:latin typeface="+mj-lt"/>
                <a:cs typeface="Segoe UI"/>
              </a:rPr>
              <a:t>Build a conditional, multi-tier approval process that respects approval outcomes.</a:t>
            </a:r>
          </a:p>
        </p:txBody>
      </p:sp>
      <p:pic>
        <p:nvPicPr>
          <p:cNvPr id="7" name="Picture 6">
            <a:extLst>
              <a:ext uri="{FF2B5EF4-FFF2-40B4-BE49-F238E27FC236}">
                <a16:creationId xmlns:a16="http://schemas.microsoft.com/office/drawing/2014/main" id="{9ED2689D-18DC-D982-BA47-7628F8AB07E2}"/>
              </a:ext>
            </a:extLst>
          </p:cNvPr>
          <p:cNvPicPr>
            <a:picLocks noChangeAspect="1"/>
          </p:cNvPicPr>
          <p:nvPr/>
        </p:nvPicPr>
        <p:blipFill>
          <a:blip r:embed="rId3"/>
          <a:stretch>
            <a:fillRect/>
          </a:stretch>
        </p:blipFill>
        <p:spPr>
          <a:xfrm>
            <a:off x="11116855" y="295747"/>
            <a:ext cx="876422" cy="342948"/>
          </a:xfrm>
          <a:prstGeom prst="rect">
            <a:avLst/>
          </a:prstGeom>
        </p:spPr>
      </p:pic>
    </p:spTree>
    <p:extLst>
      <p:ext uri="{BB962C8B-B14F-4D97-AF65-F5344CB8AC3E}">
        <p14:creationId xmlns:p14="http://schemas.microsoft.com/office/powerpoint/2010/main" val="289762941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61665-5F42-3F93-CF60-4979A26B6C65}"/>
            </a:ext>
          </a:extLst>
        </p:cNvPr>
        <p:cNvGrpSpPr/>
        <p:nvPr/>
      </p:nvGrpSpPr>
      <p:grpSpPr>
        <a:xfrm>
          <a:off x="0" y="0"/>
          <a:ext cx="0" cy="0"/>
          <a:chOff x="0" y="0"/>
          <a:chExt cx="0" cy="0"/>
        </a:xfrm>
      </p:grpSpPr>
      <p:sp>
        <p:nvSpPr>
          <p:cNvPr id="2" name="Title 18">
            <a:extLst>
              <a:ext uri="{FF2B5EF4-FFF2-40B4-BE49-F238E27FC236}">
                <a16:creationId xmlns:a16="http://schemas.microsoft.com/office/drawing/2014/main" id="{C317DD45-A432-B650-6712-5FD7F3C514B7}"/>
              </a:ext>
            </a:extLst>
          </p:cNvPr>
          <p:cNvSpPr txBox="1">
            <a:spLocks/>
          </p:cNvSpPr>
          <p:nvPr/>
        </p:nvSpPr>
        <p:spPr>
          <a:xfrm>
            <a:off x="303053" y="340453"/>
            <a:ext cx="11777279" cy="646331"/>
          </a:xfrm>
          <a:prstGeom prst="rect">
            <a:avLst/>
          </a:prstGeom>
        </p:spPr>
        <p:txBody>
          <a:bodyPr vert="horz" wrap="square" lIns="0" tIns="0" rIns="0" bIns="0" rtlCol="0" anchor="b">
            <a:spAutoFit/>
          </a:bodyPr>
          <a:lstStyle>
            <a:lvl1pPr algn="l" defTabSz="932742" rtl="0" eaLnBrk="1" latinLnBrk="0" hangingPunct="1">
              <a:lnSpc>
                <a:spcPct val="100000"/>
              </a:lnSpc>
              <a:spcBef>
                <a:spcPct val="0"/>
              </a:spcBef>
              <a:buNone/>
              <a:defRPr lang="en-US" sz="2800" b="0" kern="1200" cap="none" spc="-50" baseline="0">
                <a:ln w="3175">
                  <a:noFill/>
                </a:ln>
                <a:solidFill>
                  <a:schemeClr val="tx1"/>
                </a:solidFill>
                <a:effectLst/>
                <a:latin typeface="+mj-lt"/>
                <a:ea typeface="+mn-ea"/>
                <a:cs typeface="Segoe UI" pitchFamily="34" charset="0"/>
              </a:defRPr>
            </a:lvl1pPr>
          </a:lstStyle>
          <a:p>
            <a:pPr defTabSz="2072553">
              <a:defRPr/>
            </a:pPr>
            <a:r>
              <a:rPr lang="en-GB" sz="4200" b="1" spc="-70" dirty="0">
                <a:solidFill>
                  <a:srgbClr val="000000"/>
                </a:solidFill>
                <a:latin typeface="Segoe UI Semibold"/>
                <a:ea typeface="+mj-ea"/>
                <a:cs typeface="Segoe Sans Display Semibold" pitchFamily="2" charset="0"/>
              </a:rPr>
              <a:t>The Modern Automation Spectrum</a:t>
            </a:r>
          </a:p>
        </p:txBody>
      </p:sp>
      <p:sp>
        <p:nvSpPr>
          <p:cNvPr id="16" name="Title 2">
            <a:extLst>
              <a:ext uri="{FF2B5EF4-FFF2-40B4-BE49-F238E27FC236}">
                <a16:creationId xmlns:a16="http://schemas.microsoft.com/office/drawing/2014/main" id="{6C3C28F8-8E55-AE9E-499B-5B9EFC74F3A9}"/>
              </a:ext>
            </a:extLst>
          </p:cNvPr>
          <p:cNvSpPr txBox="1">
            <a:spLocks/>
          </p:cNvSpPr>
          <p:nvPr/>
        </p:nvSpPr>
        <p:spPr>
          <a:xfrm>
            <a:off x="343810" y="1019443"/>
            <a:ext cx="9428480" cy="307777"/>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a:defRPr/>
            </a:pPr>
            <a:r>
              <a:rPr lang="en-GB" sz="2000" spc="-21" dirty="0">
                <a:latin typeface="Segoe Sans Display Semibold"/>
                <a:cs typeface="Segoe Sans Display Light" pitchFamily="2" charset="0"/>
              </a:rPr>
              <a:t>From </a:t>
            </a:r>
            <a:r>
              <a:rPr lang="en-GB" sz="2000" u="sng" spc="-21" dirty="0">
                <a:latin typeface="Segoe Sans Display Semibold"/>
                <a:cs typeface="Segoe Sans Display Light" pitchFamily="2" charset="0"/>
              </a:rPr>
              <a:t>structured</a:t>
            </a:r>
            <a:r>
              <a:rPr lang="en-GB" sz="2000" spc="-21" dirty="0">
                <a:latin typeface="Segoe Sans Display Semibold"/>
                <a:cs typeface="Segoe Sans Display Light" pitchFamily="2" charset="0"/>
              </a:rPr>
              <a:t>, deterministic workflows to </a:t>
            </a:r>
            <a:r>
              <a:rPr lang="en-GB" sz="2000" u="sng" spc="-21" dirty="0">
                <a:latin typeface="Segoe Sans Display Semibold"/>
                <a:cs typeface="Segoe Sans Display Light" pitchFamily="2" charset="0"/>
              </a:rPr>
              <a:t>adaptive</a:t>
            </a:r>
            <a:r>
              <a:rPr lang="en-GB" sz="2000" spc="-21" dirty="0">
                <a:latin typeface="Segoe Sans Display Semibold"/>
                <a:cs typeface="Segoe Sans Display Light" pitchFamily="2" charset="0"/>
              </a:rPr>
              <a:t>, agentic automations</a:t>
            </a:r>
          </a:p>
        </p:txBody>
      </p:sp>
      <p:grpSp>
        <p:nvGrpSpPr>
          <p:cNvPr id="40" name="Group 39">
            <a:extLst>
              <a:ext uri="{FF2B5EF4-FFF2-40B4-BE49-F238E27FC236}">
                <a16:creationId xmlns:a16="http://schemas.microsoft.com/office/drawing/2014/main" id="{92D409E4-E932-03AA-038F-D37AFDAB965C}"/>
              </a:ext>
            </a:extLst>
          </p:cNvPr>
          <p:cNvGrpSpPr/>
          <p:nvPr/>
        </p:nvGrpSpPr>
        <p:grpSpPr>
          <a:xfrm>
            <a:off x="3403600" y="1743148"/>
            <a:ext cx="2468880" cy="3554454"/>
            <a:chOff x="3373619" y="2078609"/>
            <a:chExt cx="2468880" cy="3554454"/>
          </a:xfrm>
        </p:grpSpPr>
        <p:sp>
          <p:nvSpPr>
            <p:cNvPr id="3" name="Rectangle: Rounded Corners 8">
              <a:extLst>
                <a:ext uri="{FF2B5EF4-FFF2-40B4-BE49-F238E27FC236}">
                  <a16:creationId xmlns:a16="http://schemas.microsoft.com/office/drawing/2014/main" id="{8C1F399D-1D67-CAFF-13AB-E8819D809D3B}"/>
                </a:ext>
              </a:extLst>
            </p:cNvPr>
            <p:cNvSpPr>
              <a:spLocks/>
            </p:cNvSpPr>
            <p:nvPr/>
          </p:nvSpPr>
          <p:spPr>
            <a:xfrm>
              <a:off x="3373619" y="2620107"/>
              <a:ext cx="2468880" cy="3012956"/>
            </a:xfrm>
            <a:prstGeom prst="roundRect">
              <a:avLst>
                <a:gd name="adj" fmla="val 8728"/>
              </a:avLst>
            </a:prstGeom>
            <a:solidFill>
              <a:schemeClr val="bg1">
                <a:lumMod val="75000"/>
                <a:alpha val="25000"/>
              </a:schemeClr>
            </a:solidFill>
            <a:ln w="19050" cap="flat" cmpd="sng" algn="ctr">
              <a:noFill/>
              <a:prstDash val="solid"/>
              <a:miter lim="800000"/>
            </a:ln>
            <a:effectLst>
              <a:outerShdw blurRad="381000" dist="723900" dir="8100000" algn="tr" rotWithShape="0">
                <a:prstClr val="black">
                  <a:alpha val="16000"/>
                </a:prstClr>
              </a:outerShdw>
            </a:effectLst>
          </p:spPr>
          <p:txBody>
            <a:bodyPr rtlCol="0" anchor="ctr"/>
            <a:lstStyle/>
            <a:p>
              <a:pPr marL="0" marR="0" lvl="0" indent="0" algn="ctr" defTabSz="268114"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prstClr val="white"/>
                </a:solidFill>
                <a:effectLst/>
                <a:uLnTx/>
                <a:uFillTx/>
                <a:latin typeface="Segoe Sans Display Semibold" pitchFamily="2" charset="0"/>
                <a:ea typeface="+mn-ea"/>
                <a:cs typeface="Segoe Sans Display Semibold" pitchFamily="2" charset="0"/>
              </a:endParaRPr>
            </a:p>
          </p:txBody>
        </p:sp>
        <p:sp>
          <p:nvSpPr>
            <p:cNvPr id="8" name="Rectangle 7">
              <a:extLst>
                <a:ext uri="{FF2B5EF4-FFF2-40B4-BE49-F238E27FC236}">
                  <a16:creationId xmlns:a16="http://schemas.microsoft.com/office/drawing/2014/main" id="{20450ECA-357D-84D4-0D18-92787A0D9578}"/>
                </a:ext>
              </a:extLst>
            </p:cNvPr>
            <p:cNvSpPr/>
            <p:nvPr/>
          </p:nvSpPr>
          <p:spPr>
            <a:xfrm>
              <a:off x="3574165" y="4179196"/>
              <a:ext cx="2161026" cy="714570"/>
            </a:xfrm>
            <a:prstGeom prst="rect">
              <a:avLst/>
            </a:prstGeom>
            <a:noFill/>
            <a:ln w="19050" cap="flat" cmpd="sng" algn="ctr">
              <a:noFill/>
              <a:prstDash val="solid"/>
              <a:miter lim="800000"/>
            </a:ln>
            <a:effectLst/>
          </p:spPr>
          <p:txBody>
            <a:bodyPr lIns="0" tIns="0" rIns="0" bIns="0" rtlCol="0" anchor="t"/>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effectLst/>
                  <a:uLnTx/>
                  <a:uFillTx/>
                  <a:latin typeface="Segoe Sans Display"/>
                  <a:ea typeface="+mn-ea"/>
                  <a:cs typeface="Segoe Sans Display Semilight" pitchFamily="2" charset="0"/>
                </a:rPr>
                <a:t>Step-by-step automations </a:t>
              </a:r>
              <a:r>
                <a:rPr lang="en-US" sz="1400" kern="0" dirty="0">
                  <a:latin typeface="Segoe Sans Display"/>
                  <a:cs typeface="Segoe Sans Display Semilight" pitchFamily="2" charset="0"/>
                </a:rPr>
                <a:t>infused</a:t>
              </a:r>
              <a:r>
                <a:rPr kumimoji="0" lang="en-US" sz="1400" b="0" i="0" u="none" strike="noStrike" kern="0" cap="none" spc="0" normalizeH="0" baseline="0" noProof="0" dirty="0">
                  <a:ln>
                    <a:noFill/>
                  </a:ln>
                  <a:effectLst/>
                  <a:uLnTx/>
                  <a:uFillTx/>
                  <a:latin typeface="Segoe Sans Display"/>
                  <a:ea typeface="+mn-ea"/>
                  <a:cs typeface="Segoe Sans Display Semilight" pitchFamily="2" charset="0"/>
                </a:rPr>
                <a:t> </a:t>
              </a:r>
              <a:r>
                <a:rPr kumimoji="0" lang="en-US" sz="1400" b="1" i="0" u="none" strike="noStrike" kern="0" cap="none" spc="0" normalizeH="0" baseline="0" noProof="0" dirty="0">
                  <a:ln>
                    <a:noFill/>
                  </a:ln>
                  <a:effectLst/>
                  <a:uLnTx/>
                  <a:uFillTx/>
                  <a:latin typeface="Segoe Sans Display"/>
                  <a:ea typeface="+mn-ea"/>
                  <a:cs typeface="Segoe Sans Display Semilight" pitchFamily="2" charset="0"/>
                </a:rPr>
                <a:t>with AI-powered actions </a:t>
              </a:r>
              <a:r>
                <a:rPr kumimoji="0" lang="en-US" sz="1400" b="0" i="0" u="none" strike="noStrike" kern="0" cap="none" spc="0" normalizeH="0" baseline="0" noProof="0" dirty="0">
                  <a:ln>
                    <a:noFill/>
                  </a:ln>
                  <a:effectLst/>
                  <a:uLnTx/>
                  <a:uFillTx/>
                  <a:latin typeface="Segoe Sans Display"/>
                  <a:ea typeface="+mn-ea"/>
                  <a:cs typeface="Segoe Sans Display Semilight" pitchFamily="2" charset="0"/>
                </a:rPr>
                <a:t>to handle more complex scenarios and </a:t>
              </a:r>
              <a:r>
                <a:rPr kumimoji="0" lang="en-US" sz="1400" b="1" i="0" u="none" strike="noStrike" kern="0" cap="none" spc="0" normalizeH="0" baseline="0" noProof="0" dirty="0">
                  <a:ln>
                    <a:noFill/>
                  </a:ln>
                  <a:effectLst/>
                  <a:uLnTx/>
                  <a:uFillTx/>
                  <a:latin typeface="Segoe Sans Display"/>
                  <a:ea typeface="+mn-ea"/>
                  <a:cs typeface="Segoe Sans Display Semilight" pitchFamily="2" charset="0"/>
                </a:rPr>
                <a:t>make basic decisions</a:t>
              </a:r>
              <a:r>
                <a:rPr kumimoji="0" lang="en-US" sz="1400" b="0" i="0" u="none" strike="noStrike" kern="0" cap="none" spc="0" normalizeH="0" baseline="0" noProof="0" dirty="0">
                  <a:ln>
                    <a:noFill/>
                  </a:ln>
                  <a:effectLst/>
                  <a:uLnTx/>
                  <a:uFillTx/>
                  <a:latin typeface="Segoe UI" panose="020B0502040204020203" pitchFamily="34" charset="0"/>
                  <a:ea typeface="+mn-ea"/>
                  <a:cs typeface="Segoe UI" panose="020B0502040204020203" pitchFamily="34" charset="0"/>
                </a:rPr>
                <a:t>.</a:t>
              </a:r>
            </a:p>
          </p:txBody>
        </p:sp>
        <p:sp>
          <p:nvSpPr>
            <p:cNvPr id="9" name="Text Placeholder 2">
              <a:extLst>
                <a:ext uri="{FF2B5EF4-FFF2-40B4-BE49-F238E27FC236}">
                  <a16:creationId xmlns:a16="http://schemas.microsoft.com/office/drawing/2014/main" id="{81A0F927-6406-D211-A479-53692ADAFDDB}"/>
                </a:ext>
              </a:extLst>
            </p:cNvPr>
            <p:cNvSpPr txBox="1">
              <a:spLocks/>
            </p:cNvSpPr>
            <p:nvPr/>
          </p:nvSpPr>
          <p:spPr>
            <a:xfrm>
              <a:off x="3574165" y="3427795"/>
              <a:ext cx="2161026" cy="509378"/>
            </a:xfrm>
            <a:prstGeom prst="roundRect">
              <a:avLst>
                <a:gd name="adj" fmla="val 50000"/>
              </a:avLst>
            </a:prstGeom>
            <a:solidFill>
              <a:schemeClr val="accent2"/>
            </a:solidFill>
            <a:ln w="19050" cap="flat" cmpd="sng" algn="ctr">
              <a:noFill/>
              <a:prstDash val="solid"/>
              <a:miter lim="800000"/>
            </a:ln>
            <a:effectLst>
              <a:outerShdw blurRad="419100" sx="102000" sy="102000" algn="ctr" rotWithShape="0">
                <a:prstClr val="black">
                  <a:alpha val="16000"/>
                </a:prstClr>
              </a:outerShdw>
            </a:effectLst>
          </p:spPr>
          <p:txBody>
            <a:bodyPr wrap="none" rtlCol="0" anchor="ctr"/>
            <a:lstStyle>
              <a:defPPr>
                <a:defRPr lang="en-US"/>
              </a:defPPr>
              <a:lvl1pPr algn="ctr" defTabSz="351371">
                <a:defRPr sz="4743" spc="-12">
                  <a:solidFill>
                    <a:srgbClr val="010632"/>
                  </a:solidFill>
                  <a:latin typeface="Segoe Sans Display Semibold" pitchFamily="2" charset="0"/>
                  <a:cs typeface="Segoe Sans Display Semi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351371" eaLnBrk="1" fontAlgn="auto" latinLnBrk="0" hangingPunct="1">
                <a:lnSpc>
                  <a:spcPct val="85000"/>
                </a:lnSpc>
                <a:spcBef>
                  <a:spcPts val="0"/>
                </a:spcBef>
                <a:spcAft>
                  <a:spcPts val="0"/>
                </a:spcAft>
                <a:buClrTx/>
                <a:buSzTx/>
                <a:buFontTx/>
                <a:buNone/>
                <a:tabLst/>
                <a:defRPr/>
              </a:pPr>
              <a:r>
                <a:rPr kumimoji="0" lang="en-GB" sz="1400" b="0" i="0" u="none" strike="noStrike" kern="0" cap="none" spc="-12" normalizeH="0" baseline="0" noProof="0" dirty="0">
                  <a:ln>
                    <a:noFill/>
                  </a:ln>
                  <a:solidFill>
                    <a:schemeClr val="bg1"/>
                  </a:solidFill>
                  <a:effectLst/>
                  <a:uLnTx/>
                  <a:uFillTx/>
                  <a:latin typeface="Segoe Sans Display Semibold" pitchFamily="2" charset="0"/>
                  <a:ea typeface="+mn-ea"/>
                  <a:cs typeface="Segoe Sans Display Semibold" pitchFamily="2" charset="0"/>
                </a:rPr>
                <a:t>AI-Enhanced</a:t>
              </a:r>
            </a:p>
            <a:p>
              <a:pPr marL="0" marR="0" lvl="0" indent="0" algn="ctr" defTabSz="351371" eaLnBrk="1" fontAlgn="auto" latinLnBrk="0" hangingPunct="1">
                <a:lnSpc>
                  <a:spcPct val="85000"/>
                </a:lnSpc>
                <a:spcBef>
                  <a:spcPts val="0"/>
                </a:spcBef>
                <a:spcAft>
                  <a:spcPts val="0"/>
                </a:spcAft>
                <a:buClrTx/>
                <a:buSzTx/>
                <a:buFontTx/>
                <a:buNone/>
                <a:tabLst/>
                <a:defRPr/>
              </a:pPr>
              <a:r>
                <a:rPr kumimoji="0" lang="en-GB" sz="1400" b="0" i="0" u="none" strike="noStrike" kern="0" cap="none" spc="-12" normalizeH="0" baseline="0" noProof="0" dirty="0">
                  <a:ln>
                    <a:noFill/>
                  </a:ln>
                  <a:solidFill>
                    <a:schemeClr val="bg1"/>
                  </a:solidFill>
                  <a:effectLst/>
                  <a:uLnTx/>
                  <a:uFillTx/>
                  <a:latin typeface="Segoe Sans Display Semibold" pitchFamily="2" charset="0"/>
                  <a:ea typeface="+mn-ea"/>
                  <a:cs typeface="Segoe Sans Display Semibold" pitchFamily="2" charset="0"/>
                </a:rPr>
                <a:t>Automation</a:t>
              </a:r>
            </a:p>
          </p:txBody>
        </p:sp>
        <p:grpSp>
          <p:nvGrpSpPr>
            <p:cNvPr id="22" name="Group 21">
              <a:extLst>
                <a:ext uri="{FF2B5EF4-FFF2-40B4-BE49-F238E27FC236}">
                  <a16:creationId xmlns:a16="http://schemas.microsoft.com/office/drawing/2014/main" id="{FDA6ACD2-59E5-0089-A9FA-AF3D5775B508}"/>
                </a:ext>
              </a:extLst>
            </p:cNvPr>
            <p:cNvGrpSpPr/>
            <p:nvPr/>
          </p:nvGrpSpPr>
          <p:grpSpPr>
            <a:xfrm>
              <a:off x="4090948" y="2078609"/>
              <a:ext cx="1127462" cy="1127736"/>
              <a:chOff x="3231991" y="2900094"/>
              <a:chExt cx="1127462" cy="1127736"/>
            </a:xfrm>
          </p:grpSpPr>
          <p:grpSp>
            <p:nvGrpSpPr>
              <p:cNvPr id="23" name="Group 22">
                <a:extLst>
                  <a:ext uri="{FF2B5EF4-FFF2-40B4-BE49-F238E27FC236}">
                    <a16:creationId xmlns:a16="http://schemas.microsoft.com/office/drawing/2014/main" id="{2341C561-9F98-32FE-FB20-5A7FCB5B26E9}"/>
                  </a:ext>
                </a:extLst>
              </p:cNvPr>
              <p:cNvGrpSpPr/>
              <p:nvPr/>
            </p:nvGrpSpPr>
            <p:grpSpPr>
              <a:xfrm>
                <a:off x="3231991" y="2900094"/>
                <a:ext cx="1127462" cy="1127736"/>
                <a:chOff x="1797921" y="1681629"/>
                <a:chExt cx="845846" cy="846052"/>
              </a:xfrm>
            </p:grpSpPr>
            <p:sp>
              <p:nvSpPr>
                <p:cNvPr id="25" name="Rectangle: Rounded Corners 24">
                  <a:extLst>
                    <a:ext uri="{FF2B5EF4-FFF2-40B4-BE49-F238E27FC236}">
                      <a16:creationId xmlns:a16="http://schemas.microsoft.com/office/drawing/2014/main" id="{BBA0F343-01B8-0FD4-E9A2-5A3427998F87}"/>
                    </a:ext>
                  </a:extLst>
                </p:cNvPr>
                <p:cNvSpPr/>
                <p:nvPr/>
              </p:nvSpPr>
              <p:spPr bwMode="auto">
                <a:xfrm rot="5400000">
                  <a:off x="1797818" y="1681732"/>
                  <a:ext cx="846052" cy="845846"/>
                </a:xfrm>
                <a:prstGeom prst="roundRect">
                  <a:avLst>
                    <a:gd name="adj" fmla="val 50000"/>
                  </a:avLst>
                </a:prstGeom>
                <a:solidFill>
                  <a:schemeClr val="accent2"/>
                </a:solidFill>
                <a:ln w="19050" cap="flat" cmpd="sng" algn="ctr">
                  <a:noFill/>
                  <a:prstDash val="solid"/>
                  <a:miter lim="800000"/>
                </a:ln>
                <a:effectLst>
                  <a:outerShdw blurRad="419100" sx="102000" sy="102000" algn="ctr" rotWithShape="0">
                    <a:prstClr val="black">
                      <a:alpha val="16000"/>
                    </a:prstClr>
                  </a:outerShdw>
                </a:effectLst>
              </p:spPr>
              <p:txBody>
                <a:bodyPr lIns="0" tIns="0" rIns="0" rtlCol="0" anchor="ctr"/>
                <a:lstStyle/>
                <a:p>
                  <a:pPr marL="0" marR="0" lvl="0" indent="0" algn="ctr" defTabSz="351371" eaLnBrk="1" fontAlgn="auto" latinLnBrk="0" hangingPunct="1">
                    <a:lnSpc>
                      <a:spcPct val="100000"/>
                    </a:lnSpc>
                    <a:spcBef>
                      <a:spcPts val="0"/>
                    </a:spcBef>
                    <a:spcAft>
                      <a:spcPts val="0"/>
                    </a:spcAft>
                    <a:buClrTx/>
                    <a:buSzTx/>
                    <a:buFontTx/>
                    <a:buNone/>
                    <a:tabLst/>
                    <a:defRPr/>
                  </a:pPr>
                  <a:endParaRPr kumimoji="0" lang="en-GB" sz="100" b="0" i="0" u="none" strike="noStrike" kern="0" cap="none" spc="-12" normalizeH="0" baseline="0" noProof="0" err="1">
                    <a:ln>
                      <a:noFill/>
                    </a:ln>
                    <a:solidFill>
                      <a:srgbClr val="010632"/>
                    </a:solidFill>
                    <a:effectLst/>
                    <a:uLnTx/>
                    <a:uFillTx/>
                    <a:latin typeface="Segoe Sans Display Semibold" pitchFamily="2" charset="0"/>
                    <a:ea typeface="+mn-ea"/>
                    <a:cs typeface="Segoe Sans Display Semibold" pitchFamily="2" charset="0"/>
                  </a:endParaRPr>
                </a:p>
              </p:txBody>
            </p:sp>
            <p:sp>
              <p:nvSpPr>
                <p:cNvPr id="26" name="Rectangle: Rounded Corners 25">
                  <a:extLst>
                    <a:ext uri="{FF2B5EF4-FFF2-40B4-BE49-F238E27FC236}">
                      <a16:creationId xmlns:a16="http://schemas.microsoft.com/office/drawing/2014/main" id="{C4D964F6-F58D-16BD-DC99-C13111FFF60B}"/>
                    </a:ext>
                  </a:extLst>
                </p:cNvPr>
                <p:cNvSpPr/>
                <p:nvPr/>
              </p:nvSpPr>
              <p:spPr bwMode="auto">
                <a:xfrm rot="5400000">
                  <a:off x="1879098" y="1762993"/>
                  <a:ext cx="683492" cy="683325"/>
                </a:xfrm>
                <a:prstGeom prst="roundRect">
                  <a:avLst>
                    <a:gd name="adj" fmla="val 50000"/>
                  </a:avLst>
                </a:prstGeom>
                <a:solidFill>
                  <a:srgbClr val="FFFFFF">
                    <a:alpha val="50000"/>
                  </a:srgbClr>
                </a:solidFill>
                <a:ln w="19050" cap="flat" cmpd="sng" algn="ctr">
                  <a:noFill/>
                  <a:prstDash val="solid"/>
                  <a:miter lim="800000"/>
                </a:ln>
                <a:effectLst/>
              </p:spPr>
              <p:txBody>
                <a:bodyPr lIns="0" tIns="0" rIns="0" rtlCol="0" anchor="ctr"/>
                <a:lstStyle/>
                <a:p>
                  <a:pPr marL="0" marR="0" lvl="0" indent="0" algn="ctr" defTabSz="351371" eaLnBrk="1" fontAlgn="auto" latinLnBrk="0" hangingPunct="1">
                    <a:lnSpc>
                      <a:spcPct val="100000"/>
                    </a:lnSpc>
                    <a:spcBef>
                      <a:spcPts val="0"/>
                    </a:spcBef>
                    <a:spcAft>
                      <a:spcPts val="0"/>
                    </a:spcAft>
                    <a:buClrTx/>
                    <a:buSzTx/>
                    <a:buFontTx/>
                    <a:buNone/>
                    <a:tabLst/>
                    <a:defRPr/>
                  </a:pPr>
                  <a:endParaRPr kumimoji="0" lang="en-GB" sz="100" b="0" i="0" u="none" strike="noStrike" kern="0" cap="none" spc="-12" normalizeH="0" baseline="0" noProof="0">
                    <a:ln>
                      <a:noFill/>
                    </a:ln>
                    <a:solidFill>
                      <a:srgbClr val="010632"/>
                    </a:solidFill>
                    <a:effectLst/>
                    <a:uLnTx/>
                    <a:uFillTx/>
                    <a:latin typeface="Segoe Sans Display Semibold" pitchFamily="2" charset="0"/>
                    <a:ea typeface="+mn-ea"/>
                    <a:cs typeface="Segoe Sans Display Semibold" pitchFamily="2" charset="0"/>
                  </a:endParaRPr>
                </a:p>
              </p:txBody>
            </p:sp>
          </p:grpSp>
          <p:pic>
            <p:nvPicPr>
              <p:cNvPr id="24" name="Graphic 23">
                <a:extLst>
                  <a:ext uri="{FF2B5EF4-FFF2-40B4-BE49-F238E27FC236}">
                    <a16:creationId xmlns:a16="http://schemas.microsoft.com/office/drawing/2014/main" id="{B5184BDD-1543-CFEB-E6D1-41704751E9B6}"/>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550463" y="3218704"/>
                <a:ext cx="490518" cy="490516"/>
              </a:xfrm>
              <a:prstGeom prst="rect">
                <a:avLst/>
              </a:prstGeom>
            </p:spPr>
          </p:pic>
        </p:grpSp>
      </p:grpSp>
      <p:grpSp>
        <p:nvGrpSpPr>
          <p:cNvPr id="41" name="Group 40">
            <a:extLst>
              <a:ext uri="{FF2B5EF4-FFF2-40B4-BE49-F238E27FC236}">
                <a16:creationId xmlns:a16="http://schemas.microsoft.com/office/drawing/2014/main" id="{92D9A3C7-76BC-7490-C9D9-EDA096B0B405}"/>
              </a:ext>
            </a:extLst>
          </p:cNvPr>
          <p:cNvGrpSpPr/>
          <p:nvPr/>
        </p:nvGrpSpPr>
        <p:grpSpPr>
          <a:xfrm>
            <a:off x="6176657" y="1739006"/>
            <a:ext cx="2468880" cy="3558596"/>
            <a:chOff x="6146676" y="2074467"/>
            <a:chExt cx="2468880" cy="3558596"/>
          </a:xfrm>
        </p:grpSpPr>
        <p:sp>
          <p:nvSpPr>
            <p:cNvPr id="10" name="Rectangle: Rounded Corners 8">
              <a:extLst>
                <a:ext uri="{FF2B5EF4-FFF2-40B4-BE49-F238E27FC236}">
                  <a16:creationId xmlns:a16="http://schemas.microsoft.com/office/drawing/2014/main" id="{941905D0-8F18-3289-AF56-FCDF202A12A8}"/>
                </a:ext>
              </a:extLst>
            </p:cNvPr>
            <p:cNvSpPr>
              <a:spLocks/>
            </p:cNvSpPr>
            <p:nvPr/>
          </p:nvSpPr>
          <p:spPr>
            <a:xfrm>
              <a:off x="6146676" y="2649663"/>
              <a:ext cx="2468880" cy="2983400"/>
            </a:xfrm>
            <a:prstGeom prst="roundRect">
              <a:avLst>
                <a:gd name="adj" fmla="val 8728"/>
              </a:avLst>
            </a:prstGeom>
            <a:solidFill>
              <a:schemeClr val="bg1">
                <a:lumMod val="75000"/>
                <a:alpha val="25000"/>
              </a:schemeClr>
            </a:solidFill>
            <a:ln w="19050" cap="flat" cmpd="sng" algn="ctr">
              <a:noFill/>
              <a:prstDash val="solid"/>
              <a:miter lim="800000"/>
            </a:ln>
            <a:effectLst>
              <a:outerShdw blurRad="381000" dist="723900" dir="8100000" algn="tr" rotWithShape="0">
                <a:prstClr val="black">
                  <a:alpha val="16000"/>
                </a:prstClr>
              </a:outerShdw>
            </a:effectLst>
          </p:spPr>
          <p:txBody>
            <a:bodyPr rtlCol="0" anchor="ctr"/>
            <a:lstStyle/>
            <a:p>
              <a:pPr marL="0" marR="0" lvl="0" indent="0" algn="ctr" defTabSz="268114"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prstClr val="white"/>
                </a:solidFill>
                <a:effectLst/>
                <a:uLnTx/>
                <a:uFillTx/>
                <a:latin typeface="Segoe Sans Display Semibold" pitchFamily="2" charset="0"/>
                <a:ea typeface="+mn-ea"/>
                <a:cs typeface="Segoe Sans Display Semibold" pitchFamily="2" charset="0"/>
              </a:endParaRPr>
            </a:p>
          </p:txBody>
        </p:sp>
        <p:sp>
          <p:nvSpPr>
            <p:cNvPr id="11" name="Rectangle 10">
              <a:extLst>
                <a:ext uri="{FF2B5EF4-FFF2-40B4-BE49-F238E27FC236}">
                  <a16:creationId xmlns:a16="http://schemas.microsoft.com/office/drawing/2014/main" id="{0AFBD468-D7C6-5147-7C76-495DCA7A58D0}"/>
                </a:ext>
              </a:extLst>
            </p:cNvPr>
            <p:cNvSpPr/>
            <p:nvPr/>
          </p:nvSpPr>
          <p:spPr>
            <a:xfrm>
              <a:off x="6228025" y="4212221"/>
              <a:ext cx="2276422" cy="714570"/>
            </a:xfrm>
            <a:prstGeom prst="rect">
              <a:avLst/>
            </a:prstGeom>
            <a:noFill/>
            <a:ln w="19050" cap="flat" cmpd="sng" algn="ctr">
              <a:noFill/>
              <a:prstDash val="solid"/>
              <a:miter lim="800000"/>
            </a:ln>
            <a:effectLst/>
          </p:spPr>
          <p:txBody>
            <a:bodyPr lIns="0" tIns="0" rIns="0" bIns="0" rtlCol="0" anchor="t"/>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effectLst/>
                  <a:uLnTx/>
                  <a:uFillTx/>
                  <a:latin typeface="Segoe Sans Display"/>
                  <a:ea typeface="+mn-ea"/>
                  <a:cs typeface="Segoe Sans Display Semilight" pitchFamily="2" charset="0"/>
                </a:rPr>
                <a:t>Automations that combine AI models with natural language understanding to </a:t>
              </a:r>
              <a:r>
                <a:rPr kumimoji="0" lang="en-US" sz="1400" b="1" i="0" u="none" strike="noStrike" kern="0" cap="none" spc="0" normalizeH="0" baseline="0" noProof="0" dirty="0">
                  <a:ln>
                    <a:noFill/>
                  </a:ln>
                  <a:effectLst/>
                  <a:uLnTx/>
                  <a:uFillTx/>
                  <a:latin typeface="Segoe Sans Display"/>
                  <a:ea typeface="+mn-ea"/>
                  <a:cs typeface="Segoe Sans Display Semilight" pitchFamily="2" charset="0"/>
                </a:rPr>
                <a:t>plan, reason, adapt, and orchestrate workflows</a:t>
              </a:r>
            </a:p>
          </p:txBody>
        </p:sp>
        <p:sp>
          <p:nvSpPr>
            <p:cNvPr id="12" name="Text Placeholder 2">
              <a:extLst>
                <a:ext uri="{FF2B5EF4-FFF2-40B4-BE49-F238E27FC236}">
                  <a16:creationId xmlns:a16="http://schemas.microsoft.com/office/drawing/2014/main" id="{11050143-91D6-1421-7FE8-6AA9AEB532C1}"/>
                </a:ext>
              </a:extLst>
            </p:cNvPr>
            <p:cNvSpPr txBox="1">
              <a:spLocks/>
            </p:cNvSpPr>
            <p:nvPr/>
          </p:nvSpPr>
          <p:spPr>
            <a:xfrm>
              <a:off x="6312329" y="3440896"/>
              <a:ext cx="2137573" cy="509378"/>
            </a:xfrm>
            <a:prstGeom prst="roundRect">
              <a:avLst>
                <a:gd name="adj" fmla="val 50000"/>
              </a:avLst>
            </a:prstGeom>
            <a:solidFill>
              <a:schemeClr val="accent2"/>
            </a:solidFill>
            <a:ln w="19050" cap="flat" cmpd="sng" algn="ctr">
              <a:noFill/>
              <a:prstDash val="solid"/>
              <a:miter lim="800000"/>
            </a:ln>
            <a:effectLst>
              <a:outerShdw blurRad="419100" sx="102000" sy="102000" algn="ctr" rotWithShape="0">
                <a:prstClr val="black">
                  <a:alpha val="16000"/>
                </a:prstClr>
              </a:outerShdw>
            </a:effectLst>
          </p:spPr>
          <p:txBody>
            <a:bodyPr wrap="none" rtlCol="0" anchor="ctr"/>
            <a:lstStyle>
              <a:defPPr>
                <a:defRPr lang="en-US"/>
              </a:defPPr>
              <a:lvl1pPr algn="ctr" defTabSz="351371">
                <a:defRPr sz="4743" spc="-12">
                  <a:solidFill>
                    <a:srgbClr val="010632"/>
                  </a:solidFill>
                  <a:latin typeface="Segoe Sans Display Semibold" pitchFamily="2" charset="0"/>
                  <a:cs typeface="Segoe Sans Display Semi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351371" eaLnBrk="1" fontAlgn="auto" latinLnBrk="0" hangingPunct="1">
                <a:lnSpc>
                  <a:spcPct val="85000"/>
                </a:lnSpc>
                <a:spcBef>
                  <a:spcPts val="0"/>
                </a:spcBef>
                <a:spcAft>
                  <a:spcPts val="0"/>
                </a:spcAft>
                <a:buClrTx/>
                <a:buSzTx/>
                <a:buFontTx/>
                <a:buNone/>
                <a:tabLst/>
                <a:defRPr/>
              </a:pPr>
              <a:r>
                <a:rPr kumimoji="0" lang="en-GB" sz="1400" b="0" i="0" u="none" strike="noStrike" kern="0" cap="none" spc="-12" normalizeH="0" baseline="0" noProof="0" dirty="0">
                  <a:ln>
                    <a:noFill/>
                  </a:ln>
                  <a:solidFill>
                    <a:schemeClr val="bg1"/>
                  </a:solidFill>
                  <a:effectLst/>
                  <a:uLnTx/>
                  <a:uFillTx/>
                  <a:latin typeface="Segoe Sans Display Semibold" pitchFamily="2" charset="0"/>
                  <a:ea typeface="+mn-ea"/>
                  <a:cs typeface="Segoe Sans Display Semibold" pitchFamily="2" charset="0"/>
                </a:rPr>
                <a:t>Agentic</a:t>
              </a:r>
              <a:br>
                <a:rPr kumimoji="0" lang="en-GB" sz="1400" b="0" i="0" u="none" strike="noStrike" kern="0" cap="none" spc="-12" normalizeH="0" baseline="0" noProof="0" dirty="0">
                  <a:ln>
                    <a:noFill/>
                  </a:ln>
                  <a:solidFill>
                    <a:schemeClr val="bg1"/>
                  </a:solidFill>
                  <a:effectLst/>
                  <a:uLnTx/>
                  <a:uFillTx/>
                  <a:latin typeface="Segoe Sans Display Semibold" pitchFamily="2" charset="0"/>
                  <a:ea typeface="+mn-ea"/>
                  <a:cs typeface="Segoe Sans Display Semibold" pitchFamily="2" charset="0"/>
                </a:rPr>
              </a:br>
              <a:r>
                <a:rPr kumimoji="0" lang="en-GB" sz="1400" b="0" i="0" u="none" strike="noStrike" kern="0" cap="none" spc="-12" normalizeH="0" baseline="0" noProof="0" dirty="0">
                  <a:ln>
                    <a:noFill/>
                  </a:ln>
                  <a:solidFill>
                    <a:schemeClr val="bg1"/>
                  </a:solidFill>
                  <a:effectLst/>
                  <a:uLnTx/>
                  <a:uFillTx/>
                  <a:latin typeface="Segoe Sans Display Semibold" pitchFamily="2" charset="0"/>
                  <a:ea typeface="+mn-ea"/>
                  <a:cs typeface="Segoe Sans Display Semibold" pitchFamily="2" charset="0"/>
                </a:rPr>
                <a:t>Automation</a:t>
              </a:r>
            </a:p>
          </p:txBody>
        </p:sp>
        <p:grpSp>
          <p:nvGrpSpPr>
            <p:cNvPr id="27" name="Group 26">
              <a:extLst>
                <a:ext uri="{FF2B5EF4-FFF2-40B4-BE49-F238E27FC236}">
                  <a16:creationId xmlns:a16="http://schemas.microsoft.com/office/drawing/2014/main" id="{C9C7F069-F6FA-0BD9-17D2-67863390FAAF}"/>
                </a:ext>
              </a:extLst>
            </p:cNvPr>
            <p:cNvGrpSpPr/>
            <p:nvPr/>
          </p:nvGrpSpPr>
          <p:grpSpPr>
            <a:xfrm>
              <a:off x="6802505" y="2074467"/>
              <a:ext cx="1127462" cy="1127736"/>
              <a:chOff x="5489296" y="2468566"/>
              <a:chExt cx="1127462" cy="1127736"/>
            </a:xfrm>
          </p:grpSpPr>
          <p:grpSp>
            <p:nvGrpSpPr>
              <p:cNvPr id="28" name="Group 27">
                <a:extLst>
                  <a:ext uri="{FF2B5EF4-FFF2-40B4-BE49-F238E27FC236}">
                    <a16:creationId xmlns:a16="http://schemas.microsoft.com/office/drawing/2014/main" id="{C2024F8F-9C40-1F4D-66B8-26A4B3F03F46}"/>
                  </a:ext>
                </a:extLst>
              </p:cNvPr>
              <p:cNvGrpSpPr/>
              <p:nvPr/>
            </p:nvGrpSpPr>
            <p:grpSpPr>
              <a:xfrm>
                <a:off x="5489296" y="2468566"/>
                <a:ext cx="1127462" cy="1127736"/>
                <a:chOff x="1797921" y="1681630"/>
                <a:chExt cx="845846" cy="846052"/>
              </a:xfrm>
            </p:grpSpPr>
            <p:sp>
              <p:nvSpPr>
                <p:cNvPr id="30" name="Rectangle: Rounded Corners 29">
                  <a:extLst>
                    <a:ext uri="{FF2B5EF4-FFF2-40B4-BE49-F238E27FC236}">
                      <a16:creationId xmlns:a16="http://schemas.microsoft.com/office/drawing/2014/main" id="{EFDA0CC8-A586-4820-F10A-76273D0A31BF}"/>
                    </a:ext>
                  </a:extLst>
                </p:cNvPr>
                <p:cNvSpPr/>
                <p:nvPr/>
              </p:nvSpPr>
              <p:spPr bwMode="auto">
                <a:xfrm rot="5400000">
                  <a:off x="1797818" y="1681733"/>
                  <a:ext cx="846052" cy="845846"/>
                </a:xfrm>
                <a:prstGeom prst="roundRect">
                  <a:avLst>
                    <a:gd name="adj" fmla="val 50000"/>
                  </a:avLst>
                </a:prstGeom>
                <a:solidFill>
                  <a:schemeClr val="accent2"/>
                </a:solidFill>
                <a:ln w="19050" cap="flat" cmpd="sng" algn="ctr">
                  <a:noFill/>
                  <a:prstDash val="solid"/>
                  <a:miter lim="800000"/>
                </a:ln>
                <a:effectLst>
                  <a:outerShdw blurRad="419100" sx="102000" sy="102000" algn="ctr" rotWithShape="0">
                    <a:prstClr val="black">
                      <a:alpha val="16000"/>
                    </a:prstClr>
                  </a:outerShdw>
                </a:effectLst>
              </p:spPr>
              <p:txBody>
                <a:bodyPr lIns="0" tIns="0" rIns="0" rtlCol="0" anchor="ctr"/>
                <a:lstStyle/>
                <a:p>
                  <a:pPr marL="0" marR="0" lvl="0" indent="0" algn="ctr" defTabSz="351371" eaLnBrk="1" fontAlgn="auto" latinLnBrk="0" hangingPunct="1">
                    <a:lnSpc>
                      <a:spcPct val="100000"/>
                    </a:lnSpc>
                    <a:spcBef>
                      <a:spcPts val="0"/>
                    </a:spcBef>
                    <a:spcAft>
                      <a:spcPts val="0"/>
                    </a:spcAft>
                    <a:buClrTx/>
                    <a:buSzTx/>
                    <a:buFontTx/>
                    <a:buNone/>
                    <a:tabLst/>
                    <a:defRPr/>
                  </a:pPr>
                  <a:endParaRPr kumimoji="0" lang="en-GB" sz="100" b="0" i="0" u="none" strike="noStrike" kern="0" cap="none" spc="-12" normalizeH="0" baseline="0" noProof="0" err="1">
                    <a:ln>
                      <a:noFill/>
                    </a:ln>
                    <a:solidFill>
                      <a:srgbClr val="010632"/>
                    </a:solidFill>
                    <a:effectLst/>
                    <a:uLnTx/>
                    <a:uFillTx/>
                    <a:latin typeface="Segoe Sans Display Semibold" pitchFamily="2" charset="0"/>
                    <a:ea typeface="+mn-ea"/>
                    <a:cs typeface="Segoe Sans Display Semibold" pitchFamily="2" charset="0"/>
                  </a:endParaRPr>
                </a:p>
              </p:txBody>
            </p:sp>
            <p:sp>
              <p:nvSpPr>
                <p:cNvPr id="31" name="Rectangle: Rounded Corners 30">
                  <a:extLst>
                    <a:ext uri="{FF2B5EF4-FFF2-40B4-BE49-F238E27FC236}">
                      <a16:creationId xmlns:a16="http://schemas.microsoft.com/office/drawing/2014/main" id="{AEF2A344-05C8-9F96-1230-DC96F62AFAAB}"/>
                    </a:ext>
                  </a:extLst>
                </p:cNvPr>
                <p:cNvSpPr/>
                <p:nvPr/>
              </p:nvSpPr>
              <p:spPr bwMode="auto">
                <a:xfrm rot="5400000">
                  <a:off x="1879099" y="1762993"/>
                  <a:ext cx="683492" cy="683325"/>
                </a:xfrm>
                <a:prstGeom prst="roundRect">
                  <a:avLst>
                    <a:gd name="adj" fmla="val 50000"/>
                  </a:avLst>
                </a:prstGeom>
                <a:solidFill>
                  <a:srgbClr val="FFFFFF">
                    <a:alpha val="50000"/>
                  </a:srgbClr>
                </a:solidFill>
                <a:ln w="19050" cap="flat" cmpd="sng" algn="ctr">
                  <a:noFill/>
                  <a:prstDash val="solid"/>
                  <a:miter lim="800000"/>
                </a:ln>
                <a:effectLst/>
              </p:spPr>
              <p:txBody>
                <a:bodyPr lIns="0" tIns="0" rIns="0" rtlCol="0" anchor="ctr"/>
                <a:lstStyle/>
                <a:p>
                  <a:pPr marL="0" marR="0" lvl="0" indent="0" algn="ctr" defTabSz="351371" eaLnBrk="1" fontAlgn="auto" latinLnBrk="0" hangingPunct="1">
                    <a:lnSpc>
                      <a:spcPct val="100000"/>
                    </a:lnSpc>
                    <a:spcBef>
                      <a:spcPts val="0"/>
                    </a:spcBef>
                    <a:spcAft>
                      <a:spcPts val="0"/>
                    </a:spcAft>
                    <a:buClrTx/>
                    <a:buSzTx/>
                    <a:buFontTx/>
                    <a:buNone/>
                    <a:tabLst/>
                    <a:defRPr/>
                  </a:pPr>
                  <a:endParaRPr kumimoji="0" lang="en-GB" sz="100" b="0" i="0" u="none" strike="noStrike" kern="0" cap="none" spc="-12" normalizeH="0" baseline="0" noProof="0">
                    <a:ln>
                      <a:noFill/>
                    </a:ln>
                    <a:solidFill>
                      <a:srgbClr val="010632"/>
                    </a:solidFill>
                    <a:effectLst/>
                    <a:uLnTx/>
                    <a:uFillTx/>
                    <a:latin typeface="Segoe Sans Display Semibold" pitchFamily="2" charset="0"/>
                    <a:ea typeface="+mn-ea"/>
                    <a:cs typeface="Segoe Sans Display Semibold" pitchFamily="2" charset="0"/>
                  </a:endParaRPr>
                </a:p>
              </p:txBody>
            </p:sp>
          </p:grpSp>
          <p:pic>
            <p:nvPicPr>
              <p:cNvPr id="29" name="Graphic 28">
                <a:extLst>
                  <a:ext uri="{FF2B5EF4-FFF2-40B4-BE49-F238E27FC236}">
                    <a16:creationId xmlns:a16="http://schemas.microsoft.com/office/drawing/2014/main" id="{1D0954A9-FB6F-A702-B706-174CB07E0F2C}"/>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813450" y="2770387"/>
                <a:ext cx="524096" cy="524094"/>
              </a:xfrm>
              <a:prstGeom prst="rect">
                <a:avLst/>
              </a:prstGeom>
            </p:spPr>
          </p:pic>
        </p:grpSp>
      </p:grpSp>
      <p:grpSp>
        <p:nvGrpSpPr>
          <p:cNvPr id="42" name="Group 41">
            <a:extLst>
              <a:ext uri="{FF2B5EF4-FFF2-40B4-BE49-F238E27FC236}">
                <a16:creationId xmlns:a16="http://schemas.microsoft.com/office/drawing/2014/main" id="{CC0336CB-5265-E7D2-53AC-DF59AC17108B}"/>
              </a:ext>
            </a:extLst>
          </p:cNvPr>
          <p:cNvGrpSpPr/>
          <p:nvPr/>
        </p:nvGrpSpPr>
        <p:grpSpPr>
          <a:xfrm>
            <a:off x="8949714" y="1720192"/>
            <a:ext cx="2468880" cy="3566080"/>
            <a:chOff x="8919733" y="2055653"/>
            <a:chExt cx="2468880" cy="3566080"/>
          </a:xfrm>
        </p:grpSpPr>
        <p:sp>
          <p:nvSpPr>
            <p:cNvPr id="4" name="Rectangle: Rounded Corners 8">
              <a:extLst>
                <a:ext uri="{FF2B5EF4-FFF2-40B4-BE49-F238E27FC236}">
                  <a16:creationId xmlns:a16="http://schemas.microsoft.com/office/drawing/2014/main" id="{8750004A-43D4-144A-9580-2EE57FF40A68}"/>
                </a:ext>
              </a:extLst>
            </p:cNvPr>
            <p:cNvSpPr>
              <a:spLocks/>
            </p:cNvSpPr>
            <p:nvPr/>
          </p:nvSpPr>
          <p:spPr>
            <a:xfrm>
              <a:off x="8919733" y="2638334"/>
              <a:ext cx="2468880" cy="2983399"/>
            </a:xfrm>
            <a:prstGeom prst="roundRect">
              <a:avLst>
                <a:gd name="adj" fmla="val 8728"/>
              </a:avLst>
            </a:prstGeom>
            <a:solidFill>
              <a:schemeClr val="bg1">
                <a:lumMod val="75000"/>
                <a:alpha val="25000"/>
              </a:schemeClr>
            </a:solidFill>
            <a:ln w="19050" cap="flat" cmpd="sng" algn="ctr">
              <a:noFill/>
              <a:prstDash val="solid"/>
              <a:miter lim="800000"/>
            </a:ln>
            <a:effectLst>
              <a:outerShdw blurRad="381000" dist="723900" dir="8100000" algn="tr" rotWithShape="0">
                <a:prstClr val="black">
                  <a:alpha val="16000"/>
                </a:prstClr>
              </a:outerShdw>
            </a:effectLst>
          </p:spPr>
          <p:txBody>
            <a:bodyPr rtlCol="0" anchor="ctr"/>
            <a:lstStyle/>
            <a:p>
              <a:pPr marL="0" marR="0" lvl="0" indent="0" algn="ctr" defTabSz="268114"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prstClr val="white"/>
                </a:solidFill>
                <a:effectLst/>
                <a:uLnTx/>
                <a:uFillTx/>
                <a:latin typeface="Segoe Sans Display Semibold" pitchFamily="2" charset="0"/>
                <a:ea typeface="+mn-ea"/>
                <a:cs typeface="Segoe Sans Display Semibold" pitchFamily="2" charset="0"/>
              </a:endParaRPr>
            </a:p>
          </p:txBody>
        </p:sp>
        <p:sp>
          <p:nvSpPr>
            <p:cNvPr id="13" name="Rectangle 12">
              <a:extLst>
                <a:ext uri="{FF2B5EF4-FFF2-40B4-BE49-F238E27FC236}">
                  <a16:creationId xmlns:a16="http://schemas.microsoft.com/office/drawing/2014/main" id="{CB30AA35-C0E1-0AD2-9ACD-E69C618FED75}"/>
                </a:ext>
              </a:extLst>
            </p:cNvPr>
            <p:cNvSpPr/>
            <p:nvPr/>
          </p:nvSpPr>
          <p:spPr>
            <a:xfrm>
              <a:off x="9020916" y="4179196"/>
              <a:ext cx="2244307" cy="714570"/>
            </a:xfrm>
            <a:prstGeom prst="rect">
              <a:avLst/>
            </a:prstGeom>
            <a:noFill/>
            <a:ln w="19050" cap="flat" cmpd="sng" algn="ctr">
              <a:noFill/>
              <a:prstDash val="solid"/>
              <a:miter lim="800000"/>
            </a:ln>
            <a:effectLst/>
          </p:spPr>
          <p:txBody>
            <a:bodyPr lIns="0" tIns="0" rIns="0" bIns="0" rtlCol="0" anchor="t"/>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effectLst/>
                  <a:uLnTx/>
                  <a:uFillTx/>
                  <a:latin typeface="Segoe Sans Display"/>
                  <a:ea typeface="+mn-ea"/>
                  <a:cs typeface="Segoe Sans Display Semilight" pitchFamily="2" charset="0"/>
                </a:rPr>
                <a:t>Agents </a:t>
              </a:r>
              <a:r>
                <a:rPr kumimoji="0" lang="en-US" sz="1400" b="1" i="0" u="none" strike="noStrike" kern="0" cap="none" spc="0" normalizeH="0" baseline="0" noProof="0" dirty="0">
                  <a:ln>
                    <a:noFill/>
                  </a:ln>
                  <a:effectLst/>
                  <a:uLnTx/>
                  <a:uFillTx/>
                  <a:latin typeface="Segoe Sans Display"/>
                  <a:ea typeface="+mn-ea"/>
                  <a:cs typeface="Segoe Sans Display Semilight" pitchFamily="2" charset="0"/>
                </a:rPr>
                <a:t>autonomously interpret goals, plan tasks, and learn </a:t>
              </a:r>
              <a:r>
                <a:rPr kumimoji="0" lang="en-US" sz="1400" b="0" i="0" u="none" strike="noStrike" kern="0" cap="none" spc="0" normalizeH="0" baseline="0" noProof="0" dirty="0">
                  <a:ln>
                    <a:noFill/>
                  </a:ln>
                  <a:effectLst/>
                  <a:uLnTx/>
                  <a:uFillTx/>
                  <a:latin typeface="Segoe Sans Display"/>
                  <a:ea typeface="+mn-ea"/>
                  <a:cs typeface="Segoe Sans Display Semilight" pitchFamily="2" charset="0"/>
                </a:rPr>
                <a:t>from experience, with a varying level of human oversight</a:t>
              </a:r>
              <a:endParaRPr kumimoji="0" lang="en-US" sz="1400" b="0" i="0" u="sng" strike="noStrike" kern="0" cap="none" spc="0" normalizeH="0" baseline="0" noProof="0" dirty="0">
                <a:ln>
                  <a:noFill/>
                </a:ln>
                <a:effectLst/>
                <a:uLnTx/>
                <a:uFillTx/>
                <a:latin typeface="Segoe Sans Display"/>
                <a:ea typeface="+mn-ea"/>
                <a:cs typeface="Segoe Sans Display Semilight" pitchFamily="2" charset="0"/>
              </a:endParaRPr>
            </a:p>
          </p:txBody>
        </p:sp>
        <p:sp>
          <p:nvSpPr>
            <p:cNvPr id="14" name="Text Placeholder 2">
              <a:extLst>
                <a:ext uri="{FF2B5EF4-FFF2-40B4-BE49-F238E27FC236}">
                  <a16:creationId xmlns:a16="http://schemas.microsoft.com/office/drawing/2014/main" id="{DA321C80-BF61-3760-B139-7F633A9AF910}"/>
                </a:ext>
              </a:extLst>
            </p:cNvPr>
            <p:cNvSpPr txBox="1">
              <a:spLocks/>
            </p:cNvSpPr>
            <p:nvPr/>
          </p:nvSpPr>
          <p:spPr>
            <a:xfrm>
              <a:off x="9119987" y="3447091"/>
              <a:ext cx="2068372" cy="509378"/>
            </a:xfrm>
            <a:prstGeom prst="roundRect">
              <a:avLst>
                <a:gd name="adj" fmla="val 50000"/>
              </a:avLst>
            </a:prstGeom>
            <a:solidFill>
              <a:schemeClr val="accent2"/>
            </a:solidFill>
            <a:ln w="19050" cap="flat" cmpd="sng" algn="ctr">
              <a:noFill/>
              <a:prstDash val="solid"/>
              <a:miter lim="800000"/>
            </a:ln>
            <a:effectLst>
              <a:outerShdw blurRad="419100" sx="102000" sy="102000" algn="ctr" rotWithShape="0">
                <a:prstClr val="black">
                  <a:alpha val="16000"/>
                </a:prstClr>
              </a:outerShdw>
            </a:effectLst>
          </p:spPr>
          <p:txBody>
            <a:bodyPr wrap="none" rtlCol="0" anchor="ctr"/>
            <a:lstStyle>
              <a:defPPr>
                <a:defRPr lang="en-US"/>
              </a:defPPr>
              <a:lvl1pPr algn="ctr" defTabSz="351371">
                <a:defRPr sz="4743" spc="-12">
                  <a:solidFill>
                    <a:srgbClr val="010632"/>
                  </a:solidFill>
                  <a:latin typeface="Segoe Sans Display Semibold" pitchFamily="2" charset="0"/>
                  <a:cs typeface="Segoe Sans Display Semi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351371" eaLnBrk="1" fontAlgn="auto" latinLnBrk="0" hangingPunct="1">
                <a:lnSpc>
                  <a:spcPct val="85000"/>
                </a:lnSpc>
                <a:spcBef>
                  <a:spcPts val="0"/>
                </a:spcBef>
                <a:spcAft>
                  <a:spcPts val="0"/>
                </a:spcAft>
                <a:buClrTx/>
                <a:buSzTx/>
                <a:buFontTx/>
                <a:buNone/>
                <a:tabLst/>
                <a:defRPr/>
              </a:pPr>
              <a:r>
                <a:rPr kumimoji="0" lang="en-GB" sz="1400" b="0" i="0" u="none" strike="noStrike" kern="0" cap="none" spc="-12" normalizeH="0" baseline="0" noProof="0" dirty="0">
                  <a:ln>
                    <a:noFill/>
                  </a:ln>
                  <a:solidFill>
                    <a:schemeClr val="bg1"/>
                  </a:solidFill>
                  <a:effectLst/>
                  <a:uLnTx/>
                  <a:uFillTx/>
                  <a:latin typeface="Segoe Sans Display Semibold" pitchFamily="2" charset="0"/>
                  <a:ea typeface="+mn-ea"/>
                  <a:cs typeface="Segoe Sans Display Semibold" pitchFamily="2" charset="0"/>
                </a:rPr>
                <a:t>Autonomous</a:t>
              </a:r>
              <a:br>
                <a:rPr kumimoji="0" lang="en-GB" sz="1400" b="0" i="0" u="none" strike="noStrike" kern="0" cap="none" spc="-12" normalizeH="0" baseline="0" noProof="0" dirty="0">
                  <a:ln>
                    <a:noFill/>
                  </a:ln>
                  <a:solidFill>
                    <a:schemeClr val="bg1"/>
                  </a:solidFill>
                  <a:effectLst/>
                  <a:uLnTx/>
                  <a:uFillTx/>
                  <a:latin typeface="Segoe Sans Display Semibold" pitchFamily="2" charset="0"/>
                  <a:ea typeface="+mn-ea"/>
                  <a:cs typeface="Segoe Sans Display Semibold" pitchFamily="2" charset="0"/>
                </a:rPr>
              </a:br>
              <a:r>
                <a:rPr kumimoji="0" lang="en-GB" sz="1400" b="0" i="0" u="none" strike="noStrike" kern="0" cap="none" spc="-12" normalizeH="0" baseline="0" noProof="0" dirty="0">
                  <a:ln>
                    <a:noFill/>
                  </a:ln>
                  <a:solidFill>
                    <a:schemeClr val="bg1"/>
                  </a:solidFill>
                  <a:effectLst/>
                  <a:uLnTx/>
                  <a:uFillTx/>
                  <a:latin typeface="Segoe Sans Display Semibold" pitchFamily="2" charset="0"/>
                  <a:ea typeface="+mn-ea"/>
                  <a:cs typeface="Segoe Sans Display Semibold" pitchFamily="2" charset="0"/>
                </a:rPr>
                <a:t>Agentic Automation</a:t>
              </a:r>
            </a:p>
          </p:txBody>
        </p:sp>
        <p:grpSp>
          <p:nvGrpSpPr>
            <p:cNvPr id="32" name="Group 31">
              <a:extLst>
                <a:ext uri="{FF2B5EF4-FFF2-40B4-BE49-F238E27FC236}">
                  <a16:creationId xmlns:a16="http://schemas.microsoft.com/office/drawing/2014/main" id="{7399CCFC-749D-AA56-DE61-31F4171FEDC9}"/>
                </a:ext>
              </a:extLst>
            </p:cNvPr>
            <p:cNvGrpSpPr/>
            <p:nvPr/>
          </p:nvGrpSpPr>
          <p:grpSpPr>
            <a:xfrm>
              <a:off x="9579340" y="2055653"/>
              <a:ext cx="1127462" cy="1127736"/>
              <a:chOff x="7707105" y="1830840"/>
              <a:chExt cx="1127462" cy="1127736"/>
            </a:xfrm>
          </p:grpSpPr>
          <p:grpSp>
            <p:nvGrpSpPr>
              <p:cNvPr id="33" name="Group 32">
                <a:extLst>
                  <a:ext uri="{FF2B5EF4-FFF2-40B4-BE49-F238E27FC236}">
                    <a16:creationId xmlns:a16="http://schemas.microsoft.com/office/drawing/2014/main" id="{11AC1110-6B08-0A2F-EDB9-9E610D97204A}"/>
                  </a:ext>
                </a:extLst>
              </p:cNvPr>
              <p:cNvGrpSpPr/>
              <p:nvPr/>
            </p:nvGrpSpPr>
            <p:grpSpPr>
              <a:xfrm>
                <a:off x="7707105" y="1830840"/>
                <a:ext cx="1127462" cy="1127736"/>
                <a:chOff x="1797921" y="1681629"/>
                <a:chExt cx="845846" cy="846052"/>
              </a:xfrm>
            </p:grpSpPr>
            <p:sp>
              <p:nvSpPr>
                <p:cNvPr id="35" name="Rectangle: Rounded Corners 34">
                  <a:extLst>
                    <a:ext uri="{FF2B5EF4-FFF2-40B4-BE49-F238E27FC236}">
                      <a16:creationId xmlns:a16="http://schemas.microsoft.com/office/drawing/2014/main" id="{60A030CD-5E6D-F377-BAD7-CF09C5D025D5}"/>
                    </a:ext>
                  </a:extLst>
                </p:cNvPr>
                <p:cNvSpPr/>
                <p:nvPr/>
              </p:nvSpPr>
              <p:spPr bwMode="auto">
                <a:xfrm rot="5400000">
                  <a:off x="1797818" y="1681732"/>
                  <a:ext cx="846052" cy="845846"/>
                </a:xfrm>
                <a:prstGeom prst="roundRect">
                  <a:avLst>
                    <a:gd name="adj" fmla="val 50000"/>
                  </a:avLst>
                </a:prstGeom>
                <a:solidFill>
                  <a:schemeClr val="accent2"/>
                </a:solidFill>
                <a:ln w="19050" cap="flat" cmpd="sng" algn="ctr">
                  <a:noFill/>
                  <a:prstDash val="solid"/>
                  <a:miter lim="800000"/>
                </a:ln>
                <a:effectLst>
                  <a:outerShdw blurRad="419100" sx="102000" sy="102000" algn="ctr" rotWithShape="0">
                    <a:prstClr val="black">
                      <a:alpha val="16000"/>
                    </a:prstClr>
                  </a:outerShdw>
                </a:effectLst>
              </p:spPr>
              <p:txBody>
                <a:bodyPr lIns="0" tIns="0" rIns="0" rtlCol="0" anchor="ctr"/>
                <a:lstStyle/>
                <a:p>
                  <a:pPr marL="0" marR="0" lvl="0" indent="0" algn="ctr" defTabSz="351371" eaLnBrk="1" fontAlgn="auto" latinLnBrk="0" hangingPunct="1">
                    <a:lnSpc>
                      <a:spcPct val="100000"/>
                    </a:lnSpc>
                    <a:spcBef>
                      <a:spcPts val="0"/>
                    </a:spcBef>
                    <a:spcAft>
                      <a:spcPts val="0"/>
                    </a:spcAft>
                    <a:buClrTx/>
                    <a:buSzTx/>
                    <a:buFontTx/>
                    <a:buNone/>
                    <a:tabLst/>
                    <a:defRPr/>
                  </a:pPr>
                  <a:endParaRPr kumimoji="0" lang="en-GB" sz="100" b="0" i="0" u="none" strike="noStrike" kern="0" cap="none" spc="-12" normalizeH="0" baseline="0" noProof="0" err="1">
                    <a:ln>
                      <a:noFill/>
                    </a:ln>
                    <a:solidFill>
                      <a:srgbClr val="010632"/>
                    </a:solidFill>
                    <a:effectLst/>
                    <a:uLnTx/>
                    <a:uFillTx/>
                    <a:latin typeface="Segoe Sans Display Semibold" pitchFamily="2" charset="0"/>
                    <a:ea typeface="+mn-ea"/>
                    <a:cs typeface="Segoe Sans Display Semibold" pitchFamily="2" charset="0"/>
                  </a:endParaRPr>
                </a:p>
              </p:txBody>
            </p:sp>
            <p:sp>
              <p:nvSpPr>
                <p:cNvPr id="36" name="Rectangle: Rounded Corners 35">
                  <a:extLst>
                    <a:ext uri="{FF2B5EF4-FFF2-40B4-BE49-F238E27FC236}">
                      <a16:creationId xmlns:a16="http://schemas.microsoft.com/office/drawing/2014/main" id="{C26C9789-E0AB-74F6-8CC0-7DF4B30214C2}"/>
                    </a:ext>
                  </a:extLst>
                </p:cNvPr>
                <p:cNvSpPr/>
                <p:nvPr/>
              </p:nvSpPr>
              <p:spPr bwMode="auto">
                <a:xfrm rot="5400000">
                  <a:off x="1879098" y="1762993"/>
                  <a:ext cx="683492" cy="683325"/>
                </a:xfrm>
                <a:prstGeom prst="roundRect">
                  <a:avLst>
                    <a:gd name="adj" fmla="val 50000"/>
                  </a:avLst>
                </a:prstGeom>
                <a:solidFill>
                  <a:srgbClr val="FFFFFF">
                    <a:alpha val="50000"/>
                  </a:srgbClr>
                </a:solidFill>
                <a:ln w="19050" cap="flat" cmpd="sng" algn="ctr">
                  <a:noFill/>
                  <a:prstDash val="solid"/>
                  <a:miter lim="800000"/>
                </a:ln>
                <a:effectLst/>
              </p:spPr>
              <p:txBody>
                <a:bodyPr lIns="0" tIns="0" rIns="0" rtlCol="0" anchor="ctr"/>
                <a:lstStyle/>
                <a:p>
                  <a:pPr marL="0" marR="0" lvl="0" indent="0" algn="ctr" defTabSz="351371" eaLnBrk="1" fontAlgn="auto" latinLnBrk="0" hangingPunct="1">
                    <a:lnSpc>
                      <a:spcPct val="100000"/>
                    </a:lnSpc>
                    <a:spcBef>
                      <a:spcPts val="0"/>
                    </a:spcBef>
                    <a:spcAft>
                      <a:spcPts val="0"/>
                    </a:spcAft>
                    <a:buClrTx/>
                    <a:buSzTx/>
                    <a:buFontTx/>
                    <a:buNone/>
                    <a:tabLst/>
                    <a:defRPr/>
                  </a:pPr>
                  <a:endParaRPr kumimoji="0" lang="en-GB" sz="100" b="0" i="0" u="none" strike="noStrike" kern="0" cap="none" spc="-12" normalizeH="0" baseline="0" noProof="0">
                    <a:ln>
                      <a:noFill/>
                    </a:ln>
                    <a:solidFill>
                      <a:srgbClr val="010632"/>
                    </a:solidFill>
                    <a:effectLst/>
                    <a:uLnTx/>
                    <a:uFillTx/>
                    <a:latin typeface="Segoe Sans Display Semibold" pitchFamily="2" charset="0"/>
                    <a:ea typeface="+mn-ea"/>
                    <a:cs typeface="Segoe Sans Display Semibold" pitchFamily="2" charset="0"/>
                  </a:endParaRPr>
                </a:p>
              </p:txBody>
            </p:sp>
          </p:grpSp>
          <p:pic>
            <p:nvPicPr>
              <p:cNvPr id="34" name="Graphic 33">
                <a:extLst>
                  <a:ext uri="{FF2B5EF4-FFF2-40B4-BE49-F238E27FC236}">
                    <a16:creationId xmlns:a16="http://schemas.microsoft.com/office/drawing/2014/main" id="{E43855C8-5A9D-BB3A-4154-463A7A764CBB}"/>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029954" y="2153827"/>
                <a:ext cx="481764" cy="481762"/>
              </a:xfrm>
              <a:prstGeom prst="rect">
                <a:avLst/>
              </a:prstGeom>
            </p:spPr>
          </p:pic>
        </p:grpSp>
      </p:grpSp>
      <p:sp>
        <p:nvSpPr>
          <p:cNvPr id="37" name="Rectangle: Rounded Corners 16">
            <a:extLst>
              <a:ext uri="{FF2B5EF4-FFF2-40B4-BE49-F238E27FC236}">
                <a16:creationId xmlns:a16="http://schemas.microsoft.com/office/drawing/2014/main" id="{A3D6F4C0-E4C7-0C6B-9CCF-E75767AB50BC}"/>
              </a:ext>
              <a:ext uri="{C183D7F6-B498-43B3-948B-1728B52AA6E4}">
                <adec:decorative xmlns:adec="http://schemas.microsoft.com/office/drawing/2017/decorative" val="0"/>
              </a:ext>
            </a:extLst>
          </p:cNvPr>
          <p:cNvSpPr/>
          <p:nvPr/>
        </p:nvSpPr>
        <p:spPr bwMode="auto">
          <a:xfrm>
            <a:off x="630543" y="5576000"/>
            <a:ext cx="10788051" cy="405443"/>
          </a:xfrm>
          <a:prstGeom prst="roundRect">
            <a:avLst>
              <a:gd name="adj" fmla="val 21685"/>
            </a:avLst>
          </a:prstGeom>
          <a:gradFill flip="none" rotWithShape="1">
            <a:gsLst>
              <a:gs pos="0">
                <a:srgbClr val="08599C"/>
              </a:gs>
              <a:gs pos="100000">
                <a:srgbClr val="43B7FF"/>
              </a:gs>
            </a:gsLst>
            <a:path path="circle">
              <a:fillToRect l="100000" t="100000"/>
            </a:path>
            <a:tileRect r="-100000" b="-100000"/>
          </a:gradFill>
        </p:spPr>
        <p:txBody>
          <a:bodyPr wrap="square" lIns="137160" tIns="0" rIns="137160" bIns="36000" rtlCol="0" anchor="ctr">
            <a:noAutofit/>
          </a:bodyPr>
          <a:lstStyle/>
          <a:p>
            <a:pPr algn="ctr" defTabSz="914437" fontAlgn="base">
              <a:spcBef>
                <a:spcPct val="0"/>
              </a:spcBef>
              <a:spcAft>
                <a:spcPct val="0"/>
              </a:spcAft>
              <a:tabLst>
                <a:tab pos="1487158" algn="l"/>
              </a:tabLst>
              <a:defRPr/>
            </a:pPr>
            <a:r>
              <a:rPr lang="en-US" b="1">
                <a:ln w="3175">
                  <a:noFill/>
                </a:ln>
                <a:gradFill>
                  <a:gsLst>
                    <a:gs pos="53147">
                      <a:srgbClr val="FFFFFF"/>
                    </a:gs>
                    <a:gs pos="28000">
                      <a:srgbClr val="FFFFFF"/>
                    </a:gs>
                  </a:gsLst>
                  <a:path path="circle">
                    <a:fillToRect l="100000" b="100000"/>
                  </a:path>
                </a:gradFill>
                <a:latin typeface="Segoe UI Semibold" panose="020B0502040204020203" pitchFamily="34" charset="0"/>
                <a:cs typeface="Segoe UI" pitchFamily="34" charset="0"/>
              </a:rPr>
              <a:t>Structured   -----------------------------------------------------------------------------   Adaptive</a:t>
            </a:r>
          </a:p>
        </p:txBody>
      </p:sp>
      <p:grpSp>
        <p:nvGrpSpPr>
          <p:cNvPr id="39" name="Group 38">
            <a:extLst>
              <a:ext uri="{FF2B5EF4-FFF2-40B4-BE49-F238E27FC236}">
                <a16:creationId xmlns:a16="http://schemas.microsoft.com/office/drawing/2014/main" id="{0D296233-CD5F-1AEC-25D0-22CDDCF9C009}"/>
              </a:ext>
            </a:extLst>
          </p:cNvPr>
          <p:cNvGrpSpPr/>
          <p:nvPr/>
        </p:nvGrpSpPr>
        <p:grpSpPr>
          <a:xfrm>
            <a:off x="630543" y="1720778"/>
            <a:ext cx="2468880" cy="3595052"/>
            <a:chOff x="600562" y="2056239"/>
            <a:chExt cx="2468880" cy="3595052"/>
          </a:xfrm>
        </p:grpSpPr>
        <p:sp>
          <p:nvSpPr>
            <p:cNvPr id="5" name="Rectangle: Rounded Corners 8">
              <a:extLst>
                <a:ext uri="{FF2B5EF4-FFF2-40B4-BE49-F238E27FC236}">
                  <a16:creationId xmlns:a16="http://schemas.microsoft.com/office/drawing/2014/main" id="{87DA989A-2438-0F51-6E58-87799DB49699}"/>
                </a:ext>
              </a:extLst>
            </p:cNvPr>
            <p:cNvSpPr>
              <a:spLocks/>
            </p:cNvSpPr>
            <p:nvPr/>
          </p:nvSpPr>
          <p:spPr>
            <a:xfrm>
              <a:off x="600562" y="2638334"/>
              <a:ext cx="2468880" cy="3012957"/>
            </a:xfrm>
            <a:prstGeom prst="roundRect">
              <a:avLst>
                <a:gd name="adj" fmla="val 8728"/>
              </a:avLst>
            </a:prstGeom>
            <a:solidFill>
              <a:schemeClr val="bg1">
                <a:lumMod val="75000"/>
                <a:alpha val="25000"/>
              </a:schemeClr>
            </a:solidFill>
            <a:ln w="19050" cap="flat" cmpd="sng" algn="ctr">
              <a:noFill/>
              <a:prstDash val="solid"/>
              <a:miter lim="800000"/>
            </a:ln>
            <a:effectLst>
              <a:outerShdw blurRad="381000" dist="723900" dir="8100000" algn="tr" rotWithShape="0">
                <a:prstClr val="black">
                  <a:alpha val="16000"/>
                </a:prstClr>
              </a:outerShdw>
            </a:effectLst>
          </p:spPr>
          <p:txBody>
            <a:bodyPr rtlCol="0" anchor="ctr"/>
            <a:lstStyle/>
            <a:p>
              <a:pPr marL="0" marR="0" lvl="0" indent="0" algn="ctr" defTabSz="268114"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prstClr val="white"/>
                </a:solidFill>
                <a:effectLst/>
                <a:uLnTx/>
                <a:uFillTx/>
                <a:latin typeface="Segoe Sans Display Semibold" pitchFamily="2" charset="0"/>
                <a:ea typeface="+mn-ea"/>
                <a:cs typeface="Segoe Sans Display Semibold" pitchFamily="2" charset="0"/>
              </a:endParaRPr>
            </a:p>
          </p:txBody>
        </p:sp>
        <p:sp>
          <p:nvSpPr>
            <p:cNvPr id="6" name="Rectangle 5">
              <a:extLst>
                <a:ext uri="{FF2B5EF4-FFF2-40B4-BE49-F238E27FC236}">
                  <a16:creationId xmlns:a16="http://schemas.microsoft.com/office/drawing/2014/main" id="{C4130A85-644B-D4DC-3C9B-4792281A25FF}"/>
                </a:ext>
              </a:extLst>
            </p:cNvPr>
            <p:cNvSpPr/>
            <p:nvPr/>
          </p:nvSpPr>
          <p:spPr>
            <a:xfrm>
              <a:off x="803387" y="4212221"/>
              <a:ext cx="2161026" cy="1083456"/>
            </a:xfrm>
            <a:prstGeom prst="rect">
              <a:avLst/>
            </a:prstGeom>
            <a:noFill/>
            <a:ln w="19050" cap="flat" cmpd="sng" algn="ctr">
              <a:noFill/>
              <a:prstDash val="solid"/>
              <a:miter lim="800000"/>
            </a:ln>
            <a:effectLst/>
          </p:spPr>
          <p:txBody>
            <a:bodyPr lIns="0" tIns="0" rIns="0" bIns="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effectLst/>
                  <a:uLnTx/>
                  <a:uFillTx/>
                  <a:latin typeface="Segoe Sans Display"/>
                  <a:ea typeface="+mn-ea"/>
                  <a:cs typeface="Segoe Sans Display Semilight" pitchFamily="2" charset="0"/>
                </a:rPr>
                <a:t>Automations that follow </a:t>
              </a:r>
              <a:r>
                <a:rPr kumimoji="0" lang="en-US" sz="1400" b="1" i="0" u="none" strike="noStrike" kern="0" cap="none" spc="0" normalizeH="0" baseline="0" noProof="0" dirty="0">
                  <a:ln>
                    <a:noFill/>
                  </a:ln>
                  <a:effectLst/>
                  <a:uLnTx/>
                  <a:uFillTx/>
                  <a:latin typeface="Segoe Sans Display"/>
                  <a:ea typeface="+mn-ea"/>
                  <a:cs typeface="Segoe Sans Display Semilight" pitchFamily="2" charset="0"/>
                </a:rPr>
                <a:t>rigid, predetermined rules</a:t>
              </a:r>
              <a:r>
                <a:rPr kumimoji="0" lang="en-US" sz="1400" b="0" i="0" u="none" strike="noStrike" kern="0" cap="none" spc="0" normalizeH="0" baseline="0" noProof="0" dirty="0">
                  <a:ln>
                    <a:noFill/>
                  </a:ln>
                  <a:effectLst/>
                  <a:uLnTx/>
                  <a:uFillTx/>
                  <a:latin typeface="Segoe Sans Display"/>
                  <a:ea typeface="+mn-ea"/>
                  <a:cs typeface="Segoe Sans Display Semilight" pitchFamily="2" charset="0"/>
                </a:rPr>
                <a:t>, executing actions based on predefined triggers</a:t>
              </a:r>
              <a:r>
                <a:rPr kumimoji="0" lang="en-US" sz="1400" b="0" i="0" u="none" strike="noStrike" kern="0" cap="none" spc="0" normalizeH="0" baseline="0" noProof="0" dirty="0">
                  <a:ln>
                    <a:noFill/>
                  </a:ln>
                  <a:effectLst/>
                  <a:uLnTx/>
                  <a:uFillTx/>
                  <a:latin typeface="Segoe UI" panose="020B0502040204020203" pitchFamily="34" charset="0"/>
                  <a:ea typeface="+mn-ea"/>
                  <a:cs typeface="Segoe UI" panose="020B0502040204020203" pitchFamily="34" charset="0"/>
                </a:rPr>
                <a:t>.</a:t>
              </a:r>
            </a:p>
          </p:txBody>
        </p:sp>
        <p:sp>
          <p:nvSpPr>
            <p:cNvPr id="7" name="Text Placeholder 2">
              <a:extLst>
                <a:ext uri="{FF2B5EF4-FFF2-40B4-BE49-F238E27FC236}">
                  <a16:creationId xmlns:a16="http://schemas.microsoft.com/office/drawing/2014/main" id="{0F21AE61-F885-0335-BE78-311EA9A40E5F}"/>
                </a:ext>
              </a:extLst>
            </p:cNvPr>
            <p:cNvSpPr txBox="1">
              <a:spLocks/>
            </p:cNvSpPr>
            <p:nvPr/>
          </p:nvSpPr>
          <p:spPr>
            <a:xfrm>
              <a:off x="773407" y="3427533"/>
              <a:ext cx="2161026" cy="509378"/>
            </a:xfrm>
            <a:prstGeom prst="roundRect">
              <a:avLst>
                <a:gd name="adj" fmla="val 50000"/>
              </a:avLst>
            </a:prstGeom>
            <a:solidFill>
              <a:schemeClr val="accent2"/>
            </a:solidFill>
            <a:ln w="19050" cap="flat" cmpd="sng" algn="ctr">
              <a:noFill/>
              <a:prstDash val="solid"/>
              <a:miter lim="800000"/>
            </a:ln>
            <a:effectLst>
              <a:outerShdw blurRad="419100" sx="102000" sy="102000" algn="ctr" rotWithShape="0">
                <a:prstClr val="black">
                  <a:alpha val="16000"/>
                </a:prstClr>
              </a:outerShdw>
            </a:effectLst>
          </p:spPr>
          <p:txBody>
            <a:bodyPr wrap="none" rtlCol="0" anchor="ctr"/>
            <a:lstStyle>
              <a:defPPr>
                <a:defRPr lang="en-US"/>
              </a:defPPr>
              <a:lvl1pPr algn="ctr" defTabSz="351371">
                <a:defRPr sz="4743" spc="-12">
                  <a:solidFill>
                    <a:srgbClr val="010632"/>
                  </a:solidFill>
                  <a:latin typeface="Segoe Sans Display Semibold" pitchFamily="2" charset="0"/>
                  <a:cs typeface="Segoe Sans Display Semi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351371" eaLnBrk="1" fontAlgn="auto" latinLnBrk="0" hangingPunct="1">
                <a:lnSpc>
                  <a:spcPct val="85000"/>
                </a:lnSpc>
                <a:spcBef>
                  <a:spcPts val="0"/>
                </a:spcBef>
                <a:spcAft>
                  <a:spcPts val="0"/>
                </a:spcAft>
                <a:buClrTx/>
                <a:buSzTx/>
                <a:buFontTx/>
                <a:buNone/>
                <a:tabLst/>
                <a:defRPr/>
              </a:pPr>
              <a:r>
                <a:rPr kumimoji="0" lang="en-GB" sz="1400" b="0" i="0" u="none" strike="noStrike" kern="0" cap="none" spc="-12" normalizeH="0" baseline="0" noProof="0" dirty="0">
                  <a:ln>
                    <a:noFill/>
                  </a:ln>
                  <a:solidFill>
                    <a:schemeClr val="bg1"/>
                  </a:solidFill>
                  <a:effectLst/>
                  <a:uLnTx/>
                  <a:uFillTx/>
                  <a:latin typeface="Segoe Sans Display Semibold" pitchFamily="2" charset="0"/>
                  <a:ea typeface="+mn-ea"/>
                  <a:cs typeface="Segoe Sans Display Semibold" pitchFamily="2" charset="0"/>
                </a:rPr>
                <a:t>Rule-Based </a:t>
              </a:r>
            </a:p>
            <a:p>
              <a:pPr marL="0" marR="0" lvl="0" indent="0" algn="ctr" defTabSz="351371" eaLnBrk="1" fontAlgn="auto" latinLnBrk="0" hangingPunct="1">
                <a:lnSpc>
                  <a:spcPct val="85000"/>
                </a:lnSpc>
                <a:spcBef>
                  <a:spcPts val="0"/>
                </a:spcBef>
                <a:spcAft>
                  <a:spcPts val="0"/>
                </a:spcAft>
                <a:buClrTx/>
                <a:buSzTx/>
                <a:buFontTx/>
                <a:buNone/>
                <a:tabLst/>
                <a:defRPr/>
              </a:pPr>
              <a:r>
                <a:rPr kumimoji="0" lang="en-GB" sz="1400" b="0" i="0" u="none" strike="noStrike" kern="0" cap="none" spc="-12" normalizeH="0" baseline="0" noProof="0" dirty="0">
                  <a:ln>
                    <a:noFill/>
                  </a:ln>
                  <a:solidFill>
                    <a:schemeClr val="bg1"/>
                  </a:solidFill>
                  <a:effectLst/>
                  <a:uLnTx/>
                  <a:uFillTx/>
                  <a:latin typeface="Segoe Sans Display Semibold" pitchFamily="2" charset="0"/>
                  <a:ea typeface="+mn-ea"/>
                  <a:cs typeface="Segoe Sans Display Semibold" pitchFamily="2" charset="0"/>
                </a:rPr>
                <a:t>Automation</a:t>
              </a:r>
            </a:p>
          </p:txBody>
        </p:sp>
        <p:grpSp>
          <p:nvGrpSpPr>
            <p:cNvPr id="18" name="Group 17">
              <a:extLst>
                <a:ext uri="{FF2B5EF4-FFF2-40B4-BE49-F238E27FC236}">
                  <a16:creationId xmlns:a16="http://schemas.microsoft.com/office/drawing/2014/main" id="{830DCE45-32CE-F4FA-C14E-88F097C355AD}"/>
                </a:ext>
              </a:extLst>
            </p:cNvPr>
            <p:cNvGrpSpPr/>
            <p:nvPr/>
          </p:nvGrpSpPr>
          <p:grpSpPr>
            <a:xfrm>
              <a:off x="1277824" y="2056239"/>
              <a:ext cx="1127462" cy="1127736"/>
              <a:chOff x="1797921" y="1681629"/>
              <a:chExt cx="845846" cy="846052"/>
            </a:xfrm>
          </p:grpSpPr>
          <p:sp>
            <p:nvSpPr>
              <p:cNvPr id="20" name="Rectangle: Rounded Corners 19">
                <a:extLst>
                  <a:ext uri="{FF2B5EF4-FFF2-40B4-BE49-F238E27FC236}">
                    <a16:creationId xmlns:a16="http://schemas.microsoft.com/office/drawing/2014/main" id="{DC523BB3-82AB-996C-1DCE-879C756B56E5}"/>
                  </a:ext>
                </a:extLst>
              </p:cNvPr>
              <p:cNvSpPr/>
              <p:nvPr/>
            </p:nvSpPr>
            <p:spPr bwMode="auto">
              <a:xfrm rot="5400000">
                <a:off x="1797818" y="1681732"/>
                <a:ext cx="846052" cy="845846"/>
              </a:xfrm>
              <a:prstGeom prst="roundRect">
                <a:avLst>
                  <a:gd name="adj" fmla="val 50000"/>
                </a:avLst>
              </a:prstGeom>
              <a:solidFill>
                <a:schemeClr val="accent2"/>
              </a:solidFill>
              <a:ln w="19050" cap="flat" cmpd="sng" algn="ctr">
                <a:noFill/>
                <a:prstDash val="solid"/>
                <a:miter lim="800000"/>
              </a:ln>
              <a:effectLst>
                <a:outerShdw blurRad="419100" sx="102000" sy="102000" algn="ctr" rotWithShape="0">
                  <a:prstClr val="black">
                    <a:alpha val="16000"/>
                  </a:prstClr>
                </a:outerShdw>
              </a:effectLst>
            </p:spPr>
            <p:txBody>
              <a:bodyPr lIns="0" tIns="0" rIns="0" rtlCol="0" anchor="ctr"/>
              <a:lstStyle/>
              <a:p>
                <a:pPr marL="0" marR="0" lvl="0" indent="0" algn="ctr" defTabSz="351371" eaLnBrk="1" fontAlgn="auto" latinLnBrk="0" hangingPunct="1">
                  <a:lnSpc>
                    <a:spcPct val="100000"/>
                  </a:lnSpc>
                  <a:spcBef>
                    <a:spcPts val="0"/>
                  </a:spcBef>
                  <a:spcAft>
                    <a:spcPts val="0"/>
                  </a:spcAft>
                  <a:buClrTx/>
                  <a:buSzTx/>
                  <a:buFontTx/>
                  <a:buNone/>
                  <a:tabLst/>
                  <a:defRPr/>
                </a:pPr>
                <a:endParaRPr kumimoji="0" lang="en-GB" sz="100" b="0" i="0" u="none" strike="noStrike" kern="0" cap="none" spc="-12" normalizeH="0" baseline="0" noProof="0" err="1">
                  <a:ln>
                    <a:noFill/>
                  </a:ln>
                  <a:solidFill>
                    <a:srgbClr val="010632"/>
                  </a:solidFill>
                  <a:effectLst/>
                  <a:uLnTx/>
                  <a:uFillTx/>
                  <a:latin typeface="Segoe Sans Display Semibold" pitchFamily="2" charset="0"/>
                  <a:ea typeface="+mn-ea"/>
                  <a:cs typeface="Segoe Sans Display Semibold" pitchFamily="2" charset="0"/>
                </a:endParaRPr>
              </a:p>
            </p:txBody>
          </p:sp>
          <p:sp>
            <p:nvSpPr>
              <p:cNvPr id="21" name="Rectangle: Rounded Corners 20">
                <a:extLst>
                  <a:ext uri="{FF2B5EF4-FFF2-40B4-BE49-F238E27FC236}">
                    <a16:creationId xmlns:a16="http://schemas.microsoft.com/office/drawing/2014/main" id="{88354D46-8105-A378-4DB7-24672A36B490}"/>
                  </a:ext>
                </a:extLst>
              </p:cNvPr>
              <p:cNvSpPr/>
              <p:nvPr/>
            </p:nvSpPr>
            <p:spPr bwMode="auto">
              <a:xfrm rot="5400000">
                <a:off x="1877129" y="1762553"/>
                <a:ext cx="683492" cy="683325"/>
              </a:xfrm>
              <a:prstGeom prst="roundRect">
                <a:avLst>
                  <a:gd name="adj" fmla="val 50000"/>
                </a:avLst>
              </a:prstGeom>
              <a:solidFill>
                <a:srgbClr val="FFFFFF">
                  <a:alpha val="50000"/>
                </a:srgbClr>
              </a:solidFill>
              <a:ln w="19050" cap="flat" cmpd="sng" algn="ctr">
                <a:noFill/>
                <a:prstDash val="solid"/>
                <a:miter lim="800000"/>
              </a:ln>
              <a:effectLst/>
            </p:spPr>
            <p:txBody>
              <a:bodyPr lIns="0" tIns="0" rIns="0" rtlCol="0" anchor="ctr"/>
              <a:lstStyle/>
              <a:p>
                <a:pPr marL="0" marR="0" lvl="0" indent="0" algn="ctr" defTabSz="351371" eaLnBrk="1" fontAlgn="auto" latinLnBrk="0" hangingPunct="1">
                  <a:lnSpc>
                    <a:spcPct val="100000"/>
                  </a:lnSpc>
                  <a:spcBef>
                    <a:spcPts val="0"/>
                  </a:spcBef>
                  <a:spcAft>
                    <a:spcPts val="0"/>
                  </a:spcAft>
                  <a:buClrTx/>
                  <a:buSzTx/>
                  <a:buFontTx/>
                  <a:buNone/>
                  <a:tabLst/>
                  <a:defRPr/>
                </a:pPr>
                <a:endParaRPr kumimoji="0" lang="en-GB" sz="100" b="0" i="0" u="none" strike="noStrike" kern="0" cap="none" spc="-12" normalizeH="0" baseline="0" noProof="0">
                  <a:ln>
                    <a:noFill/>
                  </a:ln>
                  <a:solidFill>
                    <a:srgbClr val="010632"/>
                  </a:solidFill>
                  <a:effectLst/>
                  <a:uLnTx/>
                  <a:uFillTx/>
                  <a:latin typeface="Segoe Sans Display Semibold" pitchFamily="2" charset="0"/>
                  <a:ea typeface="+mn-ea"/>
                  <a:cs typeface="Segoe Sans Display Semibold" pitchFamily="2" charset="0"/>
                </a:endParaRPr>
              </a:p>
            </p:txBody>
          </p:sp>
        </p:grpSp>
        <p:pic>
          <p:nvPicPr>
            <p:cNvPr id="38" name="Graphic 37" descr="Workflow outline">
              <a:extLst>
                <a:ext uri="{FF2B5EF4-FFF2-40B4-BE49-F238E27FC236}">
                  <a16:creationId xmlns:a16="http://schemas.microsoft.com/office/drawing/2014/main" id="{C9FA320B-27F9-E27C-A3EE-1E01B483706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52678" y="2331117"/>
              <a:ext cx="602484" cy="602484"/>
            </a:xfrm>
            <a:prstGeom prst="rect">
              <a:avLst/>
            </a:prstGeom>
          </p:spPr>
        </p:pic>
      </p:grpSp>
      <p:pic>
        <p:nvPicPr>
          <p:cNvPr id="53" name="Picture 19">
            <a:extLst>
              <a:ext uri="{FF2B5EF4-FFF2-40B4-BE49-F238E27FC236}">
                <a16:creationId xmlns:a16="http://schemas.microsoft.com/office/drawing/2014/main" id="{F098D3C5-42E5-A170-A6A0-E8F40BE9A8AC}"/>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910117" y="6134336"/>
            <a:ext cx="547480" cy="544100"/>
          </a:xfrm>
          <a:prstGeom prst="rect">
            <a:avLst/>
          </a:prstGeom>
          <a:effectLst/>
        </p:spPr>
      </p:pic>
      <p:sp>
        <p:nvSpPr>
          <p:cNvPr id="54" name="Title 6">
            <a:extLst>
              <a:ext uri="{FF2B5EF4-FFF2-40B4-BE49-F238E27FC236}">
                <a16:creationId xmlns:a16="http://schemas.microsoft.com/office/drawing/2014/main" id="{3906ED4F-644F-711A-57EA-92C2465EF06B}"/>
              </a:ext>
            </a:extLst>
          </p:cNvPr>
          <p:cNvSpPr txBox="1">
            <a:spLocks/>
          </p:cNvSpPr>
          <p:nvPr/>
        </p:nvSpPr>
        <p:spPr>
          <a:xfrm>
            <a:off x="2621125" y="6267887"/>
            <a:ext cx="2055978" cy="276999"/>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tab pos="1371600" algn="l"/>
              </a:tabLst>
              <a:defRPr/>
            </a:pPr>
            <a:r>
              <a:rPr kumimoji="0" lang="en-US" sz="1800" b="1" i="0" u="none" strike="noStrike" kern="1200" cap="none" spc="0" normalizeH="0" baseline="0" noProof="0" dirty="0">
                <a:ln w="3175">
                  <a:noFill/>
                </a:ln>
                <a:solidFill>
                  <a:schemeClr val="tx1"/>
                </a:solidFill>
                <a:effectLst/>
                <a:uLnTx/>
                <a:uFillTx/>
                <a:latin typeface="Segoe UI Semibold"/>
                <a:ea typeface="+mn-ea"/>
                <a:cs typeface="Segoe UI" pitchFamily="34" charset="0"/>
              </a:rPr>
              <a:t>Power Automate</a:t>
            </a:r>
          </a:p>
        </p:txBody>
      </p:sp>
      <p:pic>
        <p:nvPicPr>
          <p:cNvPr id="55" name="Picture 54">
            <a:extLst>
              <a:ext uri="{FF2B5EF4-FFF2-40B4-BE49-F238E27FC236}">
                <a16:creationId xmlns:a16="http://schemas.microsoft.com/office/drawing/2014/main" id="{E5325C28-7B20-B93E-5F6C-3E0B36D010E7}"/>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7351231" y="6090877"/>
            <a:ext cx="578736" cy="578736"/>
          </a:xfrm>
          <a:prstGeom prst="rect">
            <a:avLst/>
          </a:prstGeom>
          <a:effectLst/>
        </p:spPr>
      </p:pic>
      <p:sp>
        <p:nvSpPr>
          <p:cNvPr id="56" name="Title 6">
            <a:extLst>
              <a:ext uri="{FF2B5EF4-FFF2-40B4-BE49-F238E27FC236}">
                <a16:creationId xmlns:a16="http://schemas.microsoft.com/office/drawing/2014/main" id="{BF236416-C57A-3409-777E-E164E2F32B46}"/>
              </a:ext>
            </a:extLst>
          </p:cNvPr>
          <p:cNvSpPr txBox="1">
            <a:spLocks/>
          </p:cNvSpPr>
          <p:nvPr/>
        </p:nvSpPr>
        <p:spPr>
          <a:xfrm>
            <a:off x="8105026" y="6267887"/>
            <a:ext cx="1867507" cy="276999"/>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tab pos="1371600" algn="l"/>
              </a:tabLst>
              <a:defRPr/>
            </a:pPr>
            <a:r>
              <a:rPr kumimoji="0" lang="en-US" sz="1800" b="1" i="0" u="none" strike="noStrike" kern="1200" cap="none" spc="0" normalizeH="0" baseline="0" noProof="0" dirty="0">
                <a:ln w="3175">
                  <a:noFill/>
                </a:ln>
                <a:solidFill>
                  <a:schemeClr val="tx1"/>
                </a:solidFill>
                <a:effectLst/>
                <a:uLnTx/>
                <a:uFillTx/>
                <a:latin typeface="Segoe UI Semibold"/>
                <a:ea typeface="+mn-ea"/>
                <a:cs typeface="Segoe UI" pitchFamily="34" charset="0"/>
              </a:rPr>
              <a:t>Copilot Studio</a:t>
            </a:r>
          </a:p>
        </p:txBody>
      </p:sp>
    </p:spTree>
    <p:extLst>
      <p:ext uri="{BB962C8B-B14F-4D97-AF65-F5344CB8AC3E}">
        <p14:creationId xmlns:p14="http://schemas.microsoft.com/office/powerpoint/2010/main" val="28249887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par>
                                <p:cTn id="8" presetID="42" presetClass="path" presetSubtype="0" decel="100000" fill="hold" grpId="1" nodeType="withEffect">
                                  <p:stCondLst>
                                    <p:cond delay="150"/>
                                  </p:stCondLst>
                                  <p:childTnLst>
                                    <p:animMotion origin="layout" path="M 0 -0.03472 L 0 -2.96296E-6 " pathEditMode="relative" rAng="0" ptsTypes="AA">
                                      <p:cBhvr>
                                        <p:cTn id="9" dur="500" fill="hold"/>
                                        <p:tgtEl>
                                          <p:spTgt spid="2"/>
                                        </p:tgtEl>
                                        <p:attrNameLst>
                                          <p:attrName>ppt_x</p:attrName>
                                          <p:attrName>ppt_y</p:attrName>
                                        </p:attrNameLst>
                                      </p:cBhvr>
                                      <p:rCtr x="0" y="1736"/>
                                    </p:animMotion>
                                  </p:childTnLst>
                                </p:cTn>
                              </p:par>
                              <p:par>
                                <p:cTn id="10" presetID="10" presetClass="entr" presetSubtype="0" fill="hold" grpId="0" nodeType="withEffect">
                                  <p:stCondLst>
                                    <p:cond delay="25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2" presetClass="entr" presetSubtype="4" fill="hold" grpId="0" nodeType="withEffect">
                                  <p:stCondLst>
                                    <p:cond delay="1050"/>
                                  </p:stCondLst>
                                  <p:childTnLst>
                                    <p:set>
                                      <p:cBhvr>
                                        <p:cTn id="14" dur="1" fill="hold">
                                          <p:stCondLst>
                                            <p:cond delay="0"/>
                                          </p:stCondLst>
                                        </p:cTn>
                                        <p:tgtEl>
                                          <p:spTgt spid="37"/>
                                        </p:tgtEl>
                                        <p:attrNameLst>
                                          <p:attrName>style.visibility</p:attrName>
                                        </p:attrNameLst>
                                      </p:cBhvr>
                                      <p:to>
                                        <p:strVal val="visible"/>
                                      </p:to>
                                    </p:set>
                                    <p:anim calcmode="lin" valueType="num">
                                      <p:cBhvr additive="base">
                                        <p:cTn id="15" dur="500" fill="hold"/>
                                        <p:tgtEl>
                                          <p:spTgt spid="37"/>
                                        </p:tgtEl>
                                        <p:attrNameLst>
                                          <p:attrName>ppt_x</p:attrName>
                                        </p:attrNameLst>
                                      </p:cBhvr>
                                      <p:tavLst>
                                        <p:tav tm="0">
                                          <p:val>
                                            <p:strVal val="#ppt_x"/>
                                          </p:val>
                                        </p:tav>
                                        <p:tav tm="100000">
                                          <p:val>
                                            <p:strVal val="#ppt_x"/>
                                          </p:val>
                                        </p:tav>
                                      </p:tavLst>
                                    </p:anim>
                                    <p:anim calcmode="lin" valueType="num">
                                      <p:cBhvr additive="base">
                                        <p:cTn id="16" dur="500" fill="hold"/>
                                        <p:tgtEl>
                                          <p:spTgt spid="37"/>
                                        </p:tgtEl>
                                        <p:attrNameLst>
                                          <p:attrName>ppt_y</p:attrName>
                                        </p:attrNameLst>
                                      </p:cBhvr>
                                      <p:tavLst>
                                        <p:tav tm="0">
                                          <p:val>
                                            <p:strVal val="1+#ppt_h/2"/>
                                          </p:val>
                                        </p:tav>
                                        <p:tav tm="100000">
                                          <p:val>
                                            <p:strVal val="#ppt_y"/>
                                          </p:val>
                                        </p:tav>
                                      </p:tavLst>
                                    </p:anim>
                                  </p:childTnLst>
                                </p:cTn>
                              </p:par>
                              <p:par>
                                <p:cTn id="17" presetID="10" presetClass="entr" presetSubtype="0" repeatCount="0" fill="hold" nodeType="with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fade">
                                      <p:cBhvr>
                                        <p:cTn id="19" dur="200"/>
                                        <p:tgtEl>
                                          <p:spTgt spid="53"/>
                                        </p:tgtEl>
                                      </p:cBhvr>
                                    </p:animEffect>
                                  </p:childTnLst>
                                </p:cTn>
                              </p:par>
                              <p:par>
                                <p:cTn id="20" presetID="10" presetClass="entr" presetSubtype="0" repeatCount="0" fill="hold" grpId="0" nodeType="with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fade">
                                      <p:cBhvr>
                                        <p:cTn id="22" dur="200"/>
                                        <p:tgtEl>
                                          <p:spTgt spid="54"/>
                                        </p:tgtEl>
                                      </p:cBhvr>
                                    </p:animEffect>
                                  </p:childTnLst>
                                </p:cTn>
                              </p:par>
                              <p:par>
                                <p:cTn id="23" presetID="10" presetClass="entr" presetSubtype="0" repeatCount="0" fill="hold" nodeType="withEffect">
                                  <p:stCondLst>
                                    <p:cond delay="0"/>
                                  </p:stCondLst>
                                  <p:childTnLst>
                                    <p:set>
                                      <p:cBhvr>
                                        <p:cTn id="24" dur="1" fill="hold">
                                          <p:stCondLst>
                                            <p:cond delay="0"/>
                                          </p:stCondLst>
                                        </p:cTn>
                                        <p:tgtEl>
                                          <p:spTgt spid="55"/>
                                        </p:tgtEl>
                                        <p:attrNameLst>
                                          <p:attrName>style.visibility</p:attrName>
                                        </p:attrNameLst>
                                      </p:cBhvr>
                                      <p:to>
                                        <p:strVal val="visible"/>
                                      </p:to>
                                    </p:set>
                                    <p:animEffect transition="in" filter="fade">
                                      <p:cBhvr>
                                        <p:cTn id="25" dur="200"/>
                                        <p:tgtEl>
                                          <p:spTgt spid="55"/>
                                        </p:tgtEl>
                                      </p:cBhvr>
                                    </p:animEffect>
                                  </p:childTnLst>
                                </p:cTn>
                              </p:par>
                              <p:par>
                                <p:cTn id="26" presetID="10" presetClass="entr" presetSubtype="0" repeatCount="0" fill="hold" grpId="0" nodeType="withEffect">
                                  <p:stCondLst>
                                    <p:cond delay="0"/>
                                  </p:stCondLst>
                                  <p:childTnLst>
                                    <p:set>
                                      <p:cBhvr>
                                        <p:cTn id="27" dur="1" fill="hold">
                                          <p:stCondLst>
                                            <p:cond delay="0"/>
                                          </p:stCondLst>
                                        </p:cTn>
                                        <p:tgtEl>
                                          <p:spTgt spid="56"/>
                                        </p:tgtEl>
                                        <p:attrNameLst>
                                          <p:attrName>style.visibility</p:attrName>
                                        </p:attrNameLst>
                                      </p:cBhvr>
                                      <p:to>
                                        <p:strVal val="visible"/>
                                      </p:to>
                                    </p:set>
                                    <p:animEffect transition="in" filter="fade">
                                      <p:cBhvr>
                                        <p:cTn id="28" dur="2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16" grpId="0"/>
      <p:bldP spid="37" grpId="0" animBg="1"/>
      <p:bldP spid="54" grpId="0"/>
      <p:bldP spid="5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E4C9B0B6-76C5-0DEE-60E2-1176FCD2B709}"/>
              </a:ext>
            </a:extLst>
          </p:cNvPr>
          <p:cNvSpPr txBox="1">
            <a:spLocks/>
          </p:cNvSpPr>
          <p:nvPr/>
        </p:nvSpPr>
        <p:spPr>
          <a:xfrm>
            <a:off x="588263" y="457200"/>
            <a:ext cx="11018520" cy="553998"/>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a:ln>
                  <a:noFill/>
                </a:ln>
                <a:effectLst/>
                <a:uLnTx/>
                <a:uFillTx/>
                <a:latin typeface="Segoe Sans Display Semibold"/>
                <a:ea typeface="+mj-ea"/>
                <a:cs typeface="+mj-cs"/>
              </a:rPr>
              <a:t>Rule-Based Automation</a:t>
            </a:r>
          </a:p>
        </p:txBody>
      </p:sp>
      <p:grpSp>
        <p:nvGrpSpPr>
          <p:cNvPr id="3" name="Group 2">
            <a:extLst>
              <a:ext uri="{FF2B5EF4-FFF2-40B4-BE49-F238E27FC236}">
                <a16:creationId xmlns:a16="http://schemas.microsoft.com/office/drawing/2014/main" id="{0985904E-C82F-B508-F752-F60AC3EDAEEB}"/>
              </a:ext>
            </a:extLst>
          </p:cNvPr>
          <p:cNvGrpSpPr/>
          <p:nvPr/>
        </p:nvGrpSpPr>
        <p:grpSpPr>
          <a:xfrm>
            <a:off x="583922" y="1668253"/>
            <a:ext cx="5512078" cy="2899411"/>
            <a:chOff x="583922" y="1668253"/>
            <a:chExt cx="5512078" cy="2899411"/>
          </a:xfrm>
        </p:grpSpPr>
        <p:sp>
          <p:nvSpPr>
            <p:cNvPr id="4" name="TextBox 3">
              <a:extLst>
                <a:ext uri="{FF2B5EF4-FFF2-40B4-BE49-F238E27FC236}">
                  <a16:creationId xmlns:a16="http://schemas.microsoft.com/office/drawing/2014/main" id="{86952E68-D5A1-B693-C1C0-167A9694701B}"/>
                </a:ext>
              </a:extLst>
            </p:cNvPr>
            <p:cNvSpPr txBox="1"/>
            <p:nvPr/>
          </p:nvSpPr>
          <p:spPr>
            <a:xfrm>
              <a:off x="1000424" y="2351673"/>
              <a:ext cx="5095576" cy="2215991"/>
            </a:xfrm>
            <a:prstGeom prst="rect">
              <a:avLst/>
            </a:prstGeom>
            <a:noFill/>
          </p:spPr>
          <p:txBody>
            <a:bodyPr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a:ln>
                    <a:noFill/>
                  </a:ln>
                  <a:effectLst/>
                  <a:uLnTx/>
                  <a:uFillTx/>
                  <a:latin typeface="Segoe UI"/>
                  <a:ea typeface="Segoe UI" panose="020B0502040204020203" pitchFamily="34" charset="0"/>
                  <a:cs typeface="Segoe UI"/>
                </a:rPr>
                <a:t>Structured</a:t>
              </a:r>
              <a:r>
                <a:rPr kumimoji="0" lang="en-US" b="0" i="0" u="none" strike="noStrike" kern="0" cap="none" spc="0" normalizeH="0" baseline="0" noProof="0">
                  <a:ln>
                    <a:noFill/>
                  </a:ln>
                  <a:effectLst/>
                  <a:uLnTx/>
                  <a:uFillTx/>
                  <a:latin typeface="Segoe UI"/>
                  <a:ea typeface="Segoe UI" panose="020B0502040204020203" pitchFamily="34" charset="0"/>
                  <a:cs typeface="Segoe UI"/>
                </a:rPr>
                <a:t> – they operate on predefined logic, steps, and conditions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effectLst/>
                <a:uLnTx/>
                <a:uFillTx/>
                <a:latin typeface="Segoe UI"/>
                <a:ea typeface="Segoe UI" panose="020B0502040204020203" pitchFamily="34" charset="0"/>
                <a:cs typeface="Segoe UI"/>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a:ln>
                    <a:noFill/>
                  </a:ln>
                  <a:effectLst/>
                  <a:uLnTx/>
                  <a:uFillTx/>
                  <a:latin typeface="Segoe UI"/>
                  <a:ea typeface="Segoe UI" panose="020B0502040204020203" pitchFamily="34" charset="0"/>
                  <a:cs typeface="Segoe UI"/>
                </a:rPr>
                <a:t>Deterministic</a:t>
              </a:r>
              <a:r>
                <a:rPr kumimoji="0" lang="en-US" b="0" i="0" u="none" strike="noStrike" kern="0" cap="none" spc="0" normalizeH="0" baseline="0" noProof="0">
                  <a:ln>
                    <a:noFill/>
                  </a:ln>
                  <a:effectLst/>
                  <a:uLnTx/>
                  <a:uFillTx/>
                  <a:latin typeface="Segoe UI"/>
                  <a:ea typeface="Segoe UI" panose="020B0502040204020203" pitchFamily="34" charset="0"/>
                  <a:cs typeface="Segoe UI"/>
                </a:rPr>
                <a:t> – the same inputs always produce the same outputs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effectLst/>
                <a:uLnTx/>
                <a:uFillTx/>
                <a:latin typeface="Segoe UI"/>
                <a:ea typeface="Segoe UI" panose="020B0502040204020203" pitchFamily="34" charset="0"/>
                <a:cs typeface="Segoe UI"/>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a:ln>
                    <a:noFill/>
                  </a:ln>
                  <a:effectLst/>
                  <a:uLnTx/>
                  <a:uFillTx/>
                  <a:latin typeface="Segoe UI"/>
                  <a:ea typeface="Segoe UI" panose="020B0502040204020203" pitchFamily="34" charset="0"/>
                  <a:cs typeface="Segoe UI"/>
                </a:rPr>
                <a:t>Predictable</a:t>
              </a:r>
              <a:r>
                <a:rPr kumimoji="0" lang="en-US" b="0" i="0" u="none" strike="noStrike" kern="0" cap="none" spc="0" normalizeH="0" baseline="0" noProof="0">
                  <a:ln>
                    <a:noFill/>
                  </a:ln>
                  <a:effectLst/>
                  <a:uLnTx/>
                  <a:uFillTx/>
                  <a:latin typeface="Segoe UI"/>
                  <a:ea typeface="Segoe UI" panose="020B0502040204020203" pitchFamily="34" charset="0"/>
                  <a:cs typeface="Segoe UI"/>
                </a:rPr>
                <a:t> – they deliver uniform results that are simple to review and troubleshoot</a:t>
              </a:r>
            </a:p>
          </p:txBody>
        </p:sp>
        <p:sp>
          <p:nvSpPr>
            <p:cNvPr id="5" name="Title 6">
              <a:extLst>
                <a:ext uri="{FF2B5EF4-FFF2-40B4-BE49-F238E27FC236}">
                  <a16:creationId xmlns:a16="http://schemas.microsoft.com/office/drawing/2014/main" id="{3C386E4C-5A4D-6EF0-DB91-354AF8C1B08A}"/>
                </a:ext>
              </a:extLst>
            </p:cNvPr>
            <p:cNvSpPr txBox="1">
              <a:spLocks/>
            </p:cNvSpPr>
            <p:nvPr/>
          </p:nvSpPr>
          <p:spPr>
            <a:xfrm>
              <a:off x="598527" y="1668253"/>
              <a:ext cx="3819302" cy="307777"/>
            </a:xfrm>
            <a:prstGeom prst="rect">
              <a:avLst/>
            </a:prstGeom>
            <a:noFill/>
            <a:ln w="9525"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tab pos="1371600" algn="l"/>
                </a:tabLst>
                <a:defRPr/>
              </a:pPr>
              <a:r>
                <a:rPr kumimoji="0" lang="en-US" sz="2000" b="1" i="0" u="none" strike="noStrike" kern="1200" cap="none" spc="0" normalizeH="0" baseline="0" noProof="0">
                  <a:ln w="3175">
                    <a:noFill/>
                  </a:ln>
                  <a:solidFill>
                    <a:schemeClr val="tx1"/>
                  </a:solidFill>
                  <a:effectLst/>
                  <a:uLnTx/>
                  <a:uFillTx/>
                  <a:latin typeface="Segoe Sans Display Semibold"/>
                  <a:ea typeface="+mn-ea"/>
                  <a:cs typeface="Segoe UI" pitchFamily="34" charset="0"/>
                </a:rPr>
                <a:t>Rule-based automations are:</a:t>
              </a:r>
            </a:p>
          </p:txBody>
        </p:sp>
        <p:sp>
          <p:nvSpPr>
            <p:cNvPr id="6" name="Graphic 97">
              <a:extLst>
                <a:ext uri="{FF2B5EF4-FFF2-40B4-BE49-F238E27FC236}">
                  <a16:creationId xmlns:a16="http://schemas.microsoft.com/office/drawing/2014/main" id="{E1BD35F5-426B-8D5F-C307-92582F28495A}"/>
                </a:ext>
                <a:ext uri="{C183D7F6-B498-43B3-948B-1728B52AA6E4}">
                  <adec:decorative xmlns:adec="http://schemas.microsoft.com/office/drawing/2017/decorative" val="1"/>
                </a:ext>
              </a:extLst>
            </p:cNvPr>
            <p:cNvSpPr/>
            <p:nvPr/>
          </p:nvSpPr>
          <p:spPr>
            <a:xfrm>
              <a:off x="583922" y="2360064"/>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flip="none" rotWithShape="1">
              <a:gsLst>
                <a:gs pos="68000">
                  <a:srgbClr val="0A6BBA"/>
                </a:gs>
                <a:gs pos="100000">
                  <a:srgbClr val="318581"/>
                </a:gs>
                <a:gs pos="0">
                  <a:srgbClr val="F65567"/>
                </a:gs>
                <a:gs pos="32000">
                  <a:srgbClr val="7656AD"/>
                </a:gs>
              </a:gsLst>
              <a:path path="circle">
                <a:fillToRect l="100000" t="100000"/>
              </a:path>
              <a:tileRect r="-100000" b="-100000"/>
            </a:gradFill>
          </p:spPr>
          <p:txBody>
            <a:bodyPr wrap="none" lIns="146957" tIns="25718" rIns="146957" bIns="27432" rtlCol="0">
              <a:noAutofit/>
            </a:bodyPr>
            <a:lstStyle/>
            <a:p>
              <a:pPr marL="0" marR="0" lvl="0" indent="0" algn="ctr" defTabSz="2275850" eaLnBrk="1" fontAlgn="base" latinLnBrk="0" hangingPunct="1">
                <a:lnSpc>
                  <a:spcPct val="100000"/>
                </a:lnSpc>
                <a:spcBef>
                  <a:spcPct val="0"/>
                </a:spcBef>
                <a:spcAft>
                  <a:spcPct val="0"/>
                </a:spcAft>
                <a:buClrTx/>
                <a:buSzTx/>
                <a:buFontTx/>
                <a:buNone/>
                <a:tabLst>
                  <a:tab pos="3701239" algn="l"/>
                </a:tabLst>
                <a:defRPr/>
              </a:pPr>
              <a:endParaRPr kumimoji="0" lang="en-US" sz="1400" b="1" i="0" u="none" strike="noStrike" kern="0" cap="none" spc="0" normalizeH="0" baseline="0" noProof="0">
                <a:ln w="3175">
                  <a:noFill/>
                </a:ln>
                <a:effectLst/>
                <a:uLnTx/>
                <a:uFillTx/>
                <a:latin typeface="Segoe Sans Display Semibold"/>
                <a:cs typeface="Segoe UI" pitchFamily="34" charset="0"/>
              </a:endParaRPr>
            </a:p>
          </p:txBody>
        </p:sp>
        <p:sp>
          <p:nvSpPr>
            <p:cNvPr id="7" name="Graphic 97">
              <a:extLst>
                <a:ext uri="{FF2B5EF4-FFF2-40B4-BE49-F238E27FC236}">
                  <a16:creationId xmlns:a16="http://schemas.microsoft.com/office/drawing/2014/main" id="{B24F4215-48B4-7E23-7392-74B73A2B696C}"/>
                </a:ext>
                <a:ext uri="{C183D7F6-B498-43B3-948B-1728B52AA6E4}">
                  <adec:decorative xmlns:adec="http://schemas.microsoft.com/office/drawing/2017/decorative" val="1"/>
                </a:ext>
              </a:extLst>
            </p:cNvPr>
            <p:cNvSpPr/>
            <p:nvPr/>
          </p:nvSpPr>
          <p:spPr>
            <a:xfrm>
              <a:off x="594186" y="3192077"/>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flip="none" rotWithShape="1">
              <a:gsLst>
                <a:gs pos="68000">
                  <a:srgbClr val="0A6BBA"/>
                </a:gs>
                <a:gs pos="100000">
                  <a:srgbClr val="318581"/>
                </a:gs>
                <a:gs pos="0">
                  <a:srgbClr val="F65567"/>
                </a:gs>
                <a:gs pos="32000">
                  <a:srgbClr val="7656AD"/>
                </a:gs>
              </a:gsLst>
              <a:path path="circle">
                <a:fillToRect l="100000" t="100000"/>
              </a:path>
              <a:tileRect r="-100000" b="-100000"/>
            </a:gradFill>
          </p:spPr>
          <p:txBody>
            <a:bodyPr wrap="none" lIns="146957" tIns="25718" rIns="146957" bIns="27432" rtlCol="0">
              <a:noAutofit/>
            </a:bodyPr>
            <a:lstStyle/>
            <a:p>
              <a:pPr marL="0" marR="0" lvl="0" indent="0" algn="ctr" defTabSz="2275850" eaLnBrk="1" fontAlgn="base" latinLnBrk="0" hangingPunct="1">
                <a:lnSpc>
                  <a:spcPct val="100000"/>
                </a:lnSpc>
                <a:spcBef>
                  <a:spcPct val="0"/>
                </a:spcBef>
                <a:spcAft>
                  <a:spcPct val="0"/>
                </a:spcAft>
                <a:buClrTx/>
                <a:buSzTx/>
                <a:buFontTx/>
                <a:buNone/>
                <a:tabLst>
                  <a:tab pos="3701239" algn="l"/>
                </a:tabLst>
                <a:defRPr/>
              </a:pPr>
              <a:endParaRPr kumimoji="0" lang="en-US" sz="1400" b="1" i="0" u="none" strike="noStrike" kern="0" cap="none" spc="0" normalizeH="0" baseline="0" noProof="0">
                <a:ln w="3175">
                  <a:noFill/>
                </a:ln>
                <a:effectLst/>
                <a:uLnTx/>
                <a:uFillTx/>
                <a:latin typeface="Segoe Sans Display Semibold"/>
                <a:cs typeface="Segoe UI" pitchFamily="34" charset="0"/>
              </a:endParaRPr>
            </a:p>
          </p:txBody>
        </p:sp>
        <p:sp>
          <p:nvSpPr>
            <p:cNvPr id="8" name="Graphic 97">
              <a:extLst>
                <a:ext uri="{FF2B5EF4-FFF2-40B4-BE49-F238E27FC236}">
                  <a16:creationId xmlns:a16="http://schemas.microsoft.com/office/drawing/2014/main" id="{37F7E4E3-A8DF-65B9-33B8-70E562A8029C}"/>
                </a:ext>
                <a:ext uri="{C183D7F6-B498-43B3-948B-1728B52AA6E4}">
                  <adec:decorative xmlns:adec="http://schemas.microsoft.com/office/drawing/2017/decorative" val="1"/>
                </a:ext>
              </a:extLst>
            </p:cNvPr>
            <p:cNvSpPr/>
            <p:nvPr/>
          </p:nvSpPr>
          <p:spPr>
            <a:xfrm>
              <a:off x="594186" y="4021933"/>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flip="none" rotWithShape="1">
              <a:gsLst>
                <a:gs pos="68000">
                  <a:srgbClr val="0A6BBA"/>
                </a:gs>
                <a:gs pos="100000">
                  <a:srgbClr val="318581"/>
                </a:gs>
                <a:gs pos="0">
                  <a:srgbClr val="F65567"/>
                </a:gs>
                <a:gs pos="32000">
                  <a:srgbClr val="7656AD"/>
                </a:gs>
              </a:gsLst>
              <a:path path="circle">
                <a:fillToRect l="100000" t="100000"/>
              </a:path>
              <a:tileRect r="-100000" b="-100000"/>
            </a:gradFill>
          </p:spPr>
          <p:txBody>
            <a:bodyPr wrap="none" lIns="146957" tIns="25718" rIns="146957" bIns="27432" rtlCol="0">
              <a:noAutofit/>
            </a:bodyPr>
            <a:lstStyle/>
            <a:p>
              <a:pPr marL="0" marR="0" lvl="0" indent="0" algn="ctr" defTabSz="2275850" eaLnBrk="1" fontAlgn="base" latinLnBrk="0" hangingPunct="1">
                <a:lnSpc>
                  <a:spcPct val="100000"/>
                </a:lnSpc>
                <a:spcBef>
                  <a:spcPct val="0"/>
                </a:spcBef>
                <a:spcAft>
                  <a:spcPct val="0"/>
                </a:spcAft>
                <a:buClrTx/>
                <a:buSzTx/>
                <a:buFontTx/>
                <a:buNone/>
                <a:tabLst>
                  <a:tab pos="3701239" algn="l"/>
                </a:tabLst>
                <a:defRPr/>
              </a:pPr>
              <a:endParaRPr kumimoji="0" lang="en-US" sz="1400" b="1" i="0" u="none" strike="noStrike" kern="0" cap="none" spc="0" normalizeH="0" baseline="0" noProof="0">
                <a:ln w="3175">
                  <a:noFill/>
                </a:ln>
                <a:effectLst/>
                <a:uLnTx/>
                <a:uFillTx/>
                <a:latin typeface="Segoe Sans Display Semibold"/>
                <a:cs typeface="Segoe UI" pitchFamily="34" charset="0"/>
              </a:endParaRPr>
            </a:p>
          </p:txBody>
        </p:sp>
      </p:grpSp>
      <p:sp>
        <p:nvSpPr>
          <p:cNvPr id="9" name="Title 6">
            <a:extLst>
              <a:ext uri="{FF2B5EF4-FFF2-40B4-BE49-F238E27FC236}">
                <a16:creationId xmlns:a16="http://schemas.microsoft.com/office/drawing/2014/main" id="{4A15BE0C-CEED-566B-21EF-08D9D38F3A85}"/>
              </a:ext>
            </a:extLst>
          </p:cNvPr>
          <p:cNvSpPr txBox="1">
            <a:spLocks/>
          </p:cNvSpPr>
          <p:nvPr/>
        </p:nvSpPr>
        <p:spPr>
          <a:xfrm>
            <a:off x="410656" y="5249993"/>
            <a:ext cx="5563424" cy="615553"/>
          </a:xfrm>
          <a:prstGeom prst="rect">
            <a:avLst/>
          </a:prstGeom>
          <a:noFill/>
          <a:ln w="9525"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tab pos="1371600" algn="l"/>
              </a:tabLst>
              <a:defRPr/>
            </a:pPr>
            <a:r>
              <a:rPr kumimoji="0" lang="en-US" sz="2000" b="0" i="1" u="none" strike="noStrike" kern="1200" cap="none" spc="0" normalizeH="0" baseline="0" noProof="0">
                <a:ln w="3175">
                  <a:noFill/>
                </a:ln>
                <a:solidFill>
                  <a:schemeClr val="tx1"/>
                </a:solidFill>
                <a:effectLst/>
                <a:uLnTx/>
                <a:uFillTx/>
                <a:latin typeface="Segoe UI" panose="020B0502040204020203" pitchFamily="34" charset="0"/>
                <a:ea typeface="+mn-ea"/>
                <a:cs typeface="Segoe UI" pitchFamily="34" charset="0"/>
              </a:rPr>
              <a:t>Rule-based automations have been </a:t>
            </a:r>
            <a:br>
              <a:rPr kumimoji="0" lang="en-US" sz="2000" b="0" i="1" u="none" strike="noStrike" kern="1200" cap="none" spc="0" normalizeH="0" baseline="0" noProof="0">
                <a:ln w="3175">
                  <a:noFill/>
                </a:ln>
                <a:solidFill>
                  <a:schemeClr val="tx1"/>
                </a:solidFill>
                <a:effectLst/>
                <a:uLnTx/>
                <a:uFillTx/>
                <a:latin typeface="Segoe UI" panose="020B0502040204020203" pitchFamily="34" charset="0"/>
                <a:ea typeface="+mn-ea"/>
                <a:cs typeface="Segoe UI" pitchFamily="34" charset="0"/>
              </a:rPr>
            </a:br>
            <a:r>
              <a:rPr kumimoji="0" lang="en-US" sz="2000" b="0" i="1" u="none" strike="noStrike" kern="1200" cap="none" spc="0" normalizeH="0" baseline="0" noProof="0">
                <a:ln w="3175">
                  <a:noFill/>
                </a:ln>
                <a:solidFill>
                  <a:schemeClr val="tx1"/>
                </a:solidFill>
                <a:effectLst/>
                <a:uLnTx/>
                <a:uFillTx/>
                <a:latin typeface="Segoe UI" panose="020B0502040204020203" pitchFamily="34" charset="0"/>
                <a:ea typeface="+mn-ea"/>
                <a:cs typeface="Segoe UI" pitchFamily="34" charset="0"/>
              </a:rPr>
              <a:t>the standard approach for years</a:t>
            </a:r>
          </a:p>
        </p:txBody>
      </p:sp>
      <p:grpSp>
        <p:nvGrpSpPr>
          <p:cNvPr id="16" name="Group 15">
            <a:extLst>
              <a:ext uri="{FF2B5EF4-FFF2-40B4-BE49-F238E27FC236}">
                <a16:creationId xmlns:a16="http://schemas.microsoft.com/office/drawing/2014/main" id="{0EC34923-94B0-BBA0-5942-1B7AA7BEE227}"/>
              </a:ext>
            </a:extLst>
          </p:cNvPr>
          <p:cNvGrpSpPr/>
          <p:nvPr/>
        </p:nvGrpSpPr>
        <p:grpSpPr>
          <a:xfrm>
            <a:off x="6595411" y="1499883"/>
            <a:ext cx="5147686" cy="3750110"/>
            <a:chOff x="6595411" y="1499883"/>
            <a:chExt cx="5147686" cy="3750110"/>
          </a:xfrm>
        </p:grpSpPr>
        <p:sp>
          <p:nvSpPr>
            <p:cNvPr id="11" name="Rectangle: Rounded Corners 10">
              <a:extLst>
                <a:ext uri="{FF2B5EF4-FFF2-40B4-BE49-F238E27FC236}">
                  <a16:creationId xmlns:a16="http://schemas.microsoft.com/office/drawing/2014/main" id="{F745790E-878F-6D7F-9F93-6956EE824AD4}"/>
                </a:ext>
              </a:extLst>
            </p:cNvPr>
            <p:cNvSpPr/>
            <p:nvPr/>
          </p:nvSpPr>
          <p:spPr>
            <a:xfrm>
              <a:off x="7911954" y="1499883"/>
              <a:ext cx="2514600" cy="922020"/>
            </a:xfrm>
            <a:prstGeom prst="roundRect">
              <a:avLst/>
            </a:prstGeom>
            <a:ln w="76200">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Rounded Corners 11">
              <a:extLst>
                <a:ext uri="{FF2B5EF4-FFF2-40B4-BE49-F238E27FC236}">
                  <a16:creationId xmlns:a16="http://schemas.microsoft.com/office/drawing/2014/main" id="{0106CC83-76A5-140F-FC43-22A7C66D61F4}"/>
                </a:ext>
              </a:extLst>
            </p:cNvPr>
            <p:cNvSpPr/>
            <p:nvPr/>
          </p:nvSpPr>
          <p:spPr>
            <a:xfrm>
              <a:off x="7911954" y="2882578"/>
              <a:ext cx="2514600" cy="922020"/>
            </a:xfrm>
            <a:prstGeom prst="roundRect">
              <a:avLst/>
            </a:prstGeom>
            <a:solidFill>
              <a:schemeClr val="accent1">
                <a:lumMod val="75000"/>
              </a:schemeClr>
            </a:solidFill>
            <a:ln w="76200">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Rounded Corners 12">
              <a:extLst>
                <a:ext uri="{FF2B5EF4-FFF2-40B4-BE49-F238E27FC236}">
                  <a16:creationId xmlns:a16="http://schemas.microsoft.com/office/drawing/2014/main" id="{8DDFA755-1E57-F149-27E0-5B9A35743C11}"/>
                </a:ext>
              </a:extLst>
            </p:cNvPr>
            <p:cNvSpPr/>
            <p:nvPr/>
          </p:nvSpPr>
          <p:spPr>
            <a:xfrm>
              <a:off x="7911954" y="4327973"/>
              <a:ext cx="2514600" cy="922020"/>
            </a:xfrm>
            <a:prstGeom prst="roundRect">
              <a:avLst/>
            </a:prstGeom>
            <a:solidFill>
              <a:schemeClr val="accent1">
                <a:lumMod val="50000"/>
              </a:schemeClr>
            </a:solidFill>
            <a:ln w="76200">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row: Curved Left 13">
              <a:extLst>
                <a:ext uri="{FF2B5EF4-FFF2-40B4-BE49-F238E27FC236}">
                  <a16:creationId xmlns:a16="http://schemas.microsoft.com/office/drawing/2014/main" id="{77A21DDE-94AA-7F1D-D4D0-8870722E9F58}"/>
                </a:ext>
              </a:extLst>
            </p:cNvPr>
            <p:cNvSpPr/>
            <p:nvPr/>
          </p:nvSpPr>
          <p:spPr>
            <a:xfrm>
              <a:off x="10622957" y="1822141"/>
              <a:ext cx="1120140" cy="1723549"/>
            </a:xfrm>
            <a:prstGeom prst="curvedLef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Arrow: Curved Right 14">
              <a:extLst>
                <a:ext uri="{FF2B5EF4-FFF2-40B4-BE49-F238E27FC236}">
                  <a16:creationId xmlns:a16="http://schemas.microsoft.com/office/drawing/2014/main" id="{D65B2408-6761-9CC4-46A6-933F9E4FCB70}"/>
                </a:ext>
              </a:extLst>
            </p:cNvPr>
            <p:cNvSpPr/>
            <p:nvPr/>
          </p:nvSpPr>
          <p:spPr>
            <a:xfrm>
              <a:off x="6595411" y="3206018"/>
              <a:ext cx="1120140" cy="2009218"/>
            </a:xfrm>
            <a:prstGeom prst="curvedRigh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Tree>
    <p:extLst>
      <p:ext uri="{BB962C8B-B14F-4D97-AF65-F5344CB8AC3E}">
        <p14:creationId xmlns:p14="http://schemas.microsoft.com/office/powerpoint/2010/main" val="15360824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7">
            <a:extLst>
              <a:ext uri="{FF2B5EF4-FFF2-40B4-BE49-F238E27FC236}">
                <a16:creationId xmlns:a16="http://schemas.microsoft.com/office/drawing/2014/main" id="{E5059083-6624-7BE6-DBE5-9489D6D475F1}"/>
              </a:ext>
            </a:extLst>
          </p:cNvPr>
          <p:cNvSpPr/>
          <p:nvPr/>
        </p:nvSpPr>
        <p:spPr bwMode="auto">
          <a:xfrm>
            <a:off x="4997794" y="1813878"/>
            <a:ext cx="6613584" cy="4037607"/>
          </a:xfrm>
          <a:prstGeom prst="roundRect">
            <a:avLst>
              <a:gd name="adj" fmla="val 5687"/>
            </a:avLst>
          </a:prstGeom>
          <a:solidFill>
            <a:srgbClr val="222120">
              <a:alpha val="10000"/>
            </a:srgbClr>
          </a:solidFill>
        </p:spPr>
        <p:txBody>
          <a:bodyPr wrap="square" lIns="0" tIns="0" rIns="0" bIns="45720" rtlCol="0" anchor="ctr" anchorCtr="0">
            <a:noAutofit/>
          </a:bodyPr>
          <a:lstStyle/>
          <a:p>
            <a:pPr algn="ctr" defTabSz="2275850" fontAlgn="base">
              <a:spcBef>
                <a:spcPts val="200"/>
              </a:spcBef>
              <a:spcAft>
                <a:spcPct val="0"/>
              </a:spcAft>
              <a:tabLst>
                <a:tab pos="3701239" algn="l"/>
              </a:tabLst>
              <a:defRPr/>
            </a:pPr>
            <a:endParaRPr lang="en-US" b="1">
              <a:ln w="3175">
                <a:noFill/>
              </a:ln>
              <a:latin typeface="Segoe UI Semibold" panose="020B0502040204020203" pitchFamily="34" charset="0"/>
              <a:cs typeface="Segoe UI" pitchFamily="34" charset="0"/>
            </a:endParaRPr>
          </a:p>
        </p:txBody>
      </p:sp>
      <p:sp>
        <p:nvSpPr>
          <p:cNvPr id="3" name="TextBox 2">
            <a:extLst>
              <a:ext uri="{FF2B5EF4-FFF2-40B4-BE49-F238E27FC236}">
                <a16:creationId xmlns:a16="http://schemas.microsoft.com/office/drawing/2014/main" id="{DBDFFE4C-3CE8-A610-8542-180949648F60}"/>
              </a:ext>
            </a:extLst>
          </p:cNvPr>
          <p:cNvSpPr txBox="1"/>
          <p:nvPr/>
        </p:nvSpPr>
        <p:spPr>
          <a:xfrm>
            <a:off x="1000424" y="3149185"/>
            <a:ext cx="3328507" cy="2369880"/>
          </a:xfrm>
          <a:prstGeom prst="rect">
            <a:avLst/>
          </a:prstGeom>
          <a:noFill/>
        </p:spPr>
        <p:txBody>
          <a:bodyPr wrap="square" lIns="0" tIns="0" rIns="0" bIns="0" rtlCol="0" anchor="t">
            <a:spAutoFit/>
          </a:bodyPr>
          <a:lstStyle/>
          <a:p>
            <a:pPr>
              <a:defRPr/>
            </a:pPr>
            <a:r>
              <a:rPr lang="en-US" sz="1400">
                <a:latin typeface="Segoe UI"/>
                <a:ea typeface="Segoe UI" panose="020B0502040204020203" pitchFamily="34" charset="0"/>
                <a:cs typeface="Segoe UI"/>
              </a:rPr>
              <a:t>Create </a:t>
            </a:r>
            <a:r>
              <a:rPr lang="en-US" sz="1400">
                <a:latin typeface="Segoe Sans Display Semibold"/>
                <a:ea typeface="Segoe UI" panose="020B0502040204020203" pitchFamily="34" charset="0"/>
                <a:cs typeface="Segoe UI"/>
              </a:rPr>
              <a:t>cloud flows </a:t>
            </a:r>
            <a:r>
              <a:rPr lang="en-US" sz="1400">
                <a:latin typeface="Segoe UI"/>
                <a:ea typeface="Segoe UI" panose="020B0502040204020203" pitchFamily="34" charset="0"/>
                <a:cs typeface="Segoe UI"/>
              </a:rPr>
              <a:t>using a flow designer or natural language</a:t>
            </a:r>
          </a:p>
          <a:p>
            <a:pPr>
              <a:defRPr/>
            </a:pPr>
            <a:endParaRPr lang="en-US" sz="1400">
              <a:latin typeface="Segoe UI"/>
              <a:ea typeface="Segoe UI" panose="020B0502040204020203" pitchFamily="34" charset="0"/>
              <a:cs typeface="Segoe UI"/>
            </a:endParaRPr>
          </a:p>
          <a:p>
            <a:pPr>
              <a:defRPr/>
            </a:pPr>
            <a:r>
              <a:rPr lang="en-US" sz="1400">
                <a:latin typeface="Segoe UI"/>
                <a:ea typeface="Segoe UI" panose="020B0502040204020203" pitchFamily="34" charset="0"/>
                <a:cs typeface="Segoe UI"/>
              </a:rPr>
              <a:t>Leverage the library of </a:t>
            </a:r>
            <a:r>
              <a:rPr lang="en-US" sz="1400" b="1">
                <a:latin typeface="Segoe UI"/>
                <a:ea typeface="Segoe UI" panose="020B0502040204020203" pitchFamily="34" charset="0"/>
                <a:cs typeface="Segoe UI"/>
              </a:rPr>
              <a:t>templates</a:t>
            </a:r>
            <a:r>
              <a:rPr lang="en-US" sz="1400">
                <a:latin typeface="Segoe UI"/>
                <a:ea typeface="Segoe UI" panose="020B0502040204020203" pitchFamily="34" charset="0"/>
                <a:cs typeface="Segoe UI"/>
              </a:rPr>
              <a:t> for quick automation creation</a:t>
            </a:r>
          </a:p>
          <a:p>
            <a:pPr>
              <a:defRPr/>
            </a:pPr>
            <a:endParaRPr lang="en-US" sz="1400">
              <a:latin typeface="Segoe UI"/>
              <a:ea typeface="Segoe UI" panose="020B0502040204020203" pitchFamily="34" charset="0"/>
              <a:cs typeface="Segoe UI"/>
            </a:endParaRPr>
          </a:p>
          <a:p>
            <a:pPr>
              <a:defRPr/>
            </a:pPr>
            <a:r>
              <a:rPr lang="en-US" sz="1400">
                <a:latin typeface="Segoe UI"/>
                <a:ea typeface="Segoe UI" panose="020B0502040204020203" pitchFamily="34" charset="0"/>
                <a:cs typeface="Segoe UI"/>
              </a:rPr>
              <a:t>Add a workflow </a:t>
            </a:r>
            <a:r>
              <a:rPr lang="en-US" sz="1400" b="1">
                <a:latin typeface="Segoe UI"/>
                <a:ea typeface="Segoe UI" panose="020B0502040204020203" pitchFamily="34" charset="0"/>
                <a:cs typeface="Segoe UI"/>
              </a:rPr>
              <a:t>trigger</a:t>
            </a:r>
            <a:r>
              <a:rPr lang="en-US" sz="1400">
                <a:latin typeface="Segoe UI"/>
                <a:ea typeface="Segoe UI" panose="020B0502040204020203" pitchFamily="34" charset="0"/>
                <a:cs typeface="Segoe UI"/>
              </a:rPr>
              <a:t> and </a:t>
            </a:r>
            <a:r>
              <a:rPr lang="en-US" sz="1400" b="1">
                <a:latin typeface="Segoe UI"/>
                <a:ea typeface="Segoe UI" panose="020B0502040204020203" pitchFamily="34" charset="0"/>
                <a:cs typeface="Segoe UI"/>
              </a:rPr>
              <a:t>actions</a:t>
            </a:r>
            <a:r>
              <a:rPr lang="en-US" sz="1400">
                <a:latin typeface="Segoe UI"/>
                <a:ea typeface="Segoe UI" panose="020B0502040204020203" pitchFamily="34" charset="0"/>
                <a:cs typeface="Segoe UI"/>
              </a:rPr>
              <a:t> to create your step-by-step process</a:t>
            </a:r>
          </a:p>
          <a:p>
            <a:pPr>
              <a:defRPr/>
            </a:pPr>
            <a:endParaRPr lang="en-US" sz="1400">
              <a:latin typeface="Segoe UI"/>
              <a:ea typeface="Segoe UI" panose="020B0502040204020203" pitchFamily="34" charset="0"/>
              <a:cs typeface="Segoe UI"/>
            </a:endParaRPr>
          </a:p>
          <a:p>
            <a:pPr>
              <a:defRPr/>
            </a:pPr>
            <a:r>
              <a:rPr lang="en-US" sz="1400" b="1">
                <a:latin typeface="Segoe UI"/>
                <a:ea typeface="Segoe UI" panose="020B0502040204020203" pitchFamily="34" charset="0"/>
                <a:cs typeface="Segoe UI"/>
              </a:rPr>
              <a:t>Connect </a:t>
            </a:r>
            <a:r>
              <a:rPr lang="en-US" sz="1400">
                <a:latin typeface="Segoe UI"/>
                <a:ea typeface="Segoe UI" panose="020B0502040204020203" pitchFamily="34" charset="0"/>
                <a:cs typeface="Segoe UI"/>
              </a:rPr>
              <a:t>to your business applications with our 1,400+ API connector library</a:t>
            </a:r>
          </a:p>
        </p:txBody>
      </p:sp>
      <p:sp>
        <p:nvSpPr>
          <p:cNvPr id="4" name="Title 5">
            <a:extLst>
              <a:ext uri="{FF2B5EF4-FFF2-40B4-BE49-F238E27FC236}">
                <a16:creationId xmlns:a16="http://schemas.microsoft.com/office/drawing/2014/main" id="{62E5B875-D7EC-289B-51DD-3D198A50D5AF}"/>
              </a:ext>
            </a:extLst>
          </p:cNvPr>
          <p:cNvSpPr txBox="1">
            <a:spLocks/>
          </p:cNvSpPr>
          <p:nvPr/>
        </p:nvSpPr>
        <p:spPr>
          <a:xfrm>
            <a:off x="588263" y="457200"/>
            <a:ext cx="11018520" cy="553998"/>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a:ln>
                  <a:noFill/>
                </a:ln>
                <a:effectLst/>
                <a:uLnTx/>
                <a:uFillTx/>
                <a:latin typeface="Segoe Sans Display Semibold"/>
                <a:ea typeface="+mj-ea"/>
                <a:cs typeface="+mj-cs"/>
              </a:rPr>
              <a:t>Power Automate Digital Process Automation (DPA)</a:t>
            </a:r>
            <a:br>
              <a:rPr kumimoji="0" lang="en-US" sz="3600" b="0" i="0" u="none" strike="noStrike" kern="1200" cap="none" spc="0" normalizeH="0" baseline="0" noProof="0">
                <a:ln>
                  <a:noFill/>
                </a:ln>
                <a:effectLst/>
                <a:uLnTx/>
                <a:uFillTx/>
                <a:latin typeface="Segoe Sans Display Semibold"/>
                <a:ea typeface="+mj-ea"/>
                <a:cs typeface="+mj-cs"/>
              </a:rPr>
            </a:br>
            <a:r>
              <a:rPr lang="en-US" sz="2800" i="1">
                <a:latin typeface="Segoe Sans Display Semibold"/>
              </a:rPr>
              <a:t>“</a:t>
            </a:r>
            <a:r>
              <a:rPr kumimoji="0" lang="en-US" sz="2800" b="0" i="1" u="none" strike="noStrike" kern="1200" cap="none" spc="0" normalizeH="0" baseline="0" noProof="0">
                <a:ln>
                  <a:noFill/>
                </a:ln>
                <a:effectLst/>
                <a:uLnTx/>
                <a:uFillTx/>
                <a:latin typeface="Segoe Sans Display Semibold"/>
                <a:ea typeface="+mj-ea"/>
                <a:cs typeface="+mj-cs"/>
              </a:rPr>
              <a:t>Cloud Flows”</a:t>
            </a:r>
            <a:endParaRPr kumimoji="0" lang="en-US" sz="3600" b="0" i="1" u="none" strike="noStrike" kern="1200" cap="none" spc="0" normalizeH="0" baseline="0" noProof="0">
              <a:ln>
                <a:noFill/>
              </a:ln>
              <a:effectLst/>
              <a:uLnTx/>
              <a:uFillTx/>
              <a:latin typeface="Segoe Sans Display Semibold"/>
              <a:ea typeface="+mj-ea"/>
              <a:cs typeface="+mj-cs"/>
            </a:endParaRPr>
          </a:p>
        </p:txBody>
      </p:sp>
      <p:sp>
        <p:nvSpPr>
          <p:cNvPr id="5" name="Title 6">
            <a:extLst>
              <a:ext uri="{FF2B5EF4-FFF2-40B4-BE49-F238E27FC236}">
                <a16:creationId xmlns:a16="http://schemas.microsoft.com/office/drawing/2014/main" id="{6A06249C-1662-1659-F328-09076F04BED8}"/>
              </a:ext>
            </a:extLst>
          </p:cNvPr>
          <p:cNvSpPr txBox="1">
            <a:spLocks/>
          </p:cNvSpPr>
          <p:nvPr/>
        </p:nvSpPr>
        <p:spPr>
          <a:xfrm>
            <a:off x="598526" y="1615943"/>
            <a:ext cx="4008375" cy="1231106"/>
          </a:xfrm>
          <a:prstGeom prst="rect">
            <a:avLst/>
          </a:prstGeom>
          <a:noFill/>
          <a:ln w="9525"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tab pos="1371600" algn="l"/>
              </a:tabLst>
              <a:defRPr/>
            </a:pPr>
            <a:r>
              <a:rPr kumimoji="0" lang="en-US" sz="2000" b="1" i="0" u="none" strike="noStrike" kern="1200" cap="none" spc="0" normalizeH="0" baseline="0" noProof="0">
                <a:ln w="3175">
                  <a:noFill/>
                </a:ln>
                <a:solidFill>
                  <a:schemeClr val="tx1"/>
                </a:solidFill>
                <a:effectLst/>
                <a:uLnTx/>
                <a:uFillTx/>
                <a:latin typeface="Segoe Sans Display Semibold"/>
                <a:ea typeface="+mn-ea"/>
                <a:cs typeface="Segoe UI"/>
              </a:rPr>
              <a:t>Create </a:t>
            </a:r>
            <a:r>
              <a:rPr kumimoji="0" lang="en-US" sz="2000" b="1" i="0" u="sng" strike="noStrike" kern="1200" cap="none" spc="0" normalizeH="0" baseline="0" noProof="0">
                <a:ln w="3175">
                  <a:noFill/>
                </a:ln>
                <a:solidFill>
                  <a:schemeClr val="tx1"/>
                </a:solidFill>
                <a:effectLst/>
                <a:uLnTx/>
                <a:uFillTx/>
                <a:latin typeface="Segoe Sans Display Semibold"/>
                <a:ea typeface="+mn-ea"/>
                <a:cs typeface="Segoe UI"/>
              </a:rPr>
              <a:t>structured, API-based automations</a:t>
            </a:r>
            <a:r>
              <a:rPr kumimoji="0" lang="en-US" sz="2000" b="1" i="0" u="none" strike="noStrike" kern="1200" cap="none" spc="0" normalizeH="0" baseline="0" noProof="0">
                <a:ln w="3175">
                  <a:noFill/>
                </a:ln>
                <a:solidFill>
                  <a:schemeClr val="tx1"/>
                </a:solidFill>
                <a:effectLst/>
                <a:uLnTx/>
                <a:uFillTx/>
                <a:latin typeface="Segoe Sans Display Semibold"/>
                <a:ea typeface="+mn-ea"/>
                <a:cs typeface="Segoe UI"/>
              </a:rPr>
              <a:t> that connect to your applications and automate tasks and processes</a:t>
            </a:r>
          </a:p>
        </p:txBody>
      </p:sp>
      <p:sp>
        <p:nvSpPr>
          <p:cNvPr id="6" name="Graphic 97">
            <a:extLst>
              <a:ext uri="{FF2B5EF4-FFF2-40B4-BE49-F238E27FC236}">
                <a16:creationId xmlns:a16="http://schemas.microsoft.com/office/drawing/2014/main" id="{77ECB746-2DA9-6831-DB13-6A5A50D22D80}"/>
              </a:ext>
              <a:ext uri="{C183D7F6-B498-43B3-948B-1728B52AA6E4}">
                <adec:decorative xmlns:adec="http://schemas.microsoft.com/office/drawing/2017/decorative" val="1"/>
              </a:ext>
            </a:extLst>
          </p:cNvPr>
          <p:cNvSpPr/>
          <p:nvPr/>
        </p:nvSpPr>
        <p:spPr>
          <a:xfrm>
            <a:off x="588263" y="3202278"/>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flip="none" rotWithShape="1">
            <a:gsLst>
              <a:gs pos="68000">
                <a:srgbClr val="0A6BBA"/>
              </a:gs>
              <a:gs pos="100000">
                <a:srgbClr val="318581"/>
              </a:gs>
              <a:gs pos="0">
                <a:srgbClr val="F65567"/>
              </a:gs>
              <a:gs pos="32000">
                <a:srgbClr val="7656AD"/>
              </a:gs>
            </a:gsLst>
            <a:path path="circle">
              <a:fillToRect l="100000" t="100000"/>
            </a:path>
            <a:tileRect r="-100000" b="-100000"/>
          </a:gradFill>
        </p:spPr>
        <p:txBody>
          <a:bodyPr wrap="none" lIns="146957" tIns="25718" rIns="146957" bIns="27432" rtlCol="0">
            <a:noAutofit/>
          </a:bodyPr>
          <a:lstStyle/>
          <a:p>
            <a:pPr algn="ctr" defTabSz="2275850" fontAlgn="base">
              <a:spcBef>
                <a:spcPct val="0"/>
              </a:spcBef>
              <a:spcAft>
                <a:spcPct val="0"/>
              </a:spcAft>
              <a:tabLst>
                <a:tab pos="3701239" algn="l"/>
              </a:tabLst>
              <a:defRPr/>
            </a:pPr>
            <a:endParaRPr lang="en-US" sz="1400" b="1">
              <a:ln w="3175">
                <a:noFill/>
              </a:ln>
              <a:latin typeface="Segoe Sans Display Semibold"/>
              <a:cs typeface="Segoe UI" pitchFamily="34" charset="0"/>
            </a:endParaRPr>
          </a:p>
        </p:txBody>
      </p:sp>
      <p:sp>
        <p:nvSpPr>
          <p:cNvPr id="7" name="Graphic 97">
            <a:extLst>
              <a:ext uri="{FF2B5EF4-FFF2-40B4-BE49-F238E27FC236}">
                <a16:creationId xmlns:a16="http://schemas.microsoft.com/office/drawing/2014/main" id="{202BB4DD-2F8D-2F01-9EC8-F0DC7DE92B95}"/>
              </a:ext>
              <a:ext uri="{C183D7F6-B498-43B3-948B-1728B52AA6E4}">
                <adec:decorative xmlns:adec="http://schemas.microsoft.com/office/drawing/2017/decorative" val="1"/>
              </a:ext>
            </a:extLst>
          </p:cNvPr>
          <p:cNvSpPr/>
          <p:nvPr/>
        </p:nvSpPr>
        <p:spPr>
          <a:xfrm>
            <a:off x="598526" y="3815737"/>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flip="none" rotWithShape="1">
            <a:gsLst>
              <a:gs pos="68000">
                <a:srgbClr val="0A6BBA"/>
              </a:gs>
              <a:gs pos="100000">
                <a:srgbClr val="318581"/>
              </a:gs>
              <a:gs pos="0">
                <a:srgbClr val="F65567"/>
              </a:gs>
              <a:gs pos="32000">
                <a:srgbClr val="7656AD"/>
              </a:gs>
            </a:gsLst>
            <a:path path="circle">
              <a:fillToRect l="100000" t="100000"/>
            </a:path>
            <a:tileRect r="-100000" b="-100000"/>
          </a:gradFill>
        </p:spPr>
        <p:txBody>
          <a:bodyPr wrap="none" lIns="146957" tIns="25718" rIns="146957" bIns="27432" rtlCol="0">
            <a:noAutofit/>
          </a:bodyPr>
          <a:lstStyle/>
          <a:p>
            <a:pPr algn="ctr" defTabSz="2275850" fontAlgn="base">
              <a:spcBef>
                <a:spcPct val="0"/>
              </a:spcBef>
              <a:spcAft>
                <a:spcPct val="0"/>
              </a:spcAft>
              <a:tabLst>
                <a:tab pos="3701239" algn="l"/>
              </a:tabLst>
              <a:defRPr/>
            </a:pPr>
            <a:endParaRPr lang="en-US" sz="1400" b="1">
              <a:ln w="3175">
                <a:noFill/>
              </a:ln>
              <a:latin typeface="Segoe Sans Display Semibold"/>
              <a:cs typeface="Segoe UI" pitchFamily="34" charset="0"/>
            </a:endParaRPr>
          </a:p>
        </p:txBody>
      </p:sp>
      <p:sp>
        <p:nvSpPr>
          <p:cNvPr id="8" name="Graphic 97">
            <a:extLst>
              <a:ext uri="{FF2B5EF4-FFF2-40B4-BE49-F238E27FC236}">
                <a16:creationId xmlns:a16="http://schemas.microsoft.com/office/drawing/2014/main" id="{C3974E67-7D2F-119C-CC33-5DCD71109E19}"/>
              </a:ext>
              <a:ext uri="{C183D7F6-B498-43B3-948B-1728B52AA6E4}">
                <adec:decorative xmlns:adec="http://schemas.microsoft.com/office/drawing/2017/decorative" val="1"/>
              </a:ext>
            </a:extLst>
          </p:cNvPr>
          <p:cNvSpPr/>
          <p:nvPr/>
        </p:nvSpPr>
        <p:spPr>
          <a:xfrm>
            <a:off x="614226" y="4417300"/>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flip="none" rotWithShape="1">
            <a:gsLst>
              <a:gs pos="68000">
                <a:srgbClr val="0A6BBA"/>
              </a:gs>
              <a:gs pos="100000">
                <a:srgbClr val="318581"/>
              </a:gs>
              <a:gs pos="0">
                <a:srgbClr val="F65567"/>
              </a:gs>
              <a:gs pos="32000">
                <a:srgbClr val="7656AD"/>
              </a:gs>
            </a:gsLst>
            <a:path path="circle">
              <a:fillToRect l="100000" t="100000"/>
            </a:path>
            <a:tileRect r="-100000" b="-100000"/>
          </a:gradFill>
        </p:spPr>
        <p:txBody>
          <a:bodyPr wrap="none" lIns="146957" tIns="25718" rIns="146957" bIns="27432" rtlCol="0">
            <a:noAutofit/>
          </a:bodyPr>
          <a:lstStyle/>
          <a:p>
            <a:pPr algn="ctr" defTabSz="2275850" fontAlgn="base">
              <a:spcBef>
                <a:spcPct val="0"/>
              </a:spcBef>
              <a:spcAft>
                <a:spcPct val="0"/>
              </a:spcAft>
              <a:tabLst>
                <a:tab pos="3701239" algn="l"/>
              </a:tabLst>
              <a:defRPr/>
            </a:pPr>
            <a:endParaRPr lang="en-US" sz="1400" b="1">
              <a:ln w="3175">
                <a:noFill/>
              </a:ln>
              <a:latin typeface="Segoe Sans Display Semibold"/>
              <a:cs typeface="Segoe UI" pitchFamily="34" charset="0"/>
            </a:endParaRPr>
          </a:p>
        </p:txBody>
      </p:sp>
      <p:sp>
        <p:nvSpPr>
          <p:cNvPr id="9" name="Graphic 97">
            <a:extLst>
              <a:ext uri="{FF2B5EF4-FFF2-40B4-BE49-F238E27FC236}">
                <a16:creationId xmlns:a16="http://schemas.microsoft.com/office/drawing/2014/main" id="{55AED183-C160-FFA8-D0DB-9335090C89E0}"/>
              </a:ext>
              <a:ext uri="{C183D7F6-B498-43B3-948B-1728B52AA6E4}">
                <adec:decorative xmlns:adec="http://schemas.microsoft.com/office/drawing/2017/decorative" val="1"/>
              </a:ext>
            </a:extLst>
          </p:cNvPr>
          <p:cNvSpPr/>
          <p:nvPr/>
        </p:nvSpPr>
        <p:spPr>
          <a:xfrm>
            <a:off x="588263" y="5074823"/>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flip="none" rotWithShape="1">
            <a:gsLst>
              <a:gs pos="68000">
                <a:srgbClr val="0A6BBA"/>
              </a:gs>
              <a:gs pos="100000">
                <a:srgbClr val="318581"/>
              </a:gs>
              <a:gs pos="0">
                <a:srgbClr val="F65567"/>
              </a:gs>
              <a:gs pos="32000">
                <a:srgbClr val="7656AD"/>
              </a:gs>
            </a:gsLst>
            <a:path path="circle">
              <a:fillToRect l="100000" t="100000"/>
            </a:path>
            <a:tileRect r="-100000" b="-100000"/>
          </a:gradFill>
        </p:spPr>
        <p:txBody>
          <a:bodyPr wrap="none" lIns="146957" tIns="25718" rIns="146957" bIns="27432" rtlCol="0">
            <a:noAutofit/>
          </a:bodyPr>
          <a:lstStyle/>
          <a:p>
            <a:pPr algn="ctr" defTabSz="2275850" fontAlgn="base">
              <a:spcBef>
                <a:spcPct val="0"/>
              </a:spcBef>
              <a:spcAft>
                <a:spcPct val="0"/>
              </a:spcAft>
              <a:tabLst>
                <a:tab pos="3701239" algn="l"/>
              </a:tabLst>
              <a:defRPr/>
            </a:pPr>
            <a:endParaRPr lang="en-US" sz="1400" b="1">
              <a:ln w="3175">
                <a:noFill/>
              </a:ln>
              <a:latin typeface="Segoe Sans Display Semibold"/>
              <a:cs typeface="Segoe UI" pitchFamily="34" charset="0"/>
            </a:endParaRPr>
          </a:p>
        </p:txBody>
      </p:sp>
      <p:pic>
        <p:nvPicPr>
          <p:cNvPr id="10" name="Picture 1">
            <a:extLst>
              <a:ext uri="{FF2B5EF4-FFF2-40B4-BE49-F238E27FC236}">
                <a16:creationId xmlns:a16="http://schemas.microsoft.com/office/drawing/2014/main" id="{73726503-098B-BEB1-F566-A72F12DB876E}"/>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1370834" y="457200"/>
            <a:ext cx="624068" cy="620215"/>
          </a:xfrm>
          <a:prstGeom prst="rect">
            <a:avLst/>
          </a:prstGeom>
          <a:effectLst/>
        </p:spPr>
      </p:pic>
      <p:pic>
        <p:nvPicPr>
          <p:cNvPr id="12" name="Picture 11" descr="A computer screen shot of a computer screen">
            <a:extLst>
              <a:ext uri="{FF2B5EF4-FFF2-40B4-BE49-F238E27FC236}">
                <a16:creationId xmlns:a16="http://schemas.microsoft.com/office/drawing/2014/main" id="{2F05058A-E4E4-9F3B-C85F-47ECA65639DE}"/>
              </a:ext>
            </a:extLst>
          </p:cNvPr>
          <p:cNvPicPr>
            <a:picLocks noChangeAspect="1"/>
          </p:cNvPicPr>
          <p:nvPr/>
        </p:nvPicPr>
        <p:blipFill>
          <a:blip r:embed="rId3">
            <a:extLst>
              <a:ext uri="{28A0092B-C50C-407E-A947-70E740481C1C}">
                <a14:useLocalDpi xmlns:a14="http://schemas.microsoft.com/office/drawing/2010/main" val="0"/>
              </a:ext>
            </a:extLst>
          </a:blip>
          <a:srcRect l="6098" r="6578"/>
          <a:stretch>
            <a:fillRect/>
          </a:stretch>
        </p:blipFill>
        <p:spPr>
          <a:xfrm>
            <a:off x="5321375" y="1642499"/>
            <a:ext cx="6256399" cy="4030096"/>
          </a:xfrm>
          <a:prstGeom prst="rect">
            <a:avLst/>
          </a:prstGeom>
        </p:spPr>
      </p:pic>
    </p:spTree>
    <p:extLst>
      <p:ext uri="{BB962C8B-B14F-4D97-AF65-F5344CB8AC3E}">
        <p14:creationId xmlns:p14="http://schemas.microsoft.com/office/powerpoint/2010/main" val="12168275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10" presetClass="entr" presetSubtype="0" repeatCount="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00"/>
                                        <p:tgtEl>
                                          <p:spTgt spid="3"/>
                                        </p:tgtEl>
                                      </p:cBhvr>
                                    </p:animEffect>
                                  </p:childTnLst>
                                </p:cTn>
                              </p:par>
                              <p:par>
                                <p:cTn id="11" presetID="10" presetClass="entr" presetSubtype="0" repeatCount="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200"/>
                                        <p:tgtEl>
                                          <p:spTgt spid="4"/>
                                        </p:tgtEl>
                                      </p:cBhvr>
                                    </p:animEffect>
                                  </p:childTnLst>
                                </p:cTn>
                              </p:par>
                              <p:par>
                                <p:cTn id="14" presetID="10" presetClass="entr" presetSubtype="0" repeatCount="0" fill="hold" grpId="0" nodeType="withEffect">
                                  <p:stCondLst>
                                    <p:cond delay="1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200"/>
                                        <p:tgtEl>
                                          <p:spTgt spid="5"/>
                                        </p:tgtEl>
                                      </p:cBhvr>
                                    </p:animEffect>
                                  </p:childTnLst>
                                </p:cTn>
                              </p:par>
                              <p:par>
                                <p:cTn id="17" presetID="10" presetClass="entr" presetSubtype="0" repeatCount="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200"/>
                                        <p:tgtEl>
                                          <p:spTgt spid="6"/>
                                        </p:tgtEl>
                                      </p:cBhvr>
                                    </p:animEffect>
                                  </p:childTnLst>
                                </p:cTn>
                              </p:par>
                              <p:par>
                                <p:cTn id="20" presetID="10" presetClass="entr" presetSubtype="0" repeatCount="0" fill="hold" grpId="0" nodeType="withEffect">
                                  <p:stCondLst>
                                    <p:cond delay="1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200"/>
                                        <p:tgtEl>
                                          <p:spTgt spid="7"/>
                                        </p:tgtEl>
                                      </p:cBhvr>
                                    </p:animEffect>
                                  </p:childTnLst>
                                </p:cTn>
                              </p:par>
                              <p:par>
                                <p:cTn id="23" presetID="10" presetClass="entr" presetSubtype="0" repeatCount="0" fill="hold" grpId="0" nodeType="withEffect">
                                  <p:stCondLst>
                                    <p:cond delay="10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200"/>
                                        <p:tgtEl>
                                          <p:spTgt spid="8"/>
                                        </p:tgtEl>
                                      </p:cBhvr>
                                    </p:animEffect>
                                  </p:childTnLst>
                                </p:cTn>
                              </p:par>
                              <p:par>
                                <p:cTn id="26" presetID="10" presetClass="entr" presetSubtype="0" repeatCount="0" fill="hold" grpId="0" nodeType="withEffect">
                                  <p:stCondLst>
                                    <p:cond delay="1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200"/>
                                        <p:tgtEl>
                                          <p:spTgt spid="9"/>
                                        </p:tgtEl>
                                      </p:cBhvr>
                                    </p:animEffect>
                                  </p:childTnLst>
                                </p:cTn>
                              </p:par>
                              <p:par>
                                <p:cTn id="29" presetID="10" presetClass="entr" presetSubtype="0" repeatCount="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2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5" grpId="0"/>
      <p:bldP spid="6" grpId="0" animBg="1"/>
      <p:bldP spid="7" grpId="0" animBg="1"/>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5">
            <a:extLst>
              <a:ext uri="{FF2B5EF4-FFF2-40B4-BE49-F238E27FC236}">
                <a16:creationId xmlns:a16="http://schemas.microsoft.com/office/drawing/2014/main" id="{EEDDF38A-4704-D3AF-4B0B-0330936F862F}"/>
              </a:ext>
            </a:extLst>
          </p:cNvPr>
          <p:cNvSpPr txBox="1">
            <a:spLocks/>
          </p:cNvSpPr>
          <p:nvPr/>
        </p:nvSpPr>
        <p:spPr>
          <a:xfrm>
            <a:off x="588263" y="457200"/>
            <a:ext cx="11018520" cy="553998"/>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a:ln>
                  <a:noFill/>
                </a:ln>
                <a:effectLst/>
                <a:uLnTx/>
                <a:uFillTx/>
                <a:latin typeface="Segoe Sans Display Semibold"/>
                <a:ea typeface="+mj-ea"/>
                <a:cs typeface="+mj-cs"/>
              </a:rPr>
              <a:t>AI-Enhanced Automation</a:t>
            </a:r>
          </a:p>
        </p:txBody>
      </p:sp>
      <p:grpSp>
        <p:nvGrpSpPr>
          <p:cNvPr id="12" name="Group 11">
            <a:extLst>
              <a:ext uri="{FF2B5EF4-FFF2-40B4-BE49-F238E27FC236}">
                <a16:creationId xmlns:a16="http://schemas.microsoft.com/office/drawing/2014/main" id="{3A302A6F-3602-A325-36D0-C18BFBC76383}"/>
              </a:ext>
            </a:extLst>
          </p:cNvPr>
          <p:cNvGrpSpPr/>
          <p:nvPr/>
        </p:nvGrpSpPr>
        <p:grpSpPr>
          <a:xfrm>
            <a:off x="588263" y="1572883"/>
            <a:ext cx="5713476" cy="2895721"/>
            <a:chOff x="6711297" y="1671943"/>
            <a:chExt cx="5713476" cy="2895721"/>
          </a:xfrm>
        </p:grpSpPr>
        <p:sp>
          <p:nvSpPr>
            <p:cNvPr id="13" name="Title 6">
              <a:extLst>
                <a:ext uri="{FF2B5EF4-FFF2-40B4-BE49-F238E27FC236}">
                  <a16:creationId xmlns:a16="http://schemas.microsoft.com/office/drawing/2014/main" id="{FB4967C7-FF65-E178-F3C3-E006A0F3E3B2}"/>
                </a:ext>
              </a:extLst>
            </p:cNvPr>
            <p:cNvSpPr txBox="1">
              <a:spLocks/>
            </p:cNvSpPr>
            <p:nvPr/>
          </p:nvSpPr>
          <p:spPr>
            <a:xfrm>
              <a:off x="6854016" y="1671943"/>
              <a:ext cx="3819302" cy="307777"/>
            </a:xfrm>
            <a:prstGeom prst="rect">
              <a:avLst/>
            </a:prstGeom>
            <a:noFill/>
            <a:ln w="9525"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1371600" rtl="0" eaLnBrk="1" fontAlgn="auto" latinLnBrk="0" hangingPunct="1">
                <a:lnSpc>
                  <a:spcPct val="100000"/>
                </a:lnSpc>
                <a:spcBef>
                  <a:spcPts val="0"/>
                </a:spcBef>
                <a:spcAft>
                  <a:spcPts val="0"/>
                </a:spcAft>
                <a:buClrTx/>
                <a:buSzTx/>
                <a:buFontTx/>
                <a:buNone/>
                <a:tabLst>
                  <a:tab pos="1371600" algn="l"/>
                </a:tabLst>
                <a:defRPr/>
              </a:pPr>
              <a:r>
                <a:rPr kumimoji="0" lang="en-US" sz="2000" b="1" i="0" u="none" strike="noStrike" kern="1200" cap="none" spc="0" normalizeH="0" baseline="0" noProof="0">
                  <a:ln w="3175">
                    <a:noFill/>
                  </a:ln>
                  <a:solidFill>
                    <a:schemeClr val="tx1"/>
                  </a:solidFill>
                  <a:effectLst/>
                  <a:uLnTx/>
                  <a:uFillTx/>
                  <a:latin typeface="Segoe Sans Display Semibold"/>
                  <a:ea typeface="+mn-ea"/>
                  <a:cs typeface="Segoe UI" pitchFamily="34" charset="0"/>
                </a:rPr>
                <a:t>AI-enhanced automations are:</a:t>
              </a:r>
            </a:p>
          </p:txBody>
        </p:sp>
        <p:sp>
          <p:nvSpPr>
            <p:cNvPr id="14" name="TextBox 13">
              <a:extLst>
                <a:ext uri="{FF2B5EF4-FFF2-40B4-BE49-F238E27FC236}">
                  <a16:creationId xmlns:a16="http://schemas.microsoft.com/office/drawing/2014/main" id="{A2D89ED5-B9C8-D594-F6AE-9DFB5A59BCA3}"/>
                </a:ext>
              </a:extLst>
            </p:cNvPr>
            <p:cNvSpPr txBox="1"/>
            <p:nvPr/>
          </p:nvSpPr>
          <p:spPr>
            <a:xfrm>
              <a:off x="7144270" y="2351673"/>
              <a:ext cx="5280503" cy="2215991"/>
            </a:xfrm>
            <a:prstGeom prst="rect">
              <a:avLst/>
            </a:prstGeom>
            <a:noFill/>
          </p:spPr>
          <p:txBody>
            <a:bodyPr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effectLst/>
                  <a:uLnTx/>
                  <a:uFillTx/>
                  <a:latin typeface="Segoe UI"/>
                  <a:ea typeface="Segoe UI" panose="020B0502040204020203" pitchFamily="34" charset="0"/>
                  <a:cs typeface="Segoe UI"/>
                </a:rPr>
                <a:t>Structured, but </a:t>
              </a:r>
              <a:r>
                <a:rPr lang="en-US" b="1" kern="0" dirty="0">
                  <a:latin typeface="Segoe UI"/>
                  <a:ea typeface="Segoe UI" panose="020B0502040204020203" pitchFamily="34" charset="0"/>
                  <a:cs typeface="Segoe UI"/>
                </a:rPr>
                <a:t>a</a:t>
              </a:r>
              <a:r>
                <a:rPr kumimoji="0" lang="en-US" sz="1800" b="1" i="0" u="none" strike="noStrike" kern="0" cap="none" spc="0" normalizeH="0" baseline="0" noProof="0" dirty="0" err="1">
                  <a:ln>
                    <a:noFill/>
                  </a:ln>
                  <a:effectLst/>
                  <a:uLnTx/>
                  <a:uFillTx/>
                  <a:latin typeface="Segoe UI"/>
                  <a:ea typeface="Segoe UI" panose="020B0502040204020203" pitchFamily="34" charset="0"/>
                  <a:cs typeface="Segoe UI"/>
                </a:rPr>
                <a:t>ugmented</a:t>
              </a:r>
              <a:r>
                <a:rPr kumimoji="0" lang="en-US" sz="1800" b="0" i="0" u="none" strike="noStrike" kern="0" cap="none" spc="0" normalizeH="0" baseline="0" noProof="0" dirty="0">
                  <a:ln>
                    <a:noFill/>
                  </a:ln>
                  <a:effectLst/>
                  <a:uLnTx/>
                  <a:uFillTx/>
                  <a:latin typeface="Segoe UI"/>
                  <a:ea typeface="Segoe UI" panose="020B0502040204020203" pitchFamily="34" charset="0"/>
                  <a:cs typeface="Segoe UI"/>
                </a:rPr>
                <a:t> – the structure and rules still exist; AI performs a task within it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effectLst/>
                <a:uLnTx/>
                <a:uFillTx/>
                <a:latin typeface="Segoe UI"/>
                <a:ea typeface="Segoe UI" panose="020B0502040204020203" pitchFamily="34" charset="0"/>
                <a:cs typeface="Segoe UI"/>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effectLst/>
                  <a:uLnTx/>
                  <a:uFillTx/>
                  <a:latin typeface="Segoe UI"/>
                  <a:ea typeface="Segoe UI" panose="020B0502040204020203" pitchFamily="34" charset="0"/>
                  <a:cs typeface="Segoe UI"/>
                </a:rPr>
                <a:t>Assistive </a:t>
              </a:r>
              <a:r>
                <a:rPr kumimoji="0" lang="en-US" sz="1800" b="0" i="0" u="none" strike="noStrike" kern="0" cap="none" spc="0" normalizeH="0" baseline="0" noProof="0" dirty="0">
                  <a:ln>
                    <a:noFill/>
                  </a:ln>
                  <a:effectLst/>
                  <a:uLnTx/>
                  <a:uFillTx/>
                  <a:latin typeface="Segoe UI"/>
                  <a:ea typeface="Segoe UI" panose="020B0502040204020203" pitchFamily="34" charset="0"/>
                  <a:cs typeface="Segoe UI"/>
                </a:rPr>
                <a:t>– use AI within a step to extract, classify, or interpret information for downstream steps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effectLst/>
                <a:uLnTx/>
                <a:uFillTx/>
                <a:latin typeface="Segoe UI"/>
                <a:ea typeface="Segoe UI" panose="020B0502040204020203" pitchFamily="34" charset="0"/>
                <a:cs typeface="Segoe UI"/>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effectLst/>
                  <a:uLnTx/>
                  <a:uFillTx/>
                  <a:latin typeface="Segoe UI"/>
                  <a:ea typeface="Segoe UI" panose="020B0502040204020203" pitchFamily="34" charset="0"/>
                  <a:cs typeface="Segoe UI"/>
                </a:rPr>
                <a:t>Perceptive</a:t>
              </a:r>
              <a:r>
                <a:rPr kumimoji="0" lang="en-US" sz="1800" b="0" i="0" u="none" strike="noStrike" kern="0" cap="none" spc="0" normalizeH="0" baseline="0" noProof="0" dirty="0">
                  <a:ln>
                    <a:noFill/>
                  </a:ln>
                  <a:effectLst/>
                  <a:uLnTx/>
                  <a:uFillTx/>
                  <a:latin typeface="Segoe UI"/>
                  <a:ea typeface="Segoe UI" panose="020B0502040204020203" pitchFamily="34" charset="0"/>
                  <a:cs typeface="Segoe UI"/>
                </a:rPr>
                <a:t> – can handle unstructured content such as documents, email text, and sentiment</a:t>
              </a:r>
              <a:endParaRPr kumimoji="0" lang="en-US" sz="1800" b="1" i="0" u="none" strike="noStrike" kern="0" cap="none" spc="0" normalizeH="0" baseline="0" noProof="0" dirty="0">
                <a:ln>
                  <a:noFill/>
                </a:ln>
                <a:effectLst/>
                <a:uLnTx/>
                <a:uFillTx/>
                <a:latin typeface="Segoe UI"/>
                <a:ea typeface="Segoe UI" panose="020B0502040204020203" pitchFamily="34" charset="0"/>
                <a:cs typeface="Segoe UI"/>
              </a:endParaRPr>
            </a:p>
          </p:txBody>
        </p:sp>
        <p:sp>
          <p:nvSpPr>
            <p:cNvPr id="15" name="Graphic 97">
              <a:extLst>
                <a:ext uri="{FF2B5EF4-FFF2-40B4-BE49-F238E27FC236}">
                  <a16:creationId xmlns:a16="http://schemas.microsoft.com/office/drawing/2014/main" id="{2C44C94B-061E-808F-F451-CD5CD291CA6F}"/>
                </a:ext>
                <a:ext uri="{C183D7F6-B498-43B3-948B-1728B52AA6E4}">
                  <adec:decorative xmlns:adec="http://schemas.microsoft.com/office/drawing/2017/decorative" val="1"/>
                </a:ext>
              </a:extLst>
            </p:cNvPr>
            <p:cNvSpPr/>
            <p:nvPr/>
          </p:nvSpPr>
          <p:spPr>
            <a:xfrm>
              <a:off x="6732207" y="2388633"/>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flip="none" rotWithShape="1">
              <a:gsLst>
                <a:gs pos="68000">
                  <a:srgbClr val="0A6BBA"/>
                </a:gs>
                <a:gs pos="100000">
                  <a:srgbClr val="318581"/>
                </a:gs>
                <a:gs pos="0">
                  <a:srgbClr val="F65567"/>
                </a:gs>
                <a:gs pos="32000">
                  <a:srgbClr val="7656AD"/>
                </a:gs>
              </a:gsLst>
              <a:path path="circle">
                <a:fillToRect l="100000" t="100000"/>
              </a:path>
              <a:tileRect r="-100000" b="-100000"/>
            </a:gradFill>
          </p:spPr>
          <p:txBody>
            <a:bodyPr wrap="none" lIns="146957" tIns="25718" rIns="146957" bIns="27432" rtlCol="0">
              <a:noAutofit/>
            </a:bodyPr>
            <a:lstStyle/>
            <a:p>
              <a:pPr marL="0" marR="0" lvl="0" indent="0" algn="ctr" defTabSz="2275850" eaLnBrk="1" fontAlgn="base" latinLnBrk="0" hangingPunct="1">
                <a:lnSpc>
                  <a:spcPct val="100000"/>
                </a:lnSpc>
                <a:spcBef>
                  <a:spcPct val="0"/>
                </a:spcBef>
                <a:spcAft>
                  <a:spcPct val="0"/>
                </a:spcAft>
                <a:buClrTx/>
                <a:buSzTx/>
                <a:buFontTx/>
                <a:buNone/>
                <a:tabLst>
                  <a:tab pos="3701239" algn="l"/>
                </a:tabLst>
                <a:defRPr/>
              </a:pPr>
              <a:endParaRPr kumimoji="0" lang="en-US" sz="1400" b="1" i="0" u="none" strike="noStrike" kern="0" cap="none" spc="0" normalizeH="0" baseline="0" noProof="0">
                <a:ln w="3175">
                  <a:noFill/>
                </a:ln>
                <a:effectLst/>
                <a:uLnTx/>
                <a:uFillTx/>
                <a:latin typeface="Segoe Sans Display Semibold"/>
                <a:cs typeface="Segoe UI" pitchFamily="34" charset="0"/>
              </a:endParaRPr>
            </a:p>
          </p:txBody>
        </p:sp>
        <p:sp>
          <p:nvSpPr>
            <p:cNvPr id="16" name="Graphic 97">
              <a:extLst>
                <a:ext uri="{FF2B5EF4-FFF2-40B4-BE49-F238E27FC236}">
                  <a16:creationId xmlns:a16="http://schemas.microsoft.com/office/drawing/2014/main" id="{D155566A-3592-B3D4-F298-47132FE6A390}"/>
                </a:ext>
                <a:ext uri="{C183D7F6-B498-43B3-948B-1728B52AA6E4}">
                  <adec:decorative xmlns:adec="http://schemas.microsoft.com/office/drawing/2017/decorative" val="1"/>
                </a:ext>
              </a:extLst>
            </p:cNvPr>
            <p:cNvSpPr/>
            <p:nvPr/>
          </p:nvSpPr>
          <p:spPr>
            <a:xfrm>
              <a:off x="6711297" y="3202980"/>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flip="none" rotWithShape="1">
              <a:gsLst>
                <a:gs pos="68000">
                  <a:srgbClr val="0A6BBA"/>
                </a:gs>
                <a:gs pos="100000">
                  <a:srgbClr val="318581"/>
                </a:gs>
                <a:gs pos="0">
                  <a:srgbClr val="F65567"/>
                </a:gs>
                <a:gs pos="32000">
                  <a:srgbClr val="7656AD"/>
                </a:gs>
              </a:gsLst>
              <a:path path="circle">
                <a:fillToRect l="100000" t="100000"/>
              </a:path>
              <a:tileRect r="-100000" b="-100000"/>
            </a:gradFill>
          </p:spPr>
          <p:txBody>
            <a:bodyPr wrap="none" lIns="146957" tIns="25718" rIns="146957" bIns="27432" rtlCol="0">
              <a:noAutofit/>
            </a:bodyPr>
            <a:lstStyle/>
            <a:p>
              <a:pPr marL="0" marR="0" lvl="0" indent="0" algn="ctr" defTabSz="2275850" eaLnBrk="1" fontAlgn="base" latinLnBrk="0" hangingPunct="1">
                <a:lnSpc>
                  <a:spcPct val="100000"/>
                </a:lnSpc>
                <a:spcBef>
                  <a:spcPct val="0"/>
                </a:spcBef>
                <a:spcAft>
                  <a:spcPct val="0"/>
                </a:spcAft>
                <a:buClrTx/>
                <a:buSzTx/>
                <a:buFontTx/>
                <a:buNone/>
                <a:tabLst>
                  <a:tab pos="3701239" algn="l"/>
                </a:tabLst>
                <a:defRPr/>
              </a:pPr>
              <a:endParaRPr kumimoji="0" lang="en-US" sz="1400" b="1" i="0" u="none" strike="noStrike" kern="0" cap="none" spc="0" normalizeH="0" baseline="0" noProof="0">
                <a:ln w="3175">
                  <a:noFill/>
                </a:ln>
                <a:effectLst/>
                <a:uLnTx/>
                <a:uFillTx/>
                <a:latin typeface="Segoe Sans Display Semibold"/>
                <a:cs typeface="Segoe UI" pitchFamily="34" charset="0"/>
              </a:endParaRPr>
            </a:p>
          </p:txBody>
        </p:sp>
        <p:sp>
          <p:nvSpPr>
            <p:cNvPr id="17" name="Graphic 97">
              <a:extLst>
                <a:ext uri="{FF2B5EF4-FFF2-40B4-BE49-F238E27FC236}">
                  <a16:creationId xmlns:a16="http://schemas.microsoft.com/office/drawing/2014/main" id="{C7B802B4-3C92-ADED-AAD4-CF39792AE8BD}"/>
                </a:ext>
                <a:ext uri="{C183D7F6-B498-43B3-948B-1728B52AA6E4}">
                  <adec:decorative xmlns:adec="http://schemas.microsoft.com/office/drawing/2017/decorative" val="1"/>
                </a:ext>
              </a:extLst>
            </p:cNvPr>
            <p:cNvSpPr/>
            <p:nvPr/>
          </p:nvSpPr>
          <p:spPr>
            <a:xfrm>
              <a:off x="6727769" y="4034453"/>
              <a:ext cx="273021" cy="273021"/>
            </a:xfrm>
            <a:custGeom>
              <a:avLst/>
              <a:gdLst>
                <a:gd name="connsiteX0" fmla="*/ 241836 w 483672"/>
                <a:gd name="connsiteY0" fmla="*/ 0 h 483672"/>
                <a:gd name="connsiteX1" fmla="*/ 483673 w 483672"/>
                <a:gd name="connsiteY1" fmla="*/ 241836 h 483672"/>
                <a:gd name="connsiteX2" fmla="*/ 241836 w 483672"/>
                <a:gd name="connsiteY2" fmla="*/ 483673 h 483672"/>
                <a:gd name="connsiteX3" fmla="*/ 0 w 483672"/>
                <a:gd name="connsiteY3" fmla="*/ 241836 h 483672"/>
                <a:gd name="connsiteX4" fmla="*/ 241836 w 483672"/>
                <a:gd name="connsiteY4" fmla="*/ 0 h 483672"/>
                <a:gd name="connsiteX5" fmla="*/ 260724 w 483672"/>
                <a:gd name="connsiteY5" fmla="*/ 132260 h 483672"/>
                <a:gd name="connsiteX6" fmla="*/ 258692 w 483672"/>
                <a:gd name="connsiteY6" fmla="*/ 130495 h 483672"/>
                <a:gd name="connsiteX7" fmla="*/ 237338 w 483672"/>
                <a:gd name="connsiteY7" fmla="*/ 130326 h 483672"/>
                <a:gd name="connsiteX8" fmla="*/ 235065 w 483672"/>
                <a:gd name="connsiteY8" fmla="*/ 132260 h 483672"/>
                <a:gd name="connsiteX9" fmla="*/ 233324 w 483672"/>
                <a:gd name="connsiteY9" fmla="*/ 134292 h 483672"/>
                <a:gd name="connsiteX10" fmla="*/ 233154 w 483672"/>
                <a:gd name="connsiteY10" fmla="*/ 155646 h 483672"/>
                <a:gd name="connsiteX11" fmla="*/ 235089 w 483672"/>
                <a:gd name="connsiteY11" fmla="*/ 157919 h 483672"/>
                <a:gd name="connsiteX12" fmla="*/ 300844 w 483672"/>
                <a:gd name="connsiteY12" fmla="*/ 223699 h 483672"/>
                <a:gd name="connsiteX13" fmla="*/ 139056 w 483672"/>
                <a:gd name="connsiteY13" fmla="*/ 223699 h 483672"/>
                <a:gd name="connsiteX14" fmla="*/ 136589 w 483672"/>
                <a:gd name="connsiteY14" fmla="*/ 223844 h 483672"/>
                <a:gd name="connsiteX15" fmla="*/ 121087 w 483672"/>
                <a:gd name="connsiteY15" fmla="*/ 239370 h 483672"/>
                <a:gd name="connsiteX16" fmla="*/ 120918 w 483672"/>
                <a:gd name="connsiteY16" fmla="*/ 241812 h 483672"/>
                <a:gd name="connsiteX17" fmla="*/ 121087 w 483672"/>
                <a:gd name="connsiteY17" fmla="*/ 244279 h 483672"/>
                <a:gd name="connsiteX18" fmla="*/ 136589 w 483672"/>
                <a:gd name="connsiteY18" fmla="*/ 259781 h 483672"/>
                <a:gd name="connsiteX19" fmla="*/ 139056 w 483672"/>
                <a:gd name="connsiteY19" fmla="*/ 259950 h 483672"/>
                <a:gd name="connsiteX20" fmla="*/ 300844 w 483672"/>
                <a:gd name="connsiteY20" fmla="*/ 259950 h 483672"/>
                <a:gd name="connsiteX21" fmla="*/ 235065 w 483672"/>
                <a:gd name="connsiteY21" fmla="*/ 325729 h 483672"/>
                <a:gd name="connsiteX22" fmla="*/ 233299 w 483672"/>
                <a:gd name="connsiteY22" fmla="*/ 327785 h 483672"/>
                <a:gd name="connsiteX23" fmla="*/ 236927 w 483672"/>
                <a:gd name="connsiteY23" fmla="*/ 353178 h 483672"/>
                <a:gd name="connsiteX24" fmla="*/ 258692 w 483672"/>
                <a:gd name="connsiteY24" fmla="*/ 353178 h 483672"/>
                <a:gd name="connsiteX25" fmla="*/ 260699 w 483672"/>
                <a:gd name="connsiteY25" fmla="*/ 351412 h 483672"/>
                <a:gd name="connsiteX26" fmla="*/ 357482 w 483672"/>
                <a:gd name="connsiteY26" fmla="*/ 254678 h 483672"/>
                <a:gd name="connsiteX27" fmla="*/ 359224 w 483672"/>
                <a:gd name="connsiteY27" fmla="*/ 252622 h 483672"/>
                <a:gd name="connsiteX28" fmla="*/ 359417 w 483672"/>
                <a:gd name="connsiteY28" fmla="*/ 231292 h 483672"/>
                <a:gd name="connsiteX29" fmla="*/ 357482 w 483672"/>
                <a:gd name="connsiteY29" fmla="*/ 229019 h 483672"/>
                <a:gd name="connsiteX30" fmla="*/ 260748 w 483672"/>
                <a:gd name="connsiteY30" fmla="*/ 132260 h 483672"/>
                <a:gd name="connsiteX31" fmla="*/ 258692 w 483672"/>
                <a:gd name="connsiteY31" fmla="*/ 130495 h 483672"/>
                <a:gd name="connsiteX32" fmla="*/ 260724 w 483672"/>
                <a:gd name="connsiteY32" fmla="*/ 132260 h 4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3672" h="483672">
                  <a:moveTo>
                    <a:pt x="241836" y="0"/>
                  </a:moveTo>
                  <a:cubicBezTo>
                    <a:pt x="375427" y="0"/>
                    <a:pt x="483673" y="108270"/>
                    <a:pt x="483673" y="241836"/>
                  </a:cubicBezTo>
                  <a:cubicBezTo>
                    <a:pt x="483673" y="375402"/>
                    <a:pt x="375427" y="483673"/>
                    <a:pt x="241836" y="483673"/>
                  </a:cubicBezTo>
                  <a:cubicBezTo>
                    <a:pt x="108294" y="483673"/>
                    <a:pt x="0" y="375402"/>
                    <a:pt x="0" y="241836"/>
                  </a:cubicBezTo>
                  <a:cubicBezTo>
                    <a:pt x="0" y="108270"/>
                    <a:pt x="108294" y="0"/>
                    <a:pt x="241836" y="0"/>
                  </a:cubicBezTo>
                  <a:close/>
                  <a:moveTo>
                    <a:pt x="260724" y="132260"/>
                  </a:moveTo>
                  <a:lnTo>
                    <a:pt x="258692" y="130495"/>
                  </a:lnTo>
                  <a:cubicBezTo>
                    <a:pt x="252366" y="125810"/>
                    <a:pt x="243740" y="125742"/>
                    <a:pt x="237338" y="130326"/>
                  </a:cubicBezTo>
                  <a:lnTo>
                    <a:pt x="235065" y="132260"/>
                  </a:lnTo>
                  <a:lnTo>
                    <a:pt x="233324" y="134292"/>
                  </a:lnTo>
                  <a:cubicBezTo>
                    <a:pt x="228639" y="140619"/>
                    <a:pt x="228572" y="149245"/>
                    <a:pt x="233154" y="155646"/>
                  </a:cubicBezTo>
                  <a:lnTo>
                    <a:pt x="235089" y="157919"/>
                  </a:lnTo>
                  <a:lnTo>
                    <a:pt x="300844" y="223699"/>
                  </a:lnTo>
                  <a:lnTo>
                    <a:pt x="139056" y="223699"/>
                  </a:lnTo>
                  <a:lnTo>
                    <a:pt x="136589" y="223844"/>
                  </a:lnTo>
                  <a:cubicBezTo>
                    <a:pt x="128523" y="224954"/>
                    <a:pt x="122184" y="231302"/>
                    <a:pt x="121087" y="239370"/>
                  </a:cubicBezTo>
                  <a:lnTo>
                    <a:pt x="120918" y="241812"/>
                  </a:lnTo>
                  <a:lnTo>
                    <a:pt x="121087" y="244279"/>
                  </a:lnTo>
                  <a:cubicBezTo>
                    <a:pt x="122194" y="252337"/>
                    <a:pt x="128530" y="258673"/>
                    <a:pt x="136589" y="259781"/>
                  </a:cubicBezTo>
                  <a:lnTo>
                    <a:pt x="139056" y="259950"/>
                  </a:lnTo>
                  <a:lnTo>
                    <a:pt x="300844" y="259950"/>
                  </a:lnTo>
                  <a:lnTo>
                    <a:pt x="235065" y="325729"/>
                  </a:lnTo>
                  <a:lnTo>
                    <a:pt x="233299" y="327785"/>
                  </a:lnTo>
                  <a:cubicBezTo>
                    <a:pt x="227290" y="335799"/>
                    <a:pt x="228913" y="347168"/>
                    <a:pt x="236927" y="353178"/>
                  </a:cubicBezTo>
                  <a:cubicBezTo>
                    <a:pt x="243377" y="358014"/>
                    <a:pt x="252242" y="358014"/>
                    <a:pt x="258692" y="353178"/>
                  </a:cubicBezTo>
                  <a:lnTo>
                    <a:pt x="260699" y="351412"/>
                  </a:lnTo>
                  <a:lnTo>
                    <a:pt x="357482" y="254678"/>
                  </a:lnTo>
                  <a:lnTo>
                    <a:pt x="359224" y="252622"/>
                  </a:lnTo>
                  <a:cubicBezTo>
                    <a:pt x="363903" y="246305"/>
                    <a:pt x="363983" y="237694"/>
                    <a:pt x="359417" y="231292"/>
                  </a:cubicBezTo>
                  <a:lnTo>
                    <a:pt x="357482" y="229019"/>
                  </a:lnTo>
                  <a:lnTo>
                    <a:pt x="260748" y="132260"/>
                  </a:lnTo>
                  <a:lnTo>
                    <a:pt x="258692" y="130495"/>
                  </a:lnTo>
                  <a:lnTo>
                    <a:pt x="260724" y="132260"/>
                  </a:lnTo>
                  <a:close/>
                </a:path>
              </a:pathLst>
            </a:custGeom>
            <a:gradFill flip="none" rotWithShape="1">
              <a:gsLst>
                <a:gs pos="68000">
                  <a:srgbClr val="0A6BBA"/>
                </a:gs>
                <a:gs pos="100000">
                  <a:srgbClr val="318581"/>
                </a:gs>
                <a:gs pos="0">
                  <a:srgbClr val="F65567"/>
                </a:gs>
                <a:gs pos="32000">
                  <a:srgbClr val="7656AD"/>
                </a:gs>
              </a:gsLst>
              <a:path path="circle">
                <a:fillToRect l="100000" t="100000"/>
              </a:path>
              <a:tileRect r="-100000" b="-100000"/>
            </a:gradFill>
          </p:spPr>
          <p:txBody>
            <a:bodyPr wrap="none" lIns="146957" tIns="25718" rIns="146957" bIns="27432" rtlCol="0">
              <a:noAutofit/>
            </a:bodyPr>
            <a:lstStyle/>
            <a:p>
              <a:pPr marL="0" marR="0" lvl="0" indent="0" algn="ctr" defTabSz="2275850" eaLnBrk="1" fontAlgn="base" latinLnBrk="0" hangingPunct="1">
                <a:lnSpc>
                  <a:spcPct val="100000"/>
                </a:lnSpc>
                <a:spcBef>
                  <a:spcPct val="0"/>
                </a:spcBef>
                <a:spcAft>
                  <a:spcPct val="0"/>
                </a:spcAft>
                <a:buClrTx/>
                <a:buSzTx/>
                <a:buFontTx/>
                <a:buNone/>
                <a:tabLst>
                  <a:tab pos="3701239" algn="l"/>
                </a:tabLst>
                <a:defRPr/>
              </a:pPr>
              <a:endParaRPr kumimoji="0" lang="en-US" sz="1400" b="1" i="0" u="none" strike="noStrike" kern="0" cap="none" spc="0" normalizeH="0" baseline="0" noProof="0">
                <a:ln w="3175">
                  <a:noFill/>
                </a:ln>
                <a:effectLst/>
                <a:uLnTx/>
                <a:uFillTx/>
                <a:latin typeface="Segoe Sans Display Semibold"/>
                <a:cs typeface="Segoe UI" pitchFamily="34" charset="0"/>
              </a:endParaRPr>
            </a:p>
          </p:txBody>
        </p:sp>
      </p:grpSp>
      <p:sp>
        <p:nvSpPr>
          <p:cNvPr id="18" name="Title 6">
            <a:extLst>
              <a:ext uri="{FF2B5EF4-FFF2-40B4-BE49-F238E27FC236}">
                <a16:creationId xmlns:a16="http://schemas.microsoft.com/office/drawing/2014/main" id="{AA6C1A95-FB7B-178E-BB61-67C0E04B3371}"/>
              </a:ext>
            </a:extLst>
          </p:cNvPr>
          <p:cNvSpPr txBox="1">
            <a:spLocks/>
          </p:cNvSpPr>
          <p:nvPr/>
        </p:nvSpPr>
        <p:spPr>
          <a:xfrm>
            <a:off x="604735" y="4907459"/>
            <a:ext cx="5392316" cy="615553"/>
          </a:xfrm>
          <a:prstGeom prst="rect">
            <a:avLst/>
          </a:prstGeom>
          <a:noFill/>
          <a:ln w="9525"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1371600" rtl="0" eaLnBrk="1" fontAlgn="auto" latinLnBrk="0" hangingPunct="1">
              <a:lnSpc>
                <a:spcPct val="100000"/>
              </a:lnSpc>
              <a:spcBef>
                <a:spcPts val="0"/>
              </a:spcBef>
              <a:spcAft>
                <a:spcPts val="0"/>
              </a:spcAft>
              <a:buClrTx/>
              <a:buSzTx/>
              <a:buFontTx/>
              <a:buNone/>
              <a:tabLst>
                <a:tab pos="1371600" algn="l"/>
              </a:tabLst>
              <a:defRPr/>
            </a:pPr>
            <a:r>
              <a:rPr kumimoji="0" lang="en-US" sz="2000" b="0" i="1" u="none" strike="noStrike" kern="1200" cap="none" spc="0" normalizeH="0" baseline="0" noProof="0" dirty="0">
                <a:ln w="3175">
                  <a:noFill/>
                </a:ln>
                <a:solidFill>
                  <a:schemeClr val="tx1"/>
                </a:solidFill>
                <a:effectLst/>
                <a:uLnTx/>
                <a:uFillTx/>
                <a:latin typeface="Segoe UI" panose="020B0502040204020203" pitchFamily="34" charset="0"/>
                <a:ea typeface="+mn-ea"/>
                <a:cs typeface="Segoe UI" pitchFamily="34" charset="0"/>
              </a:rPr>
              <a:t>AI-enhanced automations bring intelligence into the step-by-step workflows we already trust</a:t>
            </a:r>
          </a:p>
        </p:txBody>
      </p:sp>
      <p:grpSp>
        <p:nvGrpSpPr>
          <p:cNvPr id="2" name="Group 1">
            <a:extLst>
              <a:ext uri="{FF2B5EF4-FFF2-40B4-BE49-F238E27FC236}">
                <a16:creationId xmlns:a16="http://schemas.microsoft.com/office/drawing/2014/main" id="{7DA0F27F-C7B4-260F-3968-F179CC2F827C}"/>
              </a:ext>
            </a:extLst>
          </p:cNvPr>
          <p:cNvGrpSpPr/>
          <p:nvPr/>
        </p:nvGrpSpPr>
        <p:grpSpPr>
          <a:xfrm>
            <a:off x="6595411" y="1499883"/>
            <a:ext cx="5147686" cy="3750110"/>
            <a:chOff x="6595411" y="1499883"/>
            <a:chExt cx="5147686" cy="3750110"/>
          </a:xfrm>
        </p:grpSpPr>
        <p:grpSp>
          <p:nvGrpSpPr>
            <p:cNvPr id="19" name="Group 18">
              <a:extLst>
                <a:ext uri="{FF2B5EF4-FFF2-40B4-BE49-F238E27FC236}">
                  <a16:creationId xmlns:a16="http://schemas.microsoft.com/office/drawing/2014/main" id="{58E2BC34-6E6E-528B-477C-75B9AEE1E7F8}"/>
                </a:ext>
              </a:extLst>
            </p:cNvPr>
            <p:cNvGrpSpPr/>
            <p:nvPr/>
          </p:nvGrpSpPr>
          <p:grpSpPr>
            <a:xfrm>
              <a:off x="6595411" y="1499883"/>
              <a:ext cx="5147686" cy="3750110"/>
              <a:chOff x="6595411" y="1499883"/>
              <a:chExt cx="5147686" cy="3750110"/>
            </a:xfrm>
          </p:grpSpPr>
          <p:sp>
            <p:nvSpPr>
              <p:cNvPr id="20" name="Rectangle: Rounded Corners 19">
                <a:extLst>
                  <a:ext uri="{FF2B5EF4-FFF2-40B4-BE49-F238E27FC236}">
                    <a16:creationId xmlns:a16="http://schemas.microsoft.com/office/drawing/2014/main" id="{614EC8BA-BA67-D63F-8204-5DDE435C82BE}"/>
                  </a:ext>
                </a:extLst>
              </p:cNvPr>
              <p:cNvSpPr/>
              <p:nvPr/>
            </p:nvSpPr>
            <p:spPr>
              <a:xfrm>
                <a:off x="7911954" y="1499883"/>
                <a:ext cx="2514600" cy="922020"/>
              </a:xfrm>
              <a:prstGeom prst="roundRect">
                <a:avLst/>
              </a:prstGeom>
              <a:solidFill>
                <a:srgbClr val="1C9BFD"/>
              </a:solidFill>
              <a:ln w="76200" cap="flat" cmpd="sng" algn="ctr">
                <a:solidFill>
                  <a:srgbClr val="7FCFFF">
                    <a:lumMod val="40000"/>
                    <a:lumOff val="6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effectLst/>
                  <a:uLnTx/>
                  <a:uFillTx/>
                </a:endParaRPr>
              </a:p>
            </p:txBody>
          </p:sp>
          <p:sp>
            <p:nvSpPr>
              <p:cNvPr id="21" name="Rectangle: Rounded Corners 20">
                <a:extLst>
                  <a:ext uri="{FF2B5EF4-FFF2-40B4-BE49-F238E27FC236}">
                    <a16:creationId xmlns:a16="http://schemas.microsoft.com/office/drawing/2014/main" id="{3A1D30D1-F3CE-DCFE-3658-BD81CEE7E134}"/>
                  </a:ext>
                </a:extLst>
              </p:cNvPr>
              <p:cNvSpPr/>
              <p:nvPr/>
            </p:nvSpPr>
            <p:spPr>
              <a:xfrm>
                <a:off x="7911954" y="2882578"/>
                <a:ext cx="2514600" cy="922020"/>
              </a:xfrm>
              <a:prstGeom prst="roundRect">
                <a:avLst/>
              </a:prstGeom>
              <a:solidFill>
                <a:srgbClr val="1C9BFD">
                  <a:lumMod val="75000"/>
                </a:srgbClr>
              </a:solidFill>
              <a:ln w="76200" cap="flat" cmpd="sng" algn="ctr">
                <a:solidFill>
                  <a:srgbClr val="7FCFFF">
                    <a:lumMod val="40000"/>
                    <a:lumOff val="6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effectLst/>
                  <a:uLnTx/>
                  <a:uFillTx/>
                </a:endParaRPr>
              </a:p>
            </p:txBody>
          </p:sp>
          <p:sp>
            <p:nvSpPr>
              <p:cNvPr id="22" name="Rectangle: Rounded Corners 21">
                <a:extLst>
                  <a:ext uri="{FF2B5EF4-FFF2-40B4-BE49-F238E27FC236}">
                    <a16:creationId xmlns:a16="http://schemas.microsoft.com/office/drawing/2014/main" id="{6F09EF09-CDD2-ADDD-F13F-B33D29813D68}"/>
                  </a:ext>
                </a:extLst>
              </p:cNvPr>
              <p:cNvSpPr/>
              <p:nvPr/>
            </p:nvSpPr>
            <p:spPr>
              <a:xfrm>
                <a:off x="7911954" y="4327973"/>
                <a:ext cx="2514600" cy="922020"/>
              </a:xfrm>
              <a:prstGeom prst="roundRect">
                <a:avLst/>
              </a:prstGeom>
              <a:solidFill>
                <a:srgbClr val="1C9BFD">
                  <a:lumMod val="50000"/>
                </a:srgbClr>
              </a:solidFill>
              <a:ln w="76200" cap="flat" cmpd="sng" algn="ctr">
                <a:solidFill>
                  <a:srgbClr val="7FCFFF">
                    <a:lumMod val="40000"/>
                    <a:lumOff val="6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effectLst/>
                  <a:uLnTx/>
                  <a:uFillTx/>
                </a:endParaRPr>
              </a:p>
            </p:txBody>
          </p:sp>
          <p:sp>
            <p:nvSpPr>
              <p:cNvPr id="23" name="Arrow: Curved Left 22">
                <a:extLst>
                  <a:ext uri="{FF2B5EF4-FFF2-40B4-BE49-F238E27FC236}">
                    <a16:creationId xmlns:a16="http://schemas.microsoft.com/office/drawing/2014/main" id="{CA37B40F-0179-C746-9D08-F996F128E859}"/>
                  </a:ext>
                </a:extLst>
              </p:cNvPr>
              <p:cNvSpPr/>
              <p:nvPr/>
            </p:nvSpPr>
            <p:spPr>
              <a:xfrm>
                <a:off x="10622957" y="1822141"/>
                <a:ext cx="1120140" cy="1723549"/>
              </a:xfrm>
              <a:prstGeom prst="curvedLeftArrow">
                <a:avLst/>
              </a:prstGeom>
              <a:solidFill>
                <a:srgbClr val="1C9BFD">
                  <a:lumMod val="40000"/>
                  <a:lumOff val="6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effectLst/>
                  <a:uLnTx/>
                  <a:uFillTx/>
                </a:endParaRPr>
              </a:p>
            </p:txBody>
          </p:sp>
          <p:sp>
            <p:nvSpPr>
              <p:cNvPr id="24" name="Arrow: Curved Right 23">
                <a:extLst>
                  <a:ext uri="{FF2B5EF4-FFF2-40B4-BE49-F238E27FC236}">
                    <a16:creationId xmlns:a16="http://schemas.microsoft.com/office/drawing/2014/main" id="{8F2D4596-460F-E24E-1294-93405EB59338}"/>
                  </a:ext>
                </a:extLst>
              </p:cNvPr>
              <p:cNvSpPr/>
              <p:nvPr/>
            </p:nvSpPr>
            <p:spPr>
              <a:xfrm>
                <a:off x="6595411" y="3206018"/>
                <a:ext cx="1120140" cy="2009218"/>
              </a:xfrm>
              <a:prstGeom prst="curvedRightArrow">
                <a:avLst/>
              </a:prstGeom>
              <a:solidFill>
                <a:srgbClr val="1C9BFD">
                  <a:lumMod val="40000"/>
                  <a:lumOff val="6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effectLst/>
                  <a:uLnTx/>
                  <a:uFillTx/>
                </a:endParaRPr>
              </a:p>
            </p:txBody>
          </p:sp>
        </p:grpSp>
        <p:pic>
          <p:nvPicPr>
            <p:cNvPr id="28" name="Graphic 27" descr="Lightbulb and gear with solid fill">
              <a:extLst>
                <a:ext uri="{FF2B5EF4-FFF2-40B4-BE49-F238E27FC236}">
                  <a16:creationId xmlns:a16="http://schemas.microsoft.com/office/drawing/2014/main" id="{62D4655E-7230-0082-D709-545A0AC63ED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773810" y="2922418"/>
              <a:ext cx="790888" cy="790888"/>
            </a:xfrm>
            <a:prstGeom prst="rect">
              <a:avLst/>
            </a:prstGeom>
          </p:spPr>
        </p:pic>
      </p:grpSp>
    </p:spTree>
    <p:extLst>
      <p:ext uri="{BB962C8B-B14F-4D97-AF65-F5344CB8AC3E}">
        <p14:creationId xmlns:p14="http://schemas.microsoft.com/office/powerpoint/2010/main" val="28705016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
                                        <p:tgtEl>
                                          <p:spTgt spid="11"/>
                                        </p:tgtEl>
                                      </p:cBhvr>
                                    </p:animEffect>
                                  </p:childTnLst>
                                </p:cTn>
                              </p:par>
                              <p:par>
                                <p:cTn id="8" presetID="1"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8F7A7-6AA0-D59F-7CFF-05C0091D9D7F}"/>
            </a:ext>
          </a:extLst>
        </p:cNvPr>
        <p:cNvGrpSpPr/>
        <p:nvPr/>
      </p:nvGrpSpPr>
      <p:grpSpPr>
        <a:xfrm>
          <a:off x="0" y="0"/>
          <a:ext cx="0" cy="0"/>
          <a:chOff x="0" y="0"/>
          <a:chExt cx="0" cy="0"/>
        </a:xfrm>
      </p:grpSpPr>
      <p:sp>
        <p:nvSpPr>
          <p:cNvPr id="11" name="Title 5">
            <a:extLst>
              <a:ext uri="{FF2B5EF4-FFF2-40B4-BE49-F238E27FC236}">
                <a16:creationId xmlns:a16="http://schemas.microsoft.com/office/drawing/2014/main" id="{9818CD3D-1886-6434-BC28-DFEBDECCB600}"/>
              </a:ext>
            </a:extLst>
          </p:cNvPr>
          <p:cNvSpPr txBox="1">
            <a:spLocks/>
          </p:cNvSpPr>
          <p:nvPr/>
        </p:nvSpPr>
        <p:spPr>
          <a:xfrm>
            <a:off x="588263" y="457200"/>
            <a:ext cx="11018520" cy="553998"/>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sz="3600" dirty="0">
                <a:latin typeface="Segoe Sans Display Semibold"/>
              </a:rPr>
              <a:t>Enhancing Rule-Based Workflows with AI</a:t>
            </a:r>
            <a:endParaRPr lang="en-US" sz="3600" i="1" dirty="0">
              <a:latin typeface="Segoe Sans Display Semibold"/>
            </a:endParaRPr>
          </a:p>
        </p:txBody>
      </p:sp>
      <p:sp>
        <p:nvSpPr>
          <p:cNvPr id="12" name="Title 6">
            <a:extLst>
              <a:ext uri="{FF2B5EF4-FFF2-40B4-BE49-F238E27FC236}">
                <a16:creationId xmlns:a16="http://schemas.microsoft.com/office/drawing/2014/main" id="{C1D8D0CC-2B79-BC45-D20B-83D714FA06ED}"/>
              </a:ext>
            </a:extLst>
          </p:cNvPr>
          <p:cNvSpPr txBox="1">
            <a:spLocks/>
          </p:cNvSpPr>
          <p:nvPr/>
        </p:nvSpPr>
        <p:spPr>
          <a:xfrm>
            <a:off x="520703" y="1815519"/>
            <a:ext cx="4610097" cy="923330"/>
          </a:xfrm>
          <a:prstGeom prst="rect">
            <a:avLst/>
          </a:prstGeom>
          <a:noFill/>
          <a:ln w="9525"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lvl="0" defTabSz="1371600" fontAlgn="auto">
              <a:spcBef>
                <a:spcPts val="0"/>
              </a:spcBef>
              <a:spcAft>
                <a:spcPts val="0"/>
              </a:spcAft>
              <a:tabLst>
                <a:tab pos="1371600" algn="l"/>
              </a:tabLst>
              <a:defRPr/>
            </a:pPr>
            <a:r>
              <a:rPr lang="en-US" sz="2000" spc="0">
                <a:solidFill>
                  <a:schemeClr val="tx1"/>
                </a:solidFill>
                <a:latin typeface="Segoe UI" panose="020B0502040204020203" pitchFamily="34" charset="0"/>
              </a:rPr>
              <a:t>By adding an </a:t>
            </a:r>
            <a:r>
              <a:rPr lang="en-US" sz="2000" u="sng" spc="0">
                <a:solidFill>
                  <a:schemeClr val="tx1"/>
                </a:solidFill>
                <a:latin typeface="Segoe UI" panose="020B0502040204020203" pitchFamily="34" charset="0"/>
              </a:rPr>
              <a:t>AI-powered step</a:t>
            </a:r>
            <a:r>
              <a:rPr lang="en-US" sz="2000" spc="0">
                <a:solidFill>
                  <a:schemeClr val="tx1"/>
                </a:solidFill>
                <a:latin typeface="Segoe UI" panose="020B0502040204020203" pitchFamily="34" charset="0"/>
              </a:rPr>
              <a:t> to this workflow, we provide more adaptability</a:t>
            </a:r>
            <a:br>
              <a:rPr lang="en-US" sz="2000" spc="0">
                <a:solidFill>
                  <a:schemeClr val="tx1"/>
                </a:solidFill>
                <a:latin typeface="Segoe UI" panose="020B0502040204020203" pitchFamily="34" charset="0"/>
              </a:rPr>
            </a:br>
            <a:r>
              <a:rPr lang="en-US" sz="2000" spc="0">
                <a:solidFill>
                  <a:schemeClr val="tx1"/>
                </a:solidFill>
                <a:latin typeface="Segoe UI" panose="020B0502040204020203" pitchFamily="34" charset="0"/>
              </a:rPr>
              <a:t>to the process</a:t>
            </a:r>
          </a:p>
        </p:txBody>
      </p:sp>
      <p:sp>
        <p:nvSpPr>
          <p:cNvPr id="8" name="Title 6">
            <a:extLst>
              <a:ext uri="{FF2B5EF4-FFF2-40B4-BE49-F238E27FC236}">
                <a16:creationId xmlns:a16="http://schemas.microsoft.com/office/drawing/2014/main" id="{1FBE3538-3019-2189-472E-6AE606FD4A9F}"/>
              </a:ext>
            </a:extLst>
          </p:cNvPr>
          <p:cNvSpPr txBox="1">
            <a:spLocks/>
          </p:cNvSpPr>
          <p:nvPr/>
        </p:nvSpPr>
        <p:spPr>
          <a:xfrm>
            <a:off x="702270" y="4877695"/>
            <a:ext cx="4614890" cy="492443"/>
          </a:xfrm>
          <a:prstGeom prst="rect">
            <a:avLst/>
          </a:prstGeom>
          <a:noFill/>
          <a:ln w="9525"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lvl="0" defTabSz="1371600" fontAlgn="auto">
              <a:spcBef>
                <a:spcPts val="0"/>
              </a:spcBef>
              <a:spcAft>
                <a:spcPts val="0"/>
              </a:spcAft>
              <a:tabLst>
                <a:tab pos="1371600" algn="l"/>
              </a:tabLst>
              <a:defRPr/>
            </a:pPr>
            <a:r>
              <a:rPr lang="en-US" sz="1600" i="1" spc="0">
                <a:solidFill>
                  <a:schemeClr val="tx1"/>
                </a:solidFill>
                <a:latin typeface="Segoe UI" panose="020B0502040204020203" pitchFamily="34" charset="0"/>
                <a:sym typeface="Wingdings" panose="05000000000000000000" pitchFamily="2" charset="2"/>
              </a:rPr>
              <a:t>AI model uses natural language understanding to </a:t>
            </a:r>
            <a:r>
              <a:rPr lang="en-US" sz="1600" b="1" i="1" spc="0">
                <a:solidFill>
                  <a:schemeClr val="tx1"/>
                </a:solidFill>
                <a:latin typeface="Segoe UI" panose="020B0502040204020203" pitchFamily="34" charset="0"/>
                <a:sym typeface="Wingdings" panose="05000000000000000000" pitchFamily="2" charset="2"/>
              </a:rPr>
              <a:t>capture intent</a:t>
            </a:r>
            <a:r>
              <a:rPr lang="en-US" sz="1600" i="1" spc="0">
                <a:solidFill>
                  <a:schemeClr val="tx1"/>
                </a:solidFill>
                <a:latin typeface="Segoe UI" panose="020B0502040204020203" pitchFamily="34" charset="0"/>
                <a:sym typeface="Wingdings" panose="05000000000000000000" pitchFamily="2" charset="2"/>
              </a:rPr>
              <a:t>, rather than relying on keywords</a:t>
            </a:r>
          </a:p>
        </p:txBody>
      </p:sp>
      <p:pic>
        <p:nvPicPr>
          <p:cNvPr id="3" name="Picture 2">
            <a:extLst>
              <a:ext uri="{FF2B5EF4-FFF2-40B4-BE49-F238E27FC236}">
                <a16:creationId xmlns:a16="http://schemas.microsoft.com/office/drawing/2014/main" id="{B7AB5E0B-70B2-80C6-3288-DB6E813E00CD}"/>
              </a:ext>
            </a:extLst>
          </p:cNvPr>
          <p:cNvPicPr>
            <a:picLocks noChangeAspect="1"/>
          </p:cNvPicPr>
          <p:nvPr/>
        </p:nvPicPr>
        <p:blipFill>
          <a:blip r:embed="rId2"/>
          <a:srcRect l="4895" r="4992"/>
          <a:stretch>
            <a:fillRect/>
          </a:stretch>
        </p:blipFill>
        <p:spPr>
          <a:xfrm>
            <a:off x="6351181" y="2001683"/>
            <a:ext cx="5394252" cy="4770861"/>
          </a:xfrm>
          <a:prstGeom prst="roundRect">
            <a:avLst>
              <a:gd name="adj" fmla="val 6490"/>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 name="Title 6">
            <a:extLst>
              <a:ext uri="{FF2B5EF4-FFF2-40B4-BE49-F238E27FC236}">
                <a16:creationId xmlns:a16="http://schemas.microsoft.com/office/drawing/2014/main" id="{7C48150E-B391-DF51-0FBD-40E77263E474}"/>
              </a:ext>
            </a:extLst>
          </p:cNvPr>
          <p:cNvSpPr txBox="1">
            <a:spLocks/>
          </p:cNvSpPr>
          <p:nvPr/>
        </p:nvSpPr>
        <p:spPr>
          <a:xfrm>
            <a:off x="5862084" y="1614526"/>
            <a:ext cx="6236486" cy="276999"/>
          </a:xfrm>
          <a:prstGeom prst="rect">
            <a:avLst/>
          </a:prstGeom>
          <a:noFill/>
          <a:ln w="9525"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lvl="0" defTabSz="1371600" fontAlgn="auto">
              <a:spcBef>
                <a:spcPts val="0"/>
              </a:spcBef>
              <a:spcAft>
                <a:spcPts val="0"/>
              </a:spcAft>
              <a:tabLst>
                <a:tab pos="1371600" algn="l"/>
              </a:tabLst>
              <a:defRPr/>
            </a:pPr>
            <a:r>
              <a:rPr lang="en-US" sz="1800" b="1" spc="0">
                <a:solidFill>
                  <a:schemeClr val="tx1"/>
                </a:solidFill>
                <a:latin typeface="Segoe Sans Display Semibold"/>
                <a:cs typeface="Segoe UI"/>
              </a:rPr>
              <a:t>Updated: Customer service email routing automation</a:t>
            </a:r>
          </a:p>
        </p:txBody>
      </p:sp>
      <p:pic>
        <p:nvPicPr>
          <p:cNvPr id="21" name="Picture 20">
            <a:extLst>
              <a:ext uri="{FF2B5EF4-FFF2-40B4-BE49-F238E27FC236}">
                <a16:creationId xmlns:a16="http://schemas.microsoft.com/office/drawing/2014/main" id="{48BF97C3-C510-82FD-9EA0-86DF2EA0CB23}"/>
              </a:ext>
            </a:extLst>
          </p:cNvPr>
          <p:cNvPicPr>
            <a:picLocks noChangeAspect="1"/>
          </p:cNvPicPr>
          <p:nvPr/>
        </p:nvPicPr>
        <p:blipFill>
          <a:blip r:embed="rId3"/>
          <a:stretch>
            <a:fillRect/>
          </a:stretch>
        </p:blipFill>
        <p:spPr>
          <a:xfrm>
            <a:off x="394032" y="2920384"/>
            <a:ext cx="5639990" cy="1850155"/>
          </a:xfrm>
          <a:prstGeom prst="roundRect">
            <a:avLst>
              <a:gd name="adj" fmla="val 8794"/>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cxnSp>
        <p:nvCxnSpPr>
          <p:cNvPr id="16" name="Straight Arrow Connector 15">
            <a:extLst>
              <a:ext uri="{FF2B5EF4-FFF2-40B4-BE49-F238E27FC236}">
                <a16:creationId xmlns:a16="http://schemas.microsoft.com/office/drawing/2014/main" id="{9270BDA2-4DD4-30C8-853D-5BAE645CD8A4}"/>
              </a:ext>
            </a:extLst>
          </p:cNvPr>
          <p:cNvCxnSpPr>
            <a:cxnSpLocks/>
          </p:cNvCxnSpPr>
          <p:nvPr/>
        </p:nvCxnSpPr>
        <p:spPr>
          <a:xfrm flipH="1">
            <a:off x="5720316" y="4387113"/>
            <a:ext cx="2573079" cy="0"/>
          </a:xfrm>
          <a:prstGeom prst="straightConnector1">
            <a:avLst/>
          </a:prstGeom>
          <a:ln w="57150">
            <a:solidFill>
              <a:srgbClr val="65BEFF"/>
            </a:solidFill>
            <a:tailEnd type="triangle"/>
          </a:ln>
        </p:spPr>
        <p:style>
          <a:lnRef idx="1">
            <a:schemeClr val="accent1"/>
          </a:lnRef>
          <a:fillRef idx="0">
            <a:schemeClr val="accent1"/>
          </a:fillRef>
          <a:effectRef idx="0">
            <a:schemeClr val="accent1"/>
          </a:effectRef>
          <a:fontRef idx="minor">
            <a:schemeClr val="tx1"/>
          </a:fontRef>
        </p:style>
      </p:cxnSp>
      <p:sp>
        <p:nvSpPr>
          <p:cNvPr id="2" name="Title 6">
            <a:extLst>
              <a:ext uri="{FF2B5EF4-FFF2-40B4-BE49-F238E27FC236}">
                <a16:creationId xmlns:a16="http://schemas.microsoft.com/office/drawing/2014/main" id="{A140280D-0999-7223-8745-C2EE35894E53}"/>
              </a:ext>
            </a:extLst>
          </p:cNvPr>
          <p:cNvSpPr txBox="1">
            <a:spLocks/>
          </p:cNvSpPr>
          <p:nvPr/>
        </p:nvSpPr>
        <p:spPr>
          <a:xfrm>
            <a:off x="-293785" y="6098768"/>
            <a:ext cx="7015623" cy="276999"/>
          </a:xfrm>
          <a:prstGeom prst="rect">
            <a:avLst/>
          </a:prstGeom>
          <a:noFill/>
          <a:ln w="9525"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901014" rtl="0" eaLnBrk="1" fontAlgn="base" latinLnBrk="0" hangingPunct="1">
              <a:lnSpc>
                <a:spcPct val="100000"/>
              </a:lnSpc>
              <a:spcBef>
                <a:spcPct val="0"/>
              </a:spcBef>
              <a:spcAft>
                <a:spcPct val="0"/>
              </a:spcAft>
              <a:buNone/>
              <a:defRPr lang="en-US" sz="8800" b="0" kern="1200" cap="none" spc="-50" baseline="0">
                <a:ln w="3175">
                  <a:noFill/>
                </a:ln>
                <a:gradFill>
                  <a:gsLst>
                    <a:gs pos="4321">
                      <a:srgbClr val="000000"/>
                    </a:gs>
                    <a:gs pos="21000">
                      <a:srgbClr val="000000"/>
                    </a:gs>
                  </a:gsLst>
                  <a:path path="circle">
                    <a:fillToRect l="100000" t="100000"/>
                  </a:path>
                </a:gradFill>
                <a:effectLst/>
                <a:latin typeface="+mj-lt"/>
                <a:ea typeface="+mn-ea"/>
                <a:cs typeface="Segoe UI"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lvl="0" defTabSz="1371600" fontAlgn="auto">
              <a:spcBef>
                <a:spcPts val="0"/>
              </a:spcBef>
              <a:spcAft>
                <a:spcPts val="0"/>
              </a:spcAft>
              <a:tabLst>
                <a:tab pos="1371600" algn="l"/>
              </a:tabLst>
              <a:defRPr/>
            </a:pPr>
            <a:r>
              <a:rPr lang="en-US" sz="1800" b="1" spc="0">
                <a:solidFill>
                  <a:srgbClr val="FFFFFF"/>
                </a:solidFill>
                <a:latin typeface="Segoe UI" panose="020B0502040204020203" pitchFamily="34" charset="0"/>
              </a:rPr>
              <a:t>Outcome: </a:t>
            </a:r>
            <a:r>
              <a:rPr lang="en-US" sz="1800" spc="0">
                <a:solidFill>
                  <a:srgbClr val="FFFFFF"/>
                </a:solidFill>
                <a:latin typeface="Segoe UI" panose="020B0502040204020203" pitchFamily="34" charset="0"/>
              </a:rPr>
              <a:t>more flexibility, higher success of proper routing</a:t>
            </a:r>
          </a:p>
        </p:txBody>
      </p:sp>
    </p:spTree>
    <p:extLst>
      <p:ext uri="{BB962C8B-B14F-4D97-AF65-F5344CB8AC3E}">
        <p14:creationId xmlns:p14="http://schemas.microsoft.com/office/powerpoint/2010/main" val="42946441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
                                        <p:tgtEl>
                                          <p:spTgt spid="11"/>
                                        </p:tgtEl>
                                      </p:cBhvr>
                                    </p:animEffect>
                                  </p:childTnLst>
                                </p:cTn>
                              </p:par>
                              <p:par>
                                <p:cTn id="8" presetID="10" presetClass="entr" presetSubtype="0" repeatCount="0" fill="hold" grpId="0" nodeType="withEffect">
                                  <p:stCondLst>
                                    <p:cond delay="10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00"/>
                                        <p:tgtEl>
                                          <p:spTgt spid="12"/>
                                        </p:tgtEl>
                                      </p:cBhvr>
                                    </p:animEffect>
                                  </p:childTnLst>
                                </p:cTn>
                              </p:par>
                              <p:par>
                                <p:cTn id="11" presetID="10" presetClass="entr" presetSubtype="0" repeatCount="0" fill="hold" grpId="0" nodeType="withEffect">
                                  <p:stCondLst>
                                    <p:cond delay="1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200"/>
                                        <p:tgtEl>
                                          <p:spTgt spid="8"/>
                                        </p:tgtEl>
                                      </p:cBhvr>
                                    </p:animEffect>
                                  </p:childTnLst>
                                </p:cTn>
                              </p:par>
                              <p:par>
                                <p:cTn id="14" presetID="10" presetClass="entr" presetSubtype="0" repeatCount="0" fill="hold" grpId="0" nodeType="withEffect">
                                  <p:stCondLst>
                                    <p:cond delay="10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200"/>
                                        <p:tgtEl>
                                          <p:spTgt spid="4"/>
                                        </p:tgtEl>
                                      </p:cBhvr>
                                    </p:animEffect>
                                  </p:childTnLst>
                                </p:cTn>
                              </p:par>
                              <p:par>
                                <p:cTn id="17" presetID="10" presetClass="entr" presetSubtype="0" repeatCount="0" fill="hold" grpId="0" nodeType="withEffect">
                                  <p:stCondLst>
                                    <p:cond delay="10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2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8" grpId="0"/>
      <p:bldP spid="4" grpId="0"/>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509A455-B64A-6F69-DF1B-F0A5CC00B2B7}"/>
              </a:ext>
              <a:ext uri="{C183D7F6-B498-43B3-948B-1728B52AA6E4}">
                <adec:decorative xmlns:adec="http://schemas.microsoft.com/office/drawing/2017/decorative" val="1"/>
              </a:ext>
            </a:extLst>
          </p:cNvPr>
          <p:cNvSpPr/>
          <p:nvPr/>
        </p:nvSpPr>
        <p:spPr bwMode="auto">
          <a:xfrm>
            <a:off x="0" y="5686675"/>
            <a:ext cx="12192000" cy="1171323"/>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9" name="Rectangle: Top Corners Rounded 18">
            <a:extLst>
              <a:ext uri="{FF2B5EF4-FFF2-40B4-BE49-F238E27FC236}">
                <a16:creationId xmlns:a16="http://schemas.microsoft.com/office/drawing/2014/main" id="{C313C216-85C2-9B86-9EDE-9D3CBDC8FBAA}"/>
              </a:ext>
              <a:ext uri="{C183D7F6-B498-43B3-948B-1728B52AA6E4}">
                <adec:decorative xmlns:adec="http://schemas.microsoft.com/office/drawing/2017/decorative" val="1"/>
              </a:ext>
            </a:extLst>
          </p:cNvPr>
          <p:cNvSpPr/>
          <p:nvPr/>
        </p:nvSpPr>
        <p:spPr bwMode="auto">
          <a:xfrm rot="10800000">
            <a:off x="2185690" y="5130006"/>
            <a:ext cx="2194772" cy="782490"/>
          </a:xfrm>
          <a:prstGeom prst="round2SameRect">
            <a:avLst>
              <a:gd name="adj1" fmla="val 27937"/>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21" name="Rectangle: Top Corners Rounded 20">
            <a:extLst>
              <a:ext uri="{FF2B5EF4-FFF2-40B4-BE49-F238E27FC236}">
                <a16:creationId xmlns:a16="http://schemas.microsoft.com/office/drawing/2014/main" id="{0F587182-F1DD-119A-1D66-06747B1C6DD3}"/>
              </a:ext>
              <a:ext uri="{C183D7F6-B498-43B3-948B-1728B52AA6E4}">
                <adec:decorative xmlns:adec="http://schemas.microsoft.com/office/drawing/2017/decorative" val="1"/>
              </a:ext>
            </a:extLst>
          </p:cNvPr>
          <p:cNvSpPr/>
          <p:nvPr/>
        </p:nvSpPr>
        <p:spPr bwMode="auto">
          <a:xfrm rot="10800000">
            <a:off x="6608960" y="5125675"/>
            <a:ext cx="2194772" cy="782490"/>
          </a:xfrm>
          <a:prstGeom prst="round2SameRect">
            <a:avLst>
              <a:gd name="adj1" fmla="val 17863"/>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18" name="Rectangle: Top Corners Rounded 17">
            <a:extLst>
              <a:ext uri="{FF2B5EF4-FFF2-40B4-BE49-F238E27FC236}">
                <a16:creationId xmlns:a16="http://schemas.microsoft.com/office/drawing/2014/main" id="{0D2D91E3-E6C0-09E4-B69B-2844BAE114EF}"/>
              </a:ext>
              <a:ext uri="{C183D7F6-B498-43B3-948B-1728B52AA6E4}">
                <adec:decorative xmlns:adec="http://schemas.microsoft.com/office/drawing/2017/decorative" val="1"/>
              </a:ext>
            </a:extLst>
          </p:cNvPr>
          <p:cNvSpPr/>
          <p:nvPr/>
        </p:nvSpPr>
        <p:spPr bwMode="auto">
          <a:xfrm>
            <a:off x="4398107" y="1531925"/>
            <a:ext cx="2194772" cy="4752243"/>
          </a:xfrm>
          <a:prstGeom prst="round2SameRect">
            <a:avLst>
              <a:gd name="adj1" fmla="val 4767"/>
              <a:gd name="adj2" fmla="val 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17" name="Rectangle: Top Corners Rounded 16">
            <a:extLst>
              <a:ext uri="{FF2B5EF4-FFF2-40B4-BE49-F238E27FC236}">
                <a16:creationId xmlns:a16="http://schemas.microsoft.com/office/drawing/2014/main" id="{1DCFB5B1-71A6-9863-BC71-7F91B087FC27}"/>
              </a:ext>
              <a:ext uri="{C183D7F6-B498-43B3-948B-1728B52AA6E4}">
                <adec:decorative xmlns:adec="http://schemas.microsoft.com/office/drawing/2017/decorative" val="1"/>
              </a:ext>
            </a:extLst>
          </p:cNvPr>
          <p:cNvSpPr/>
          <p:nvPr/>
        </p:nvSpPr>
        <p:spPr bwMode="auto">
          <a:xfrm rot="16200000">
            <a:off x="7841083" y="2499769"/>
            <a:ext cx="5318760" cy="3383073"/>
          </a:xfrm>
          <a:prstGeom prst="round2SameRect">
            <a:avLst>
              <a:gd name="adj1" fmla="val 4767"/>
              <a:gd name="adj2" fmla="val 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15" name="Rectangle: Top Corners Rounded 14">
            <a:extLst>
              <a:ext uri="{FF2B5EF4-FFF2-40B4-BE49-F238E27FC236}">
                <a16:creationId xmlns:a16="http://schemas.microsoft.com/office/drawing/2014/main" id="{4B3393B9-9B77-ED2A-6D83-A83C63755F4C}"/>
              </a:ext>
              <a:ext uri="{C183D7F6-B498-43B3-948B-1728B52AA6E4}">
                <adec:decorative xmlns:adec="http://schemas.microsoft.com/office/drawing/2017/decorative" val="1"/>
              </a:ext>
            </a:extLst>
          </p:cNvPr>
          <p:cNvSpPr/>
          <p:nvPr/>
        </p:nvSpPr>
        <p:spPr bwMode="auto">
          <a:xfrm rot="5400000">
            <a:off x="-1577167" y="3116408"/>
            <a:ext cx="5318760" cy="2164426"/>
          </a:xfrm>
          <a:prstGeom prst="round2SameRect">
            <a:avLst>
              <a:gd name="adj1" fmla="val 5131"/>
              <a:gd name="adj2" fmla="val 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252" name="Arrow: Bent 251">
            <a:extLst>
              <a:ext uri="{FF2B5EF4-FFF2-40B4-BE49-F238E27FC236}">
                <a16:creationId xmlns:a16="http://schemas.microsoft.com/office/drawing/2014/main" id="{ED69CEBA-B836-4A65-AEE5-79316AFE487B}"/>
              </a:ext>
              <a:ext uri="{C183D7F6-B498-43B3-948B-1728B52AA6E4}">
                <adec:decorative xmlns:adec="http://schemas.microsoft.com/office/drawing/2017/decorative" val="1"/>
              </a:ext>
            </a:extLst>
          </p:cNvPr>
          <p:cNvSpPr/>
          <p:nvPr/>
        </p:nvSpPr>
        <p:spPr bwMode="auto">
          <a:xfrm rot="16200000">
            <a:off x="5666413" y="3015287"/>
            <a:ext cx="3805573" cy="1949451"/>
          </a:xfrm>
          <a:prstGeom prst="bentArrow">
            <a:avLst>
              <a:gd name="adj1" fmla="val 25000"/>
              <a:gd name="adj2" fmla="val 0"/>
              <a:gd name="adj3" fmla="val 25000"/>
              <a:gd name="adj4" fmla="val 6266"/>
            </a:avLst>
          </a:prstGeom>
          <a:solidFill>
            <a:schemeClr val="accent1"/>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211" name="Arrow: U-Turn 210">
            <a:extLst>
              <a:ext uri="{FF2B5EF4-FFF2-40B4-BE49-F238E27FC236}">
                <a16:creationId xmlns:a16="http://schemas.microsoft.com/office/drawing/2014/main" id="{E0E12491-E34D-43EB-8066-BD3FA00732E9}"/>
              </a:ext>
              <a:ext uri="{C183D7F6-B498-43B3-948B-1728B52AA6E4}">
                <adec:decorative xmlns:adec="http://schemas.microsoft.com/office/drawing/2017/decorative" val="1"/>
              </a:ext>
            </a:extLst>
          </p:cNvPr>
          <p:cNvSpPr/>
          <p:nvPr/>
        </p:nvSpPr>
        <p:spPr bwMode="auto">
          <a:xfrm>
            <a:off x="4389436" y="1539240"/>
            <a:ext cx="2205038" cy="3765703"/>
          </a:xfrm>
          <a:prstGeom prst="uturnArrow">
            <a:avLst>
              <a:gd name="adj1" fmla="val 25000"/>
              <a:gd name="adj2" fmla="val 0"/>
              <a:gd name="adj3" fmla="val 114826"/>
              <a:gd name="adj4" fmla="val 6777"/>
              <a:gd name="adj5" fmla="val 75000"/>
            </a:avLst>
          </a:prstGeom>
          <a:solidFill>
            <a:schemeClr val="accent1"/>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263" name="Arrow: Bent 262">
            <a:extLst>
              <a:ext uri="{FF2B5EF4-FFF2-40B4-BE49-F238E27FC236}">
                <a16:creationId xmlns:a16="http://schemas.microsoft.com/office/drawing/2014/main" id="{CA6EE4FD-2A0D-419E-A73B-AC83FADF6084}"/>
              </a:ext>
              <a:ext uri="{C183D7F6-B498-43B3-948B-1728B52AA6E4}">
                <adec:decorative xmlns:adec="http://schemas.microsoft.com/office/drawing/2017/decorative" val="1"/>
              </a:ext>
            </a:extLst>
          </p:cNvPr>
          <p:cNvSpPr/>
          <p:nvPr/>
        </p:nvSpPr>
        <p:spPr bwMode="auto">
          <a:xfrm rot="5400000" flipV="1">
            <a:off x="9998817" y="338960"/>
            <a:ext cx="2312161" cy="4712718"/>
          </a:xfrm>
          <a:custGeom>
            <a:avLst/>
            <a:gdLst>
              <a:gd name="connsiteX0" fmla="*/ 0 w 2336744"/>
              <a:gd name="connsiteY0" fmla="*/ 585215 h 585215"/>
              <a:gd name="connsiteX1" fmla="*/ 0 w 2336744"/>
              <a:gd name="connsiteY1" fmla="*/ 115410 h 585215"/>
              <a:gd name="connsiteX2" fmla="*/ 115410 w 2336744"/>
              <a:gd name="connsiteY2" fmla="*/ 0 h 585215"/>
              <a:gd name="connsiteX3" fmla="*/ 2190440 w 2336744"/>
              <a:gd name="connsiteY3" fmla="*/ 0 h 585215"/>
              <a:gd name="connsiteX4" fmla="*/ 2190440 w 2336744"/>
              <a:gd name="connsiteY4" fmla="*/ 0 h 585215"/>
              <a:gd name="connsiteX5" fmla="*/ 2336744 w 2336744"/>
              <a:gd name="connsiteY5" fmla="*/ 0 h 585215"/>
              <a:gd name="connsiteX6" fmla="*/ 2190440 w 2336744"/>
              <a:gd name="connsiteY6" fmla="*/ 0 h 585215"/>
              <a:gd name="connsiteX7" fmla="*/ 2190440 w 2336744"/>
              <a:gd name="connsiteY7" fmla="*/ 0 h 585215"/>
              <a:gd name="connsiteX8" fmla="*/ 115410 w 2336744"/>
              <a:gd name="connsiteY8" fmla="*/ 0 h 585215"/>
              <a:gd name="connsiteX9" fmla="*/ 0 w 2336744"/>
              <a:gd name="connsiteY9" fmla="*/ 115410 h 585215"/>
              <a:gd name="connsiteX10" fmla="*/ 0 w 2336744"/>
              <a:gd name="connsiteY10" fmla="*/ 585215 h 585215"/>
              <a:gd name="connsiteX0" fmla="*/ 0 w 2336744"/>
              <a:gd name="connsiteY0" fmla="*/ 4712718 h 4712718"/>
              <a:gd name="connsiteX1" fmla="*/ 0 w 2336744"/>
              <a:gd name="connsiteY1" fmla="*/ 115410 h 4712718"/>
              <a:gd name="connsiteX2" fmla="*/ 115410 w 2336744"/>
              <a:gd name="connsiteY2" fmla="*/ 0 h 4712718"/>
              <a:gd name="connsiteX3" fmla="*/ 2190440 w 2336744"/>
              <a:gd name="connsiteY3" fmla="*/ 0 h 4712718"/>
              <a:gd name="connsiteX4" fmla="*/ 2190440 w 2336744"/>
              <a:gd name="connsiteY4" fmla="*/ 0 h 4712718"/>
              <a:gd name="connsiteX5" fmla="*/ 2336744 w 2336744"/>
              <a:gd name="connsiteY5" fmla="*/ 0 h 4712718"/>
              <a:gd name="connsiteX6" fmla="*/ 2190440 w 2336744"/>
              <a:gd name="connsiteY6" fmla="*/ 0 h 4712718"/>
              <a:gd name="connsiteX7" fmla="*/ 2190440 w 2336744"/>
              <a:gd name="connsiteY7" fmla="*/ 0 h 4712718"/>
              <a:gd name="connsiteX8" fmla="*/ 115410 w 2336744"/>
              <a:gd name="connsiteY8" fmla="*/ 0 h 4712718"/>
              <a:gd name="connsiteX9" fmla="*/ 0 w 2336744"/>
              <a:gd name="connsiteY9" fmla="*/ 115410 h 4712718"/>
              <a:gd name="connsiteX10" fmla="*/ 0 w 2336744"/>
              <a:gd name="connsiteY10" fmla="*/ 4712718 h 471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36744" h="4712718">
                <a:moveTo>
                  <a:pt x="0" y="4712718"/>
                </a:moveTo>
                <a:lnTo>
                  <a:pt x="0" y="115410"/>
                </a:lnTo>
                <a:cubicBezTo>
                  <a:pt x="0" y="51671"/>
                  <a:pt x="51671" y="0"/>
                  <a:pt x="115410" y="0"/>
                </a:cubicBezTo>
                <a:lnTo>
                  <a:pt x="2190440" y="0"/>
                </a:lnTo>
                <a:lnTo>
                  <a:pt x="2190440" y="0"/>
                </a:lnTo>
                <a:lnTo>
                  <a:pt x="2336744" y="0"/>
                </a:lnTo>
                <a:lnTo>
                  <a:pt x="2190440" y="0"/>
                </a:lnTo>
                <a:lnTo>
                  <a:pt x="2190440" y="0"/>
                </a:lnTo>
                <a:lnTo>
                  <a:pt x="115410" y="0"/>
                </a:lnTo>
                <a:cubicBezTo>
                  <a:pt x="51671" y="0"/>
                  <a:pt x="0" y="51671"/>
                  <a:pt x="0" y="115410"/>
                </a:cubicBezTo>
                <a:lnTo>
                  <a:pt x="0" y="4712718"/>
                </a:lnTo>
                <a:close/>
              </a:path>
            </a:pathLst>
          </a:custGeom>
          <a:solidFill>
            <a:schemeClr val="accent1"/>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253" name="Arrow: Bent 252">
            <a:extLst>
              <a:ext uri="{FF2B5EF4-FFF2-40B4-BE49-F238E27FC236}">
                <a16:creationId xmlns:a16="http://schemas.microsoft.com/office/drawing/2014/main" id="{6C8F9E19-C3ED-4D48-BE2B-3B4D68EA98E5}"/>
              </a:ext>
              <a:ext uri="{C183D7F6-B498-43B3-948B-1728B52AA6E4}">
                <adec:decorative xmlns:adec="http://schemas.microsoft.com/office/drawing/2017/decorative" val="1"/>
              </a:ext>
            </a:extLst>
          </p:cNvPr>
          <p:cNvSpPr/>
          <p:nvPr/>
        </p:nvSpPr>
        <p:spPr bwMode="auto">
          <a:xfrm rot="16200000" flipV="1">
            <a:off x="5922000" y="3015287"/>
            <a:ext cx="3805573" cy="1949451"/>
          </a:xfrm>
          <a:prstGeom prst="bentArrow">
            <a:avLst>
              <a:gd name="adj1" fmla="val 25000"/>
              <a:gd name="adj2" fmla="val 0"/>
              <a:gd name="adj3" fmla="val 25000"/>
              <a:gd name="adj4" fmla="val 6265"/>
            </a:avLst>
          </a:prstGeom>
          <a:solidFill>
            <a:schemeClr val="accent1"/>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37" name="Arrow: U-Turn 136">
            <a:extLst>
              <a:ext uri="{FF2B5EF4-FFF2-40B4-BE49-F238E27FC236}">
                <a16:creationId xmlns:a16="http://schemas.microsoft.com/office/drawing/2014/main" id="{C84AEEE7-5663-4F01-A242-F2D0D72FA6C3}"/>
              </a:ext>
              <a:ext uri="{C183D7F6-B498-43B3-948B-1728B52AA6E4}">
                <adec:decorative xmlns:adec="http://schemas.microsoft.com/office/drawing/2017/decorative" val="1"/>
              </a:ext>
            </a:extLst>
          </p:cNvPr>
          <p:cNvSpPr/>
          <p:nvPr/>
        </p:nvSpPr>
        <p:spPr bwMode="auto">
          <a:xfrm rot="10800000">
            <a:off x="2184398" y="2127097"/>
            <a:ext cx="2205038" cy="3765703"/>
          </a:xfrm>
          <a:prstGeom prst="uturnArrow">
            <a:avLst>
              <a:gd name="adj1" fmla="val 25000"/>
              <a:gd name="adj2" fmla="val 0"/>
              <a:gd name="adj3" fmla="val 114826"/>
              <a:gd name="adj4" fmla="val 6720"/>
              <a:gd name="adj5" fmla="val 75000"/>
            </a:avLst>
          </a:prstGeom>
          <a:solidFill>
            <a:schemeClr val="accent1"/>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29" name="Arrow: Bent 128">
            <a:extLst>
              <a:ext uri="{FF2B5EF4-FFF2-40B4-BE49-F238E27FC236}">
                <a16:creationId xmlns:a16="http://schemas.microsoft.com/office/drawing/2014/main" id="{FDBE072D-03C1-404E-81C6-EBB48ACBDE30}"/>
              </a:ext>
              <a:ext uri="{C183D7F6-B498-43B3-948B-1728B52AA6E4}">
                <adec:decorative xmlns:adec="http://schemas.microsoft.com/office/drawing/2017/decorative" val="1"/>
              </a:ext>
            </a:extLst>
          </p:cNvPr>
          <p:cNvSpPr/>
          <p:nvPr/>
        </p:nvSpPr>
        <p:spPr bwMode="auto">
          <a:xfrm rot="5400000">
            <a:off x="-831701" y="2328711"/>
            <a:ext cx="3805573" cy="2226629"/>
          </a:xfrm>
          <a:custGeom>
            <a:avLst/>
            <a:gdLst>
              <a:gd name="connsiteX0" fmla="*/ 0 w 3805573"/>
              <a:gd name="connsiteY0" fmla="*/ 584200 h 584200"/>
              <a:gd name="connsiteX1" fmla="*/ 0 w 3805573"/>
              <a:gd name="connsiteY1" fmla="*/ 160340 h 584200"/>
              <a:gd name="connsiteX2" fmla="*/ 160340 w 3805573"/>
              <a:gd name="connsiteY2" fmla="*/ 0 h 584200"/>
              <a:gd name="connsiteX3" fmla="*/ 3659523 w 3805573"/>
              <a:gd name="connsiteY3" fmla="*/ 0 h 584200"/>
              <a:gd name="connsiteX4" fmla="*/ 3659523 w 3805573"/>
              <a:gd name="connsiteY4" fmla="*/ 0 h 584200"/>
              <a:gd name="connsiteX5" fmla="*/ 3805573 w 3805573"/>
              <a:gd name="connsiteY5" fmla="*/ 0 h 584200"/>
              <a:gd name="connsiteX6" fmla="*/ 3659523 w 3805573"/>
              <a:gd name="connsiteY6" fmla="*/ 0 h 584200"/>
              <a:gd name="connsiteX7" fmla="*/ 3659523 w 3805573"/>
              <a:gd name="connsiteY7" fmla="*/ 0 h 584200"/>
              <a:gd name="connsiteX8" fmla="*/ 160340 w 3805573"/>
              <a:gd name="connsiteY8" fmla="*/ 0 h 584200"/>
              <a:gd name="connsiteX9" fmla="*/ 0 w 3805573"/>
              <a:gd name="connsiteY9" fmla="*/ 160340 h 584200"/>
              <a:gd name="connsiteX10" fmla="*/ 0 w 3805573"/>
              <a:gd name="connsiteY10" fmla="*/ 584200 h 584200"/>
              <a:gd name="connsiteX0" fmla="*/ 11648 w 3805573"/>
              <a:gd name="connsiteY0" fmla="*/ 2226629 h 2226629"/>
              <a:gd name="connsiteX1" fmla="*/ 0 w 3805573"/>
              <a:gd name="connsiteY1" fmla="*/ 160340 h 2226629"/>
              <a:gd name="connsiteX2" fmla="*/ 160340 w 3805573"/>
              <a:gd name="connsiteY2" fmla="*/ 0 h 2226629"/>
              <a:gd name="connsiteX3" fmla="*/ 3659523 w 3805573"/>
              <a:gd name="connsiteY3" fmla="*/ 0 h 2226629"/>
              <a:gd name="connsiteX4" fmla="*/ 3659523 w 3805573"/>
              <a:gd name="connsiteY4" fmla="*/ 0 h 2226629"/>
              <a:gd name="connsiteX5" fmla="*/ 3805573 w 3805573"/>
              <a:gd name="connsiteY5" fmla="*/ 0 h 2226629"/>
              <a:gd name="connsiteX6" fmla="*/ 3659523 w 3805573"/>
              <a:gd name="connsiteY6" fmla="*/ 0 h 2226629"/>
              <a:gd name="connsiteX7" fmla="*/ 3659523 w 3805573"/>
              <a:gd name="connsiteY7" fmla="*/ 0 h 2226629"/>
              <a:gd name="connsiteX8" fmla="*/ 160340 w 3805573"/>
              <a:gd name="connsiteY8" fmla="*/ 0 h 2226629"/>
              <a:gd name="connsiteX9" fmla="*/ 0 w 3805573"/>
              <a:gd name="connsiteY9" fmla="*/ 160340 h 2226629"/>
              <a:gd name="connsiteX10" fmla="*/ 11648 w 3805573"/>
              <a:gd name="connsiteY10" fmla="*/ 2226629 h 222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05573" h="2226629">
                <a:moveTo>
                  <a:pt x="11648" y="2226629"/>
                </a:moveTo>
                <a:cubicBezTo>
                  <a:pt x="11648" y="2085342"/>
                  <a:pt x="0" y="301627"/>
                  <a:pt x="0" y="160340"/>
                </a:cubicBezTo>
                <a:cubicBezTo>
                  <a:pt x="0" y="71787"/>
                  <a:pt x="71787" y="0"/>
                  <a:pt x="160340" y="0"/>
                </a:cubicBezTo>
                <a:lnTo>
                  <a:pt x="3659523" y="0"/>
                </a:lnTo>
                <a:lnTo>
                  <a:pt x="3659523" y="0"/>
                </a:lnTo>
                <a:lnTo>
                  <a:pt x="3805573" y="0"/>
                </a:lnTo>
                <a:lnTo>
                  <a:pt x="3659523" y="0"/>
                </a:lnTo>
                <a:lnTo>
                  <a:pt x="3659523" y="0"/>
                </a:lnTo>
                <a:lnTo>
                  <a:pt x="160340" y="0"/>
                </a:lnTo>
                <a:cubicBezTo>
                  <a:pt x="71787" y="0"/>
                  <a:pt x="0" y="71787"/>
                  <a:pt x="0" y="160340"/>
                </a:cubicBezTo>
                <a:cubicBezTo>
                  <a:pt x="3883" y="849103"/>
                  <a:pt x="7765" y="1537866"/>
                  <a:pt x="11648" y="2226629"/>
                </a:cubicBezTo>
                <a:close/>
              </a:path>
            </a:pathLst>
          </a:custGeom>
          <a:solidFill>
            <a:schemeClr val="accent1"/>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6" name="Title 5">
            <a:extLst>
              <a:ext uri="{FF2B5EF4-FFF2-40B4-BE49-F238E27FC236}">
                <a16:creationId xmlns:a16="http://schemas.microsoft.com/office/drawing/2014/main" id="{E644CF2F-7503-904F-0842-31475FD09EC1}"/>
              </a:ext>
            </a:extLst>
          </p:cNvPr>
          <p:cNvSpPr>
            <a:spLocks noGrp="1"/>
          </p:cNvSpPr>
          <p:nvPr>
            <p:ph type="title"/>
          </p:nvPr>
        </p:nvSpPr>
        <p:spPr>
          <a:xfrm>
            <a:off x="588263" y="457200"/>
            <a:ext cx="11018520" cy="553998"/>
          </a:xfrm>
        </p:spPr>
        <p:txBody>
          <a:bodyPr/>
          <a:lstStyle/>
          <a:p>
            <a:r>
              <a:rPr lang="en-US"/>
              <a:t>Intelligent document processing</a:t>
            </a:r>
          </a:p>
        </p:txBody>
      </p:sp>
      <p:sp>
        <p:nvSpPr>
          <p:cNvPr id="9" name="TextBox 8">
            <a:extLst>
              <a:ext uri="{FF2B5EF4-FFF2-40B4-BE49-F238E27FC236}">
                <a16:creationId xmlns:a16="http://schemas.microsoft.com/office/drawing/2014/main" id="{3BA0BDE4-E761-592E-B258-52C84F13B74E}"/>
              </a:ext>
            </a:extLst>
          </p:cNvPr>
          <p:cNvSpPr txBox="1"/>
          <p:nvPr/>
        </p:nvSpPr>
        <p:spPr>
          <a:xfrm>
            <a:off x="512063" y="1011198"/>
            <a:ext cx="9365034" cy="369332"/>
          </a:xfrm>
          <a:prstGeom prst="rect">
            <a:avLst/>
          </a:prstGeom>
          <a:noFill/>
        </p:spPr>
        <p:txBody>
          <a:bodyPr wrap="square">
            <a:spAutoFit/>
          </a:bodyPr>
          <a:lstStyle/>
          <a:p>
            <a:pPr>
              <a:defRPr/>
            </a:pPr>
            <a:r>
              <a:rPr lang="en-US">
                <a:latin typeface="+mj-lt"/>
                <a:cs typeface="Segoe UI Semibold" panose="020B0702040204020203" pitchFamily="34" charset="0"/>
              </a:rPr>
              <a:t>End-to-end document automation leveraging Power Platform native capabilities</a:t>
            </a:r>
          </a:p>
        </p:txBody>
      </p:sp>
      <p:sp>
        <p:nvSpPr>
          <p:cNvPr id="120" name="Rectangle 119">
            <a:extLst>
              <a:ext uri="{FF2B5EF4-FFF2-40B4-BE49-F238E27FC236}">
                <a16:creationId xmlns:a16="http://schemas.microsoft.com/office/drawing/2014/main" id="{12B601A4-0F32-4F8B-A69D-EAFBC6FE51BD}"/>
              </a:ext>
              <a:ext uri="{C183D7F6-B498-43B3-948B-1728B52AA6E4}">
                <adec:decorative xmlns:adec="http://schemas.microsoft.com/office/drawing/2017/decorative" val="1"/>
              </a:ext>
            </a:extLst>
          </p:cNvPr>
          <p:cNvSpPr/>
          <p:nvPr/>
        </p:nvSpPr>
        <p:spPr bwMode="auto">
          <a:xfrm>
            <a:off x="2184395" y="1948214"/>
            <a:ext cx="2203453" cy="317155"/>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146304" rIns="182880" bIns="146304"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a:ln>
                  <a:noFill/>
                </a:ln>
                <a:solidFill>
                  <a:srgbClr val="FFFFFF"/>
                </a:solidFill>
                <a:effectLst/>
                <a:uLnTx/>
                <a:uFillTx/>
                <a:latin typeface="Segoe UI Semibold"/>
                <a:ea typeface="+mn-ea"/>
                <a:cs typeface="+mn-cs"/>
              </a:rPr>
              <a:t>DPA</a:t>
            </a:r>
          </a:p>
        </p:txBody>
      </p:sp>
      <p:sp>
        <p:nvSpPr>
          <p:cNvPr id="121" name="Rectangle 120">
            <a:extLst>
              <a:ext uri="{FF2B5EF4-FFF2-40B4-BE49-F238E27FC236}">
                <a16:creationId xmlns:a16="http://schemas.microsoft.com/office/drawing/2014/main" id="{54210AB8-8CFF-4A9B-89DB-9816D4205096}"/>
              </a:ext>
              <a:ext uri="{C183D7F6-B498-43B3-948B-1728B52AA6E4}">
                <adec:decorative xmlns:adec="http://schemas.microsoft.com/office/drawing/2017/decorative" val="1"/>
              </a:ext>
            </a:extLst>
          </p:cNvPr>
          <p:cNvSpPr/>
          <p:nvPr/>
        </p:nvSpPr>
        <p:spPr bwMode="auto">
          <a:xfrm>
            <a:off x="2560798" y="2373247"/>
            <a:ext cx="1701639" cy="98118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Sales team receive an email in </a:t>
            </a:r>
            <a:r>
              <a:rPr kumimoji="0" lang="en-US" sz="1200" b="0" i="0" u="none" strike="noStrike" kern="1200" cap="none" spc="0" normalizeH="0" baseline="0" noProof="0">
                <a:ln>
                  <a:noFill/>
                </a:ln>
                <a:solidFill>
                  <a:srgbClr val="0078D4"/>
                </a:solidFill>
                <a:effectLst/>
                <a:uLnTx/>
                <a:uFillTx/>
                <a:latin typeface="Segoe UI Semibold"/>
                <a:ea typeface="Segoe UI" pitchFamily="34" charset="0"/>
                <a:cs typeface="Segoe UI" pitchFamily="34" charset="0"/>
              </a:rPr>
              <a:t>Outlook</a:t>
            </a:r>
            <a:r>
              <a:rPr kumimoji="0" lang="en-US" sz="12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 from a client containing a Request For Proposal with multiple documents. </a:t>
            </a:r>
          </a:p>
        </p:txBody>
      </p:sp>
      <p:sp>
        <p:nvSpPr>
          <p:cNvPr id="122" name="Oval 121">
            <a:extLst>
              <a:ext uri="{FF2B5EF4-FFF2-40B4-BE49-F238E27FC236}">
                <a16:creationId xmlns:a16="http://schemas.microsoft.com/office/drawing/2014/main" id="{A0E97FF1-DE57-409C-A693-2C9251ACCCD2}"/>
              </a:ext>
              <a:ext uri="{C183D7F6-B498-43B3-948B-1728B52AA6E4}">
                <adec:decorative xmlns:adec="http://schemas.microsoft.com/office/drawing/2017/decorative" val="1"/>
              </a:ext>
            </a:extLst>
          </p:cNvPr>
          <p:cNvSpPr/>
          <p:nvPr/>
        </p:nvSpPr>
        <p:spPr bwMode="auto">
          <a:xfrm>
            <a:off x="2033541" y="2184171"/>
            <a:ext cx="301711" cy="301711"/>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228600"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sym typeface="Wingdings" panose="05000000000000000000" pitchFamily="2" charset="2"/>
              </a:rPr>
              <a:t></a:t>
            </a:r>
            <a:endParaRPr kumimoji="0" lang="en-IN"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23" name="Oval 122">
            <a:extLst>
              <a:ext uri="{FF2B5EF4-FFF2-40B4-BE49-F238E27FC236}">
                <a16:creationId xmlns:a16="http://schemas.microsoft.com/office/drawing/2014/main" id="{4DA35CFB-1C09-4B3D-9258-072447E44A6D}"/>
              </a:ext>
              <a:ext uri="{C183D7F6-B498-43B3-948B-1728B52AA6E4}">
                <adec:decorative xmlns:adec="http://schemas.microsoft.com/office/drawing/2017/decorative" val="1"/>
              </a:ext>
            </a:extLst>
          </p:cNvPr>
          <p:cNvSpPr/>
          <p:nvPr/>
        </p:nvSpPr>
        <p:spPr bwMode="auto">
          <a:xfrm>
            <a:off x="2010721" y="1933117"/>
            <a:ext cx="347350" cy="347348"/>
          </a:xfrm>
          <a:prstGeom prst="ellipse">
            <a:avLst/>
          </a:prstGeom>
          <a:solidFill>
            <a:schemeClr val="bg1"/>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nvGrpSpPr>
          <p:cNvPr id="124" name="Group 123">
            <a:extLst>
              <a:ext uri="{FF2B5EF4-FFF2-40B4-BE49-F238E27FC236}">
                <a16:creationId xmlns:a16="http://schemas.microsoft.com/office/drawing/2014/main" id="{465F074A-7A98-4216-AE57-924D69BC4BEA}"/>
              </a:ext>
              <a:ext uri="{C183D7F6-B498-43B3-948B-1728B52AA6E4}">
                <adec:decorative xmlns:adec="http://schemas.microsoft.com/office/drawing/2017/decorative" val="1"/>
              </a:ext>
            </a:extLst>
          </p:cNvPr>
          <p:cNvGrpSpPr/>
          <p:nvPr/>
        </p:nvGrpSpPr>
        <p:grpSpPr>
          <a:xfrm>
            <a:off x="2093364" y="1995027"/>
            <a:ext cx="182065" cy="200271"/>
            <a:chOff x="412169" y="1723224"/>
            <a:chExt cx="444782" cy="489260"/>
          </a:xfrm>
          <a:solidFill>
            <a:schemeClr val="tx1"/>
          </a:solidFill>
        </p:grpSpPr>
        <p:sp>
          <p:nvSpPr>
            <p:cNvPr id="125" name="Freeform: Shape 124">
              <a:extLst>
                <a:ext uri="{FF2B5EF4-FFF2-40B4-BE49-F238E27FC236}">
                  <a16:creationId xmlns:a16="http://schemas.microsoft.com/office/drawing/2014/main" id="{92AEA52D-3413-45D1-8CBF-5B3C623E333D}"/>
                </a:ext>
              </a:extLst>
            </p:cNvPr>
            <p:cNvSpPr/>
            <p:nvPr/>
          </p:nvSpPr>
          <p:spPr>
            <a:xfrm>
              <a:off x="556167" y="1845539"/>
              <a:ext cx="144554" cy="22239"/>
            </a:xfrm>
            <a:custGeom>
              <a:avLst/>
              <a:gdLst>
                <a:gd name="connsiteX0" fmla="*/ 0 w 144554"/>
                <a:gd name="connsiteY0" fmla="*/ 0 h 22239"/>
                <a:gd name="connsiteX1" fmla="*/ 144554 w 144554"/>
                <a:gd name="connsiteY1" fmla="*/ 0 h 22239"/>
                <a:gd name="connsiteX2" fmla="*/ 144554 w 144554"/>
                <a:gd name="connsiteY2" fmla="*/ 22239 h 22239"/>
                <a:gd name="connsiteX3" fmla="*/ 0 w 144554"/>
                <a:gd name="connsiteY3" fmla="*/ 22239 h 22239"/>
              </a:gdLst>
              <a:ahLst/>
              <a:cxnLst>
                <a:cxn ang="0">
                  <a:pos x="connsiteX0" y="connsiteY0"/>
                </a:cxn>
                <a:cxn ang="0">
                  <a:pos x="connsiteX1" y="connsiteY1"/>
                </a:cxn>
                <a:cxn ang="0">
                  <a:pos x="connsiteX2" y="connsiteY2"/>
                </a:cxn>
                <a:cxn ang="0">
                  <a:pos x="connsiteX3" y="connsiteY3"/>
                </a:cxn>
              </a:cxnLst>
              <a:rect l="l" t="t" r="r" b="b"/>
              <a:pathLst>
                <a:path w="144554" h="22239">
                  <a:moveTo>
                    <a:pt x="0" y="0"/>
                  </a:moveTo>
                  <a:lnTo>
                    <a:pt x="144554" y="0"/>
                  </a:lnTo>
                  <a:lnTo>
                    <a:pt x="144554" y="22239"/>
                  </a:lnTo>
                  <a:lnTo>
                    <a:pt x="0" y="2223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126" name="Freeform: Shape 125">
              <a:extLst>
                <a:ext uri="{FF2B5EF4-FFF2-40B4-BE49-F238E27FC236}">
                  <a16:creationId xmlns:a16="http://schemas.microsoft.com/office/drawing/2014/main" id="{D7E8AF72-E506-4B92-8F8F-ABA0D4232095}"/>
                </a:ext>
              </a:extLst>
            </p:cNvPr>
            <p:cNvSpPr/>
            <p:nvPr/>
          </p:nvSpPr>
          <p:spPr>
            <a:xfrm>
              <a:off x="556167" y="1890017"/>
              <a:ext cx="144554" cy="22239"/>
            </a:xfrm>
            <a:custGeom>
              <a:avLst/>
              <a:gdLst>
                <a:gd name="connsiteX0" fmla="*/ 0 w 144554"/>
                <a:gd name="connsiteY0" fmla="*/ 0 h 22239"/>
                <a:gd name="connsiteX1" fmla="*/ 144554 w 144554"/>
                <a:gd name="connsiteY1" fmla="*/ 0 h 22239"/>
                <a:gd name="connsiteX2" fmla="*/ 144554 w 144554"/>
                <a:gd name="connsiteY2" fmla="*/ 22239 h 22239"/>
                <a:gd name="connsiteX3" fmla="*/ 0 w 144554"/>
                <a:gd name="connsiteY3" fmla="*/ 22239 h 22239"/>
              </a:gdLst>
              <a:ahLst/>
              <a:cxnLst>
                <a:cxn ang="0">
                  <a:pos x="connsiteX0" y="connsiteY0"/>
                </a:cxn>
                <a:cxn ang="0">
                  <a:pos x="connsiteX1" y="connsiteY1"/>
                </a:cxn>
                <a:cxn ang="0">
                  <a:pos x="connsiteX2" y="connsiteY2"/>
                </a:cxn>
                <a:cxn ang="0">
                  <a:pos x="connsiteX3" y="connsiteY3"/>
                </a:cxn>
              </a:cxnLst>
              <a:rect l="l" t="t" r="r" b="b"/>
              <a:pathLst>
                <a:path w="144554" h="22239">
                  <a:moveTo>
                    <a:pt x="0" y="0"/>
                  </a:moveTo>
                  <a:lnTo>
                    <a:pt x="144554" y="0"/>
                  </a:lnTo>
                  <a:lnTo>
                    <a:pt x="144554" y="22239"/>
                  </a:lnTo>
                  <a:lnTo>
                    <a:pt x="0" y="2223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127" name="Freeform: Shape 126">
              <a:extLst>
                <a:ext uri="{FF2B5EF4-FFF2-40B4-BE49-F238E27FC236}">
                  <a16:creationId xmlns:a16="http://schemas.microsoft.com/office/drawing/2014/main" id="{20A1B80A-81EA-4F35-86C0-279910A877CB}"/>
                </a:ext>
              </a:extLst>
            </p:cNvPr>
            <p:cNvSpPr/>
            <p:nvPr/>
          </p:nvSpPr>
          <p:spPr>
            <a:xfrm>
              <a:off x="556167" y="1934495"/>
              <a:ext cx="144554" cy="22239"/>
            </a:xfrm>
            <a:custGeom>
              <a:avLst/>
              <a:gdLst>
                <a:gd name="connsiteX0" fmla="*/ 0 w 144554"/>
                <a:gd name="connsiteY0" fmla="*/ 0 h 22239"/>
                <a:gd name="connsiteX1" fmla="*/ 144554 w 144554"/>
                <a:gd name="connsiteY1" fmla="*/ 0 h 22239"/>
                <a:gd name="connsiteX2" fmla="*/ 144554 w 144554"/>
                <a:gd name="connsiteY2" fmla="*/ 22239 h 22239"/>
                <a:gd name="connsiteX3" fmla="*/ 0 w 144554"/>
                <a:gd name="connsiteY3" fmla="*/ 22239 h 22239"/>
              </a:gdLst>
              <a:ahLst/>
              <a:cxnLst>
                <a:cxn ang="0">
                  <a:pos x="connsiteX0" y="connsiteY0"/>
                </a:cxn>
                <a:cxn ang="0">
                  <a:pos x="connsiteX1" y="connsiteY1"/>
                </a:cxn>
                <a:cxn ang="0">
                  <a:pos x="connsiteX2" y="connsiteY2"/>
                </a:cxn>
                <a:cxn ang="0">
                  <a:pos x="connsiteX3" y="connsiteY3"/>
                </a:cxn>
              </a:cxnLst>
              <a:rect l="l" t="t" r="r" b="b"/>
              <a:pathLst>
                <a:path w="144554" h="22239">
                  <a:moveTo>
                    <a:pt x="0" y="0"/>
                  </a:moveTo>
                  <a:lnTo>
                    <a:pt x="144554" y="0"/>
                  </a:lnTo>
                  <a:lnTo>
                    <a:pt x="144554" y="22239"/>
                  </a:lnTo>
                  <a:lnTo>
                    <a:pt x="0" y="2223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128" name="Freeform: Shape 127">
              <a:extLst>
                <a:ext uri="{FF2B5EF4-FFF2-40B4-BE49-F238E27FC236}">
                  <a16:creationId xmlns:a16="http://schemas.microsoft.com/office/drawing/2014/main" id="{08A520FA-2C4E-4098-AA91-C96463798A4B}"/>
                </a:ext>
              </a:extLst>
            </p:cNvPr>
            <p:cNvSpPr/>
            <p:nvPr/>
          </p:nvSpPr>
          <p:spPr>
            <a:xfrm>
              <a:off x="412169" y="1723224"/>
              <a:ext cx="444782" cy="489260"/>
            </a:xfrm>
            <a:custGeom>
              <a:avLst/>
              <a:gdLst>
                <a:gd name="connsiteX0" fmla="*/ 411424 w 444782"/>
                <a:gd name="connsiteY0" fmla="*/ 442559 h 489260"/>
                <a:gd name="connsiteX1" fmla="*/ 300228 w 444782"/>
                <a:gd name="connsiteY1" fmla="*/ 336923 h 489260"/>
                <a:gd name="connsiteX2" fmla="*/ 411424 w 444782"/>
                <a:gd name="connsiteY2" fmla="*/ 231287 h 489260"/>
                <a:gd name="connsiteX3" fmla="*/ 411424 w 444782"/>
                <a:gd name="connsiteY3" fmla="*/ 442559 h 489260"/>
                <a:gd name="connsiteX4" fmla="*/ 51150 w 444782"/>
                <a:gd name="connsiteY4" fmla="*/ 455902 h 489260"/>
                <a:gd name="connsiteX5" fmla="*/ 161234 w 444782"/>
                <a:gd name="connsiteY5" fmla="*/ 351934 h 489260"/>
                <a:gd name="connsiteX6" fmla="*/ 169017 w 444782"/>
                <a:gd name="connsiteY6" fmla="*/ 344706 h 489260"/>
                <a:gd name="connsiteX7" fmla="*/ 276321 w 444782"/>
                <a:gd name="connsiteY7" fmla="*/ 344706 h 489260"/>
                <a:gd name="connsiteX8" fmla="*/ 284105 w 444782"/>
                <a:gd name="connsiteY8" fmla="*/ 351934 h 489260"/>
                <a:gd name="connsiteX9" fmla="*/ 393633 w 444782"/>
                <a:gd name="connsiteY9" fmla="*/ 455902 h 489260"/>
                <a:gd name="connsiteX10" fmla="*/ 51150 w 444782"/>
                <a:gd name="connsiteY10" fmla="*/ 455902 h 489260"/>
                <a:gd name="connsiteX11" fmla="*/ 33359 w 444782"/>
                <a:gd name="connsiteY11" fmla="*/ 230731 h 489260"/>
                <a:gd name="connsiteX12" fmla="*/ 144554 w 444782"/>
                <a:gd name="connsiteY12" fmla="*/ 336367 h 489260"/>
                <a:gd name="connsiteX13" fmla="*/ 33359 w 444782"/>
                <a:gd name="connsiteY13" fmla="*/ 442003 h 489260"/>
                <a:gd name="connsiteX14" fmla="*/ 33359 w 444782"/>
                <a:gd name="connsiteY14" fmla="*/ 230731 h 489260"/>
                <a:gd name="connsiteX15" fmla="*/ 111196 w 444782"/>
                <a:gd name="connsiteY15" fmla="*/ 88957 h 489260"/>
                <a:gd name="connsiteX16" fmla="*/ 333587 w 444782"/>
                <a:gd name="connsiteY16" fmla="*/ 88957 h 489260"/>
                <a:gd name="connsiteX17" fmla="*/ 333587 w 444782"/>
                <a:gd name="connsiteY17" fmla="*/ 274097 h 489260"/>
                <a:gd name="connsiteX18" fmla="*/ 283549 w 444782"/>
                <a:gd name="connsiteY18" fmla="*/ 321911 h 489260"/>
                <a:gd name="connsiteX19" fmla="*/ 161234 w 444782"/>
                <a:gd name="connsiteY19" fmla="*/ 321911 h 489260"/>
                <a:gd name="connsiteX20" fmla="*/ 111196 w 444782"/>
                <a:gd name="connsiteY20" fmla="*/ 274097 h 489260"/>
                <a:gd name="connsiteX21" fmla="*/ 111196 w 444782"/>
                <a:gd name="connsiteY21" fmla="*/ 88957 h 489260"/>
                <a:gd name="connsiteX22" fmla="*/ 366946 w 444782"/>
                <a:gd name="connsiteY22" fmla="*/ 103968 h 489260"/>
                <a:gd name="connsiteX23" fmla="*/ 366946 w 444782"/>
                <a:gd name="connsiteY23" fmla="*/ 55598 h 489260"/>
                <a:gd name="connsiteX24" fmla="*/ 289109 w 444782"/>
                <a:gd name="connsiteY24" fmla="*/ 55598 h 489260"/>
                <a:gd name="connsiteX25" fmla="*/ 222391 w 444782"/>
                <a:gd name="connsiteY25" fmla="*/ 0 h 489260"/>
                <a:gd name="connsiteX26" fmla="*/ 155674 w 444782"/>
                <a:gd name="connsiteY26" fmla="*/ 55598 h 489260"/>
                <a:gd name="connsiteX27" fmla="*/ 77837 w 444782"/>
                <a:gd name="connsiteY27" fmla="*/ 55598 h 489260"/>
                <a:gd name="connsiteX28" fmla="*/ 77837 w 444782"/>
                <a:gd name="connsiteY28" fmla="*/ 104524 h 489260"/>
                <a:gd name="connsiteX29" fmla="*/ 0 w 444782"/>
                <a:gd name="connsiteY29" fmla="*/ 178469 h 489260"/>
                <a:gd name="connsiteX30" fmla="*/ 0 w 444782"/>
                <a:gd name="connsiteY30" fmla="*/ 489261 h 489260"/>
                <a:gd name="connsiteX31" fmla="*/ 444783 w 444782"/>
                <a:gd name="connsiteY31" fmla="*/ 489261 h 489260"/>
                <a:gd name="connsiteX32" fmla="*/ 444783 w 444782"/>
                <a:gd name="connsiteY32" fmla="*/ 178469 h 489260"/>
                <a:gd name="connsiteX33" fmla="*/ 366946 w 444782"/>
                <a:gd name="connsiteY33" fmla="*/ 103968 h 48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44782" h="489260">
                  <a:moveTo>
                    <a:pt x="411424" y="442559"/>
                  </a:moveTo>
                  <a:lnTo>
                    <a:pt x="300228" y="336923"/>
                  </a:lnTo>
                  <a:lnTo>
                    <a:pt x="411424" y="231287"/>
                  </a:lnTo>
                  <a:lnTo>
                    <a:pt x="411424" y="442559"/>
                  </a:lnTo>
                  <a:close/>
                  <a:moveTo>
                    <a:pt x="51150" y="455902"/>
                  </a:moveTo>
                  <a:lnTo>
                    <a:pt x="161234" y="351934"/>
                  </a:lnTo>
                  <a:lnTo>
                    <a:pt x="169017" y="344706"/>
                  </a:lnTo>
                  <a:cubicBezTo>
                    <a:pt x="199040" y="316352"/>
                    <a:pt x="246298" y="316352"/>
                    <a:pt x="276321" y="344706"/>
                  </a:cubicBezTo>
                  <a:lnTo>
                    <a:pt x="284105" y="351934"/>
                  </a:lnTo>
                  <a:lnTo>
                    <a:pt x="393633" y="455902"/>
                  </a:lnTo>
                  <a:lnTo>
                    <a:pt x="51150" y="455902"/>
                  </a:lnTo>
                  <a:close/>
                  <a:moveTo>
                    <a:pt x="33359" y="230731"/>
                  </a:moveTo>
                  <a:lnTo>
                    <a:pt x="144554" y="336367"/>
                  </a:lnTo>
                  <a:lnTo>
                    <a:pt x="33359" y="442003"/>
                  </a:lnTo>
                  <a:lnTo>
                    <a:pt x="33359" y="230731"/>
                  </a:lnTo>
                  <a:close/>
                  <a:moveTo>
                    <a:pt x="111196" y="88957"/>
                  </a:moveTo>
                  <a:lnTo>
                    <a:pt x="333587" y="88957"/>
                  </a:lnTo>
                  <a:lnTo>
                    <a:pt x="333587" y="274097"/>
                  </a:lnTo>
                  <a:lnTo>
                    <a:pt x="283549" y="321911"/>
                  </a:lnTo>
                  <a:cubicBezTo>
                    <a:pt x="247410" y="294112"/>
                    <a:pt x="197372" y="294112"/>
                    <a:pt x="161234" y="321911"/>
                  </a:cubicBezTo>
                  <a:lnTo>
                    <a:pt x="111196" y="274097"/>
                  </a:lnTo>
                  <a:lnTo>
                    <a:pt x="111196" y="88957"/>
                  </a:lnTo>
                  <a:close/>
                  <a:moveTo>
                    <a:pt x="366946" y="103968"/>
                  </a:moveTo>
                  <a:lnTo>
                    <a:pt x="366946" y="55598"/>
                  </a:lnTo>
                  <a:lnTo>
                    <a:pt x="289109" y="55598"/>
                  </a:lnTo>
                  <a:lnTo>
                    <a:pt x="222391" y="0"/>
                  </a:lnTo>
                  <a:lnTo>
                    <a:pt x="155674" y="55598"/>
                  </a:lnTo>
                  <a:lnTo>
                    <a:pt x="77837" y="55598"/>
                  </a:lnTo>
                  <a:lnTo>
                    <a:pt x="77837" y="104524"/>
                  </a:lnTo>
                  <a:lnTo>
                    <a:pt x="0" y="178469"/>
                  </a:lnTo>
                  <a:lnTo>
                    <a:pt x="0" y="489261"/>
                  </a:lnTo>
                  <a:lnTo>
                    <a:pt x="444783" y="489261"/>
                  </a:lnTo>
                  <a:lnTo>
                    <a:pt x="444783" y="178469"/>
                  </a:lnTo>
                  <a:lnTo>
                    <a:pt x="366946" y="103968"/>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grpSp>
      <p:sp>
        <p:nvSpPr>
          <p:cNvPr id="130" name="Rectangle 129">
            <a:extLst>
              <a:ext uri="{FF2B5EF4-FFF2-40B4-BE49-F238E27FC236}">
                <a16:creationId xmlns:a16="http://schemas.microsoft.com/office/drawing/2014/main" id="{E8F471CF-7876-40B0-84A4-FC3144C0E88D}"/>
              </a:ext>
              <a:ext uri="{C183D7F6-B498-43B3-948B-1728B52AA6E4}">
                <adec:decorative xmlns:adec="http://schemas.microsoft.com/office/drawing/2017/decorative" val="1"/>
              </a:ext>
            </a:extLst>
          </p:cNvPr>
          <p:cNvSpPr/>
          <p:nvPr/>
        </p:nvSpPr>
        <p:spPr bwMode="auto">
          <a:xfrm>
            <a:off x="2184395" y="4268422"/>
            <a:ext cx="2203453" cy="317155"/>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146304" rIns="182880" bIns="146304"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a:ln>
                  <a:noFill/>
                </a:ln>
                <a:solidFill>
                  <a:srgbClr val="FFFFFF"/>
                </a:solidFill>
                <a:effectLst/>
                <a:uLnTx/>
                <a:uFillTx/>
                <a:latin typeface="Segoe UI Semibold"/>
                <a:ea typeface="+mn-ea"/>
                <a:cs typeface="+mn-cs"/>
              </a:rPr>
              <a:t>DPA</a:t>
            </a:r>
          </a:p>
        </p:txBody>
      </p:sp>
      <p:sp>
        <p:nvSpPr>
          <p:cNvPr id="131" name="Rectangle 130">
            <a:extLst>
              <a:ext uri="{FF2B5EF4-FFF2-40B4-BE49-F238E27FC236}">
                <a16:creationId xmlns:a16="http://schemas.microsoft.com/office/drawing/2014/main" id="{F9F0F05C-504B-42FE-B118-F6901B7AEA0F}"/>
              </a:ext>
              <a:ext uri="{C183D7F6-B498-43B3-948B-1728B52AA6E4}">
                <adec:decorative xmlns:adec="http://schemas.microsoft.com/office/drawing/2017/decorative" val="1"/>
              </a:ext>
            </a:extLst>
          </p:cNvPr>
          <p:cNvSpPr/>
          <p:nvPr/>
        </p:nvSpPr>
        <p:spPr bwMode="auto">
          <a:xfrm>
            <a:off x="2560798" y="4705487"/>
            <a:ext cx="1701639" cy="98118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Segoe UI" pitchFamily="34" charset="0"/>
                <a:cs typeface="Segoe UI" pitchFamily="34" charset="0"/>
              </a:rPr>
              <a:t>Power Automate </a:t>
            </a:r>
            <a:r>
              <a:rPr kumimoji="0" lang="en-US" sz="12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responds to email receipt trigger and processes attachments </a:t>
            </a:r>
          </a:p>
        </p:txBody>
      </p:sp>
      <p:sp>
        <p:nvSpPr>
          <p:cNvPr id="132" name="Oval 131">
            <a:extLst>
              <a:ext uri="{FF2B5EF4-FFF2-40B4-BE49-F238E27FC236}">
                <a16:creationId xmlns:a16="http://schemas.microsoft.com/office/drawing/2014/main" id="{9C9C039F-D06B-47AE-A041-9FDB2D7E9E8A}"/>
              </a:ext>
              <a:ext uri="{C183D7F6-B498-43B3-948B-1728B52AA6E4}">
                <adec:decorative xmlns:adec="http://schemas.microsoft.com/office/drawing/2017/decorative" val="1"/>
              </a:ext>
            </a:extLst>
          </p:cNvPr>
          <p:cNvSpPr/>
          <p:nvPr/>
        </p:nvSpPr>
        <p:spPr bwMode="auto">
          <a:xfrm>
            <a:off x="2033541" y="4516576"/>
            <a:ext cx="301711" cy="301711"/>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228600"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sym typeface="Wingdings" panose="05000000000000000000" pitchFamily="2" charset="2"/>
              </a:rPr>
              <a:t></a:t>
            </a:r>
            <a:endParaRPr kumimoji="0" lang="en-IN"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33" name="Oval 132">
            <a:extLst>
              <a:ext uri="{FF2B5EF4-FFF2-40B4-BE49-F238E27FC236}">
                <a16:creationId xmlns:a16="http://schemas.microsoft.com/office/drawing/2014/main" id="{F2462041-4F6E-4A35-B05A-FF4FB6AE477D}"/>
              </a:ext>
              <a:ext uri="{C183D7F6-B498-43B3-948B-1728B52AA6E4}">
                <adec:decorative xmlns:adec="http://schemas.microsoft.com/office/drawing/2017/decorative" val="1"/>
              </a:ext>
            </a:extLst>
          </p:cNvPr>
          <p:cNvSpPr/>
          <p:nvPr/>
        </p:nvSpPr>
        <p:spPr bwMode="auto">
          <a:xfrm>
            <a:off x="2010721" y="4253325"/>
            <a:ext cx="347350" cy="347348"/>
          </a:xfrm>
          <a:prstGeom prst="ellipse">
            <a:avLst/>
          </a:prstGeom>
          <a:solidFill>
            <a:schemeClr val="bg1"/>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nvGrpSpPr>
          <p:cNvPr id="134" name="Group 133">
            <a:extLst>
              <a:ext uri="{FF2B5EF4-FFF2-40B4-BE49-F238E27FC236}">
                <a16:creationId xmlns:a16="http://schemas.microsoft.com/office/drawing/2014/main" id="{309F03F5-F4F7-4569-AB4B-71BF3DD65534}"/>
              </a:ext>
              <a:ext uri="{C183D7F6-B498-43B3-948B-1728B52AA6E4}">
                <adec:decorative xmlns:adec="http://schemas.microsoft.com/office/drawing/2017/decorative" val="1"/>
              </a:ext>
            </a:extLst>
          </p:cNvPr>
          <p:cNvGrpSpPr/>
          <p:nvPr/>
        </p:nvGrpSpPr>
        <p:grpSpPr>
          <a:xfrm>
            <a:off x="2087045" y="4357106"/>
            <a:ext cx="194702" cy="139786"/>
            <a:chOff x="419273" y="3907680"/>
            <a:chExt cx="433662" cy="311348"/>
          </a:xfrm>
          <a:solidFill>
            <a:schemeClr val="tx1"/>
          </a:solidFill>
        </p:grpSpPr>
        <p:sp>
          <p:nvSpPr>
            <p:cNvPr id="135" name="Freeform: Shape 134">
              <a:extLst>
                <a:ext uri="{FF2B5EF4-FFF2-40B4-BE49-F238E27FC236}">
                  <a16:creationId xmlns:a16="http://schemas.microsoft.com/office/drawing/2014/main" id="{527AC188-7208-48CD-BB19-7216B1AD02C4}"/>
                </a:ext>
              </a:extLst>
            </p:cNvPr>
            <p:cNvSpPr/>
            <p:nvPr/>
          </p:nvSpPr>
          <p:spPr>
            <a:xfrm>
              <a:off x="419273" y="3907680"/>
              <a:ext cx="389184" cy="294673"/>
            </a:xfrm>
            <a:custGeom>
              <a:avLst/>
              <a:gdLst>
                <a:gd name="connsiteX0" fmla="*/ 110640 w 389184"/>
                <a:gd name="connsiteY0" fmla="*/ 94516 h 294673"/>
                <a:gd name="connsiteX1" fmla="*/ 389185 w 389184"/>
                <a:gd name="connsiteY1" fmla="*/ 94516 h 294673"/>
                <a:gd name="connsiteX2" fmla="*/ 389185 w 389184"/>
                <a:gd name="connsiteY2" fmla="*/ 66717 h 294673"/>
                <a:gd name="connsiteX3" fmla="*/ 366946 w 389184"/>
                <a:gd name="connsiteY3" fmla="*/ 44478 h 294673"/>
                <a:gd name="connsiteX4" fmla="*/ 200152 w 389184"/>
                <a:gd name="connsiteY4" fmla="*/ 44478 h 294673"/>
                <a:gd name="connsiteX5" fmla="*/ 138995 w 389184"/>
                <a:gd name="connsiteY5" fmla="*/ 3892 h 294673"/>
                <a:gd name="connsiteX6" fmla="*/ 126763 w 389184"/>
                <a:gd name="connsiteY6" fmla="*/ 0 h 294673"/>
                <a:gd name="connsiteX7" fmla="*/ 22239 w 389184"/>
                <a:gd name="connsiteY7" fmla="*/ 0 h 294673"/>
                <a:gd name="connsiteX8" fmla="*/ 0 w 389184"/>
                <a:gd name="connsiteY8" fmla="*/ 22239 h 294673"/>
                <a:gd name="connsiteX9" fmla="*/ 0 w 389184"/>
                <a:gd name="connsiteY9" fmla="*/ 294668 h 294673"/>
                <a:gd name="connsiteX10" fmla="*/ 71721 w 389184"/>
                <a:gd name="connsiteY10" fmla="*/ 120647 h 294673"/>
                <a:gd name="connsiteX11" fmla="*/ 110640 w 389184"/>
                <a:gd name="connsiteY11" fmla="*/ 94516 h 294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9184" h="294673">
                  <a:moveTo>
                    <a:pt x="110640" y="94516"/>
                  </a:moveTo>
                  <a:lnTo>
                    <a:pt x="389185" y="94516"/>
                  </a:lnTo>
                  <a:lnTo>
                    <a:pt x="389185" y="66717"/>
                  </a:lnTo>
                  <a:cubicBezTo>
                    <a:pt x="389185" y="54486"/>
                    <a:pt x="379177" y="44478"/>
                    <a:pt x="366946" y="44478"/>
                  </a:cubicBezTo>
                  <a:lnTo>
                    <a:pt x="200152" y="44478"/>
                  </a:lnTo>
                  <a:lnTo>
                    <a:pt x="138995" y="3892"/>
                  </a:lnTo>
                  <a:cubicBezTo>
                    <a:pt x="135103" y="1668"/>
                    <a:pt x="131211" y="0"/>
                    <a:pt x="126763" y="0"/>
                  </a:cubicBezTo>
                  <a:lnTo>
                    <a:pt x="22239" y="0"/>
                  </a:lnTo>
                  <a:cubicBezTo>
                    <a:pt x="10008" y="0"/>
                    <a:pt x="0" y="10008"/>
                    <a:pt x="0" y="22239"/>
                  </a:cubicBezTo>
                  <a:lnTo>
                    <a:pt x="0" y="294668"/>
                  </a:lnTo>
                  <a:cubicBezTo>
                    <a:pt x="0" y="295780"/>
                    <a:pt x="71721" y="120647"/>
                    <a:pt x="71721" y="120647"/>
                  </a:cubicBezTo>
                  <a:cubicBezTo>
                    <a:pt x="78393" y="105080"/>
                    <a:pt x="93404" y="94516"/>
                    <a:pt x="110640" y="94516"/>
                  </a:cubicBez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136" name="Freeform: Shape 135">
              <a:extLst>
                <a:ext uri="{FF2B5EF4-FFF2-40B4-BE49-F238E27FC236}">
                  <a16:creationId xmlns:a16="http://schemas.microsoft.com/office/drawing/2014/main" id="{E87F52CB-254D-443A-A99E-31DCD945176B}"/>
                </a:ext>
              </a:extLst>
            </p:cNvPr>
            <p:cNvSpPr/>
            <p:nvPr/>
          </p:nvSpPr>
          <p:spPr>
            <a:xfrm>
              <a:off x="435952" y="4024436"/>
              <a:ext cx="416983" cy="194592"/>
            </a:xfrm>
            <a:custGeom>
              <a:avLst/>
              <a:gdLst>
                <a:gd name="connsiteX0" fmla="*/ 416984 w 416983"/>
                <a:gd name="connsiteY0" fmla="*/ 22239 h 194592"/>
                <a:gd name="connsiteX1" fmla="*/ 396968 w 416983"/>
                <a:gd name="connsiteY1" fmla="*/ 0 h 194592"/>
                <a:gd name="connsiteX2" fmla="*/ 93960 w 416983"/>
                <a:gd name="connsiteY2" fmla="*/ 0 h 194592"/>
                <a:gd name="connsiteX3" fmla="*/ 75057 w 416983"/>
                <a:gd name="connsiteY3" fmla="*/ 12232 h 194592"/>
                <a:gd name="connsiteX4" fmla="*/ 0 w 416983"/>
                <a:gd name="connsiteY4" fmla="*/ 194592 h 194592"/>
                <a:gd name="connsiteX5" fmla="*/ 339147 w 416983"/>
                <a:gd name="connsiteY5" fmla="*/ 194592 h 194592"/>
                <a:gd name="connsiteX6" fmla="*/ 414760 w 416983"/>
                <a:gd name="connsiteY6" fmla="*/ 32247 h 194592"/>
                <a:gd name="connsiteX7" fmla="*/ 416984 w 416983"/>
                <a:gd name="connsiteY7" fmla="*/ 22239 h 194592"/>
                <a:gd name="connsiteX8" fmla="*/ 416984 w 416983"/>
                <a:gd name="connsiteY8" fmla="*/ 22239 h 19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6983" h="194592">
                  <a:moveTo>
                    <a:pt x="416984" y="22239"/>
                  </a:moveTo>
                  <a:cubicBezTo>
                    <a:pt x="416984" y="10564"/>
                    <a:pt x="408644" y="1112"/>
                    <a:pt x="396968" y="0"/>
                  </a:cubicBezTo>
                  <a:lnTo>
                    <a:pt x="93960" y="0"/>
                  </a:lnTo>
                  <a:cubicBezTo>
                    <a:pt x="85621" y="0"/>
                    <a:pt x="78393" y="5004"/>
                    <a:pt x="75057" y="12232"/>
                  </a:cubicBezTo>
                  <a:lnTo>
                    <a:pt x="0" y="194592"/>
                  </a:lnTo>
                  <a:lnTo>
                    <a:pt x="339147" y="194592"/>
                  </a:lnTo>
                  <a:lnTo>
                    <a:pt x="414760" y="32247"/>
                  </a:lnTo>
                  <a:cubicBezTo>
                    <a:pt x="416428" y="28911"/>
                    <a:pt x="416984" y="25575"/>
                    <a:pt x="416984" y="22239"/>
                  </a:cubicBezTo>
                  <a:lnTo>
                    <a:pt x="416984" y="2223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grpSp>
      <p:sp>
        <p:nvSpPr>
          <p:cNvPr id="143" name="Rectangle 142">
            <a:extLst>
              <a:ext uri="{FF2B5EF4-FFF2-40B4-BE49-F238E27FC236}">
                <a16:creationId xmlns:a16="http://schemas.microsoft.com/office/drawing/2014/main" id="{D94FA2A2-668B-48CC-882F-8D6B9BFF7849}"/>
              </a:ext>
              <a:ext uri="{C183D7F6-B498-43B3-948B-1728B52AA6E4}">
                <adec:decorative xmlns:adec="http://schemas.microsoft.com/office/drawing/2017/decorative" val="1"/>
              </a:ext>
            </a:extLst>
          </p:cNvPr>
          <p:cNvSpPr/>
          <p:nvPr/>
        </p:nvSpPr>
        <p:spPr bwMode="auto">
          <a:xfrm>
            <a:off x="4387850" y="4268422"/>
            <a:ext cx="2203453" cy="317155"/>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146304" rIns="182880" bIns="146304"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a:ln>
                  <a:noFill/>
                </a:ln>
                <a:solidFill>
                  <a:srgbClr val="FFFFFF"/>
                </a:solidFill>
                <a:effectLst/>
                <a:uLnTx/>
                <a:uFillTx/>
                <a:latin typeface="Segoe UI Semibold"/>
                <a:ea typeface="+mn-ea"/>
                <a:cs typeface="+mn-cs"/>
              </a:rPr>
              <a:t>DPA+AI</a:t>
            </a:r>
          </a:p>
        </p:txBody>
      </p:sp>
      <p:sp>
        <p:nvSpPr>
          <p:cNvPr id="144" name="Rectangle 143">
            <a:extLst>
              <a:ext uri="{FF2B5EF4-FFF2-40B4-BE49-F238E27FC236}">
                <a16:creationId xmlns:a16="http://schemas.microsoft.com/office/drawing/2014/main" id="{F5B954A0-FC43-468B-9E28-7F06026AE947}"/>
              </a:ext>
              <a:ext uri="{C183D7F6-B498-43B3-948B-1728B52AA6E4}">
                <adec:decorative xmlns:adec="http://schemas.microsoft.com/office/drawing/2017/decorative" val="1"/>
              </a:ext>
            </a:extLst>
          </p:cNvPr>
          <p:cNvSpPr/>
          <p:nvPr/>
        </p:nvSpPr>
        <p:spPr bwMode="auto">
          <a:xfrm>
            <a:off x="4764252" y="4705487"/>
            <a:ext cx="1701639" cy="98118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Documents are analyzed using AI tools in </a:t>
            </a:r>
            <a:r>
              <a:rPr lang="en-US" sz="1200">
                <a:solidFill>
                  <a:srgbClr val="0078D4"/>
                </a:solidFill>
                <a:latin typeface="Segoe UI Semibold"/>
                <a:cs typeface="Segoe UI" pitchFamily="34" charset="0"/>
              </a:rPr>
              <a:t>Copilot Studio </a:t>
            </a:r>
            <a:r>
              <a:rPr kumimoji="0" lang="en-US" sz="12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and key details are extracted</a:t>
            </a:r>
          </a:p>
        </p:txBody>
      </p:sp>
      <p:sp>
        <p:nvSpPr>
          <p:cNvPr id="145" name="Oval 144">
            <a:extLst>
              <a:ext uri="{FF2B5EF4-FFF2-40B4-BE49-F238E27FC236}">
                <a16:creationId xmlns:a16="http://schemas.microsoft.com/office/drawing/2014/main" id="{1AB32289-AF38-4711-89E4-C5BE27CDC4D4}"/>
              </a:ext>
              <a:ext uri="{C183D7F6-B498-43B3-948B-1728B52AA6E4}">
                <adec:decorative xmlns:adec="http://schemas.microsoft.com/office/drawing/2017/decorative" val="1"/>
              </a:ext>
            </a:extLst>
          </p:cNvPr>
          <p:cNvSpPr/>
          <p:nvPr/>
        </p:nvSpPr>
        <p:spPr bwMode="auto">
          <a:xfrm>
            <a:off x="4236995" y="4516576"/>
            <a:ext cx="301711" cy="301711"/>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274320" rIns="182880" bIns="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sym typeface="Wingdings" panose="05000000000000000000" pitchFamily="2" charset="2"/>
              </a:rPr>
              <a:t></a:t>
            </a:r>
            <a:endParaRPr kumimoji="0" lang="en-IN"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50" name="Oval 149">
            <a:extLst>
              <a:ext uri="{FF2B5EF4-FFF2-40B4-BE49-F238E27FC236}">
                <a16:creationId xmlns:a16="http://schemas.microsoft.com/office/drawing/2014/main" id="{ED0F4EC9-32FA-49C4-A529-E22EBBAD19D4}"/>
              </a:ext>
              <a:ext uri="{C183D7F6-B498-43B3-948B-1728B52AA6E4}">
                <adec:decorative xmlns:adec="http://schemas.microsoft.com/office/drawing/2017/decorative" val="1"/>
              </a:ext>
            </a:extLst>
          </p:cNvPr>
          <p:cNvSpPr/>
          <p:nvPr/>
        </p:nvSpPr>
        <p:spPr bwMode="auto">
          <a:xfrm>
            <a:off x="4214175" y="4253325"/>
            <a:ext cx="347350" cy="347348"/>
          </a:xfrm>
          <a:prstGeom prst="ellipse">
            <a:avLst/>
          </a:prstGeom>
          <a:solidFill>
            <a:schemeClr val="bg1"/>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grpSp>
        <p:nvGrpSpPr>
          <p:cNvPr id="153" name="Group 152">
            <a:extLst>
              <a:ext uri="{FF2B5EF4-FFF2-40B4-BE49-F238E27FC236}">
                <a16:creationId xmlns:a16="http://schemas.microsoft.com/office/drawing/2014/main" id="{F6C8A77E-5CC1-41F6-85C4-221E15706FB6}"/>
              </a:ext>
              <a:ext uri="{C183D7F6-B498-43B3-948B-1728B52AA6E4}">
                <adec:decorative xmlns:adec="http://schemas.microsoft.com/office/drawing/2017/decorative" val="1"/>
              </a:ext>
            </a:extLst>
          </p:cNvPr>
          <p:cNvGrpSpPr/>
          <p:nvPr/>
        </p:nvGrpSpPr>
        <p:grpSpPr>
          <a:xfrm>
            <a:off x="4310309" y="4326946"/>
            <a:ext cx="155083" cy="200107"/>
            <a:chOff x="2714387" y="1844821"/>
            <a:chExt cx="155083" cy="200107"/>
          </a:xfrm>
          <a:solidFill>
            <a:schemeClr val="tx1"/>
          </a:solidFill>
        </p:grpSpPr>
        <p:sp>
          <p:nvSpPr>
            <p:cNvPr id="154" name="Freeform: Shape 153">
              <a:extLst>
                <a:ext uri="{FF2B5EF4-FFF2-40B4-BE49-F238E27FC236}">
                  <a16:creationId xmlns:a16="http://schemas.microsoft.com/office/drawing/2014/main" id="{F48FF130-FF4A-4AE0-AE0B-869011045A29}"/>
                </a:ext>
              </a:extLst>
            </p:cNvPr>
            <p:cNvSpPr/>
            <p:nvPr/>
          </p:nvSpPr>
          <p:spPr>
            <a:xfrm>
              <a:off x="2714387" y="1844821"/>
              <a:ext cx="155083" cy="200107"/>
            </a:xfrm>
            <a:custGeom>
              <a:avLst/>
              <a:gdLst>
                <a:gd name="connsiteX0" fmla="*/ 33359 w 344706"/>
                <a:gd name="connsiteY0" fmla="*/ 411424 h 444782"/>
                <a:gd name="connsiteX1" fmla="*/ 33359 w 344706"/>
                <a:gd name="connsiteY1" fmla="*/ 33359 h 444782"/>
                <a:gd name="connsiteX2" fmla="*/ 172353 w 344706"/>
                <a:gd name="connsiteY2" fmla="*/ 33359 h 444782"/>
                <a:gd name="connsiteX3" fmla="*/ 172353 w 344706"/>
                <a:gd name="connsiteY3" fmla="*/ 150114 h 444782"/>
                <a:gd name="connsiteX4" fmla="*/ 311348 w 344706"/>
                <a:gd name="connsiteY4" fmla="*/ 150114 h 444782"/>
                <a:gd name="connsiteX5" fmla="*/ 311348 w 344706"/>
                <a:gd name="connsiteY5" fmla="*/ 411424 h 444782"/>
                <a:gd name="connsiteX6" fmla="*/ 33359 w 344706"/>
                <a:gd name="connsiteY6" fmla="*/ 411424 h 444782"/>
                <a:gd name="connsiteX7" fmla="*/ 205712 w 344706"/>
                <a:gd name="connsiteY7" fmla="*/ 47258 h 444782"/>
                <a:gd name="connsiteX8" fmla="*/ 275209 w 344706"/>
                <a:gd name="connsiteY8" fmla="*/ 116755 h 444782"/>
                <a:gd name="connsiteX9" fmla="*/ 205712 w 344706"/>
                <a:gd name="connsiteY9" fmla="*/ 116755 h 444782"/>
                <a:gd name="connsiteX10" fmla="*/ 205712 w 344706"/>
                <a:gd name="connsiteY10" fmla="*/ 47258 h 444782"/>
                <a:gd name="connsiteX11" fmla="*/ 205712 w 344706"/>
                <a:gd name="connsiteY11" fmla="*/ 0 h 444782"/>
                <a:gd name="connsiteX12" fmla="*/ 0 w 344706"/>
                <a:gd name="connsiteY12" fmla="*/ 0 h 444782"/>
                <a:gd name="connsiteX13" fmla="*/ 0 w 344706"/>
                <a:gd name="connsiteY13" fmla="*/ 444783 h 444782"/>
                <a:gd name="connsiteX14" fmla="*/ 344706 w 344706"/>
                <a:gd name="connsiteY14" fmla="*/ 444783 h 444782"/>
                <a:gd name="connsiteX15" fmla="*/ 344706 w 344706"/>
                <a:gd name="connsiteY15" fmla="*/ 122315 h 444782"/>
                <a:gd name="connsiteX16" fmla="*/ 205712 w 344706"/>
                <a:gd name="connsiteY16" fmla="*/ 0 h 444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4706" h="444782">
                  <a:moveTo>
                    <a:pt x="33359" y="411424"/>
                  </a:moveTo>
                  <a:lnTo>
                    <a:pt x="33359" y="33359"/>
                  </a:lnTo>
                  <a:lnTo>
                    <a:pt x="172353" y="33359"/>
                  </a:lnTo>
                  <a:lnTo>
                    <a:pt x="172353" y="150114"/>
                  </a:lnTo>
                  <a:lnTo>
                    <a:pt x="311348" y="150114"/>
                  </a:lnTo>
                  <a:lnTo>
                    <a:pt x="311348" y="411424"/>
                  </a:lnTo>
                  <a:lnTo>
                    <a:pt x="33359" y="411424"/>
                  </a:lnTo>
                  <a:close/>
                  <a:moveTo>
                    <a:pt x="205712" y="47258"/>
                  </a:moveTo>
                  <a:lnTo>
                    <a:pt x="275209" y="116755"/>
                  </a:lnTo>
                  <a:lnTo>
                    <a:pt x="205712" y="116755"/>
                  </a:lnTo>
                  <a:lnTo>
                    <a:pt x="205712" y="47258"/>
                  </a:lnTo>
                  <a:close/>
                  <a:moveTo>
                    <a:pt x="205712" y="0"/>
                  </a:moveTo>
                  <a:lnTo>
                    <a:pt x="0" y="0"/>
                  </a:lnTo>
                  <a:lnTo>
                    <a:pt x="0" y="444783"/>
                  </a:lnTo>
                  <a:lnTo>
                    <a:pt x="344706" y="444783"/>
                  </a:lnTo>
                  <a:lnTo>
                    <a:pt x="344706" y="122315"/>
                  </a:lnTo>
                  <a:lnTo>
                    <a:pt x="205712" y="0"/>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181" name="Freeform: Shape 180">
              <a:extLst>
                <a:ext uri="{FF2B5EF4-FFF2-40B4-BE49-F238E27FC236}">
                  <a16:creationId xmlns:a16="http://schemas.microsoft.com/office/drawing/2014/main" id="{3DB0E483-99E3-4D9A-94EB-FD92C388C574}"/>
                </a:ext>
              </a:extLst>
            </p:cNvPr>
            <p:cNvSpPr/>
            <p:nvPr/>
          </p:nvSpPr>
          <p:spPr>
            <a:xfrm>
              <a:off x="2744403" y="1937370"/>
              <a:ext cx="95051" cy="10005"/>
            </a:xfrm>
            <a:custGeom>
              <a:avLst/>
              <a:gdLst>
                <a:gd name="connsiteX0" fmla="*/ 0 w 211271"/>
                <a:gd name="connsiteY0" fmla="*/ 0 h 22239"/>
                <a:gd name="connsiteX1" fmla="*/ 211272 w 211271"/>
                <a:gd name="connsiteY1" fmla="*/ 0 h 22239"/>
                <a:gd name="connsiteX2" fmla="*/ 211272 w 211271"/>
                <a:gd name="connsiteY2" fmla="*/ 22239 h 22239"/>
                <a:gd name="connsiteX3" fmla="*/ 0 w 211271"/>
                <a:gd name="connsiteY3" fmla="*/ 22239 h 22239"/>
              </a:gdLst>
              <a:ahLst/>
              <a:cxnLst>
                <a:cxn ang="0">
                  <a:pos x="connsiteX0" y="connsiteY0"/>
                </a:cxn>
                <a:cxn ang="0">
                  <a:pos x="connsiteX1" y="connsiteY1"/>
                </a:cxn>
                <a:cxn ang="0">
                  <a:pos x="connsiteX2" y="connsiteY2"/>
                </a:cxn>
                <a:cxn ang="0">
                  <a:pos x="connsiteX3" y="connsiteY3"/>
                </a:cxn>
              </a:cxnLst>
              <a:rect l="l" t="t" r="r" b="b"/>
              <a:pathLst>
                <a:path w="211271" h="22239">
                  <a:moveTo>
                    <a:pt x="0" y="0"/>
                  </a:moveTo>
                  <a:lnTo>
                    <a:pt x="211272" y="0"/>
                  </a:lnTo>
                  <a:lnTo>
                    <a:pt x="211272" y="22239"/>
                  </a:lnTo>
                  <a:lnTo>
                    <a:pt x="0" y="2223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182" name="Freeform: Shape 181">
              <a:extLst>
                <a:ext uri="{FF2B5EF4-FFF2-40B4-BE49-F238E27FC236}">
                  <a16:creationId xmlns:a16="http://schemas.microsoft.com/office/drawing/2014/main" id="{61550904-36B9-4856-BB70-76916817BFC6}"/>
                </a:ext>
              </a:extLst>
            </p:cNvPr>
            <p:cNvSpPr/>
            <p:nvPr/>
          </p:nvSpPr>
          <p:spPr>
            <a:xfrm>
              <a:off x="2744403" y="1917359"/>
              <a:ext cx="32517" cy="10005"/>
            </a:xfrm>
            <a:custGeom>
              <a:avLst/>
              <a:gdLst>
                <a:gd name="connsiteX0" fmla="*/ 0 w 72277"/>
                <a:gd name="connsiteY0" fmla="*/ 0 h 22239"/>
                <a:gd name="connsiteX1" fmla="*/ 72277 w 72277"/>
                <a:gd name="connsiteY1" fmla="*/ 0 h 22239"/>
                <a:gd name="connsiteX2" fmla="*/ 72277 w 72277"/>
                <a:gd name="connsiteY2" fmla="*/ 22239 h 22239"/>
                <a:gd name="connsiteX3" fmla="*/ 0 w 72277"/>
                <a:gd name="connsiteY3" fmla="*/ 22239 h 22239"/>
              </a:gdLst>
              <a:ahLst/>
              <a:cxnLst>
                <a:cxn ang="0">
                  <a:pos x="connsiteX0" y="connsiteY0"/>
                </a:cxn>
                <a:cxn ang="0">
                  <a:pos x="connsiteX1" y="connsiteY1"/>
                </a:cxn>
                <a:cxn ang="0">
                  <a:pos x="connsiteX2" y="connsiteY2"/>
                </a:cxn>
                <a:cxn ang="0">
                  <a:pos x="connsiteX3" y="connsiteY3"/>
                </a:cxn>
              </a:cxnLst>
              <a:rect l="l" t="t" r="r" b="b"/>
              <a:pathLst>
                <a:path w="72277" h="22239">
                  <a:moveTo>
                    <a:pt x="0" y="0"/>
                  </a:moveTo>
                  <a:lnTo>
                    <a:pt x="72277" y="0"/>
                  </a:lnTo>
                  <a:lnTo>
                    <a:pt x="72277" y="22239"/>
                  </a:lnTo>
                  <a:lnTo>
                    <a:pt x="0" y="2223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183" name="Freeform: Shape 182">
              <a:extLst>
                <a:ext uri="{FF2B5EF4-FFF2-40B4-BE49-F238E27FC236}">
                  <a16:creationId xmlns:a16="http://schemas.microsoft.com/office/drawing/2014/main" id="{9403E108-AD01-4E51-8D54-F83BE66F67DD}"/>
                </a:ext>
              </a:extLst>
            </p:cNvPr>
            <p:cNvSpPr/>
            <p:nvPr/>
          </p:nvSpPr>
          <p:spPr>
            <a:xfrm>
              <a:off x="2744403" y="1957381"/>
              <a:ext cx="95051" cy="10005"/>
            </a:xfrm>
            <a:custGeom>
              <a:avLst/>
              <a:gdLst>
                <a:gd name="connsiteX0" fmla="*/ 0 w 211271"/>
                <a:gd name="connsiteY0" fmla="*/ 0 h 22239"/>
                <a:gd name="connsiteX1" fmla="*/ 211272 w 211271"/>
                <a:gd name="connsiteY1" fmla="*/ 0 h 22239"/>
                <a:gd name="connsiteX2" fmla="*/ 211272 w 211271"/>
                <a:gd name="connsiteY2" fmla="*/ 22239 h 22239"/>
                <a:gd name="connsiteX3" fmla="*/ 0 w 211271"/>
                <a:gd name="connsiteY3" fmla="*/ 22239 h 22239"/>
              </a:gdLst>
              <a:ahLst/>
              <a:cxnLst>
                <a:cxn ang="0">
                  <a:pos x="connsiteX0" y="connsiteY0"/>
                </a:cxn>
                <a:cxn ang="0">
                  <a:pos x="connsiteX1" y="connsiteY1"/>
                </a:cxn>
                <a:cxn ang="0">
                  <a:pos x="connsiteX2" y="connsiteY2"/>
                </a:cxn>
                <a:cxn ang="0">
                  <a:pos x="connsiteX3" y="connsiteY3"/>
                </a:cxn>
              </a:cxnLst>
              <a:rect l="l" t="t" r="r" b="b"/>
              <a:pathLst>
                <a:path w="211271" h="22239">
                  <a:moveTo>
                    <a:pt x="0" y="0"/>
                  </a:moveTo>
                  <a:lnTo>
                    <a:pt x="211272" y="0"/>
                  </a:lnTo>
                  <a:lnTo>
                    <a:pt x="211272" y="22239"/>
                  </a:lnTo>
                  <a:lnTo>
                    <a:pt x="0" y="2223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191" name="Freeform: Shape 190">
              <a:extLst>
                <a:ext uri="{FF2B5EF4-FFF2-40B4-BE49-F238E27FC236}">
                  <a16:creationId xmlns:a16="http://schemas.microsoft.com/office/drawing/2014/main" id="{7A6E0568-5C52-43F1-90B4-2F75384F12C9}"/>
                </a:ext>
              </a:extLst>
            </p:cNvPr>
            <p:cNvSpPr/>
            <p:nvPr/>
          </p:nvSpPr>
          <p:spPr>
            <a:xfrm>
              <a:off x="2744403" y="1977392"/>
              <a:ext cx="95051" cy="10005"/>
            </a:xfrm>
            <a:custGeom>
              <a:avLst/>
              <a:gdLst>
                <a:gd name="connsiteX0" fmla="*/ 0 w 211271"/>
                <a:gd name="connsiteY0" fmla="*/ 0 h 22239"/>
                <a:gd name="connsiteX1" fmla="*/ 211272 w 211271"/>
                <a:gd name="connsiteY1" fmla="*/ 0 h 22239"/>
                <a:gd name="connsiteX2" fmla="*/ 211272 w 211271"/>
                <a:gd name="connsiteY2" fmla="*/ 22239 h 22239"/>
                <a:gd name="connsiteX3" fmla="*/ 0 w 211271"/>
                <a:gd name="connsiteY3" fmla="*/ 22239 h 22239"/>
              </a:gdLst>
              <a:ahLst/>
              <a:cxnLst>
                <a:cxn ang="0">
                  <a:pos x="connsiteX0" y="connsiteY0"/>
                </a:cxn>
                <a:cxn ang="0">
                  <a:pos x="connsiteX1" y="connsiteY1"/>
                </a:cxn>
                <a:cxn ang="0">
                  <a:pos x="connsiteX2" y="connsiteY2"/>
                </a:cxn>
                <a:cxn ang="0">
                  <a:pos x="connsiteX3" y="connsiteY3"/>
                </a:cxn>
              </a:cxnLst>
              <a:rect l="l" t="t" r="r" b="b"/>
              <a:pathLst>
                <a:path w="211271" h="22239">
                  <a:moveTo>
                    <a:pt x="0" y="0"/>
                  </a:moveTo>
                  <a:lnTo>
                    <a:pt x="211272" y="0"/>
                  </a:lnTo>
                  <a:lnTo>
                    <a:pt x="211272" y="22239"/>
                  </a:lnTo>
                  <a:lnTo>
                    <a:pt x="0" y="2223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192" name="Freeform: Shape 191">
              <a:extLst>
                <a:ext uri="{FF2B5EF4-FFF2-40B4-BE49-F238E27FC236}">
                  <a16:creationId xmlns:a16="http://schemas.microsoft.com/office/drawing/2014/main" id="{95280957-4F60-440E-AC08-88B67594679C}"/>
                </a:ext>
              </a:extLst>
            </p:cNvPr>
            <p:cNvSpPr/>
            <p:nvPr/>
          </p:nvSpPr>
          <p:spPr>
            <a:xfrm>
              <a:off x="2744403" y="1997402"/>
              <a:ext cx="95051" cy="10005"/>
            </a:xfrm>
            <a:custGeom>
              <a:avLst/>
              <a:gdLst>
                <a:gd name="connsiteX0" fmla="*/ 0 w 211271"/>
                <a:gd name="connsiteY0" fmla="*/ 0 h 22239"/>
                <a:gd name="connsiteX1" fmla="*/ 211272 w 211271"/>
                <a:gd name="connsiteY1" fmla="*/ 0 h 22239"/>
                <a:gd name="connsiteX2" fmla="*/ 211272 w 211271"/>
                <a:gd name="connsiteY2" fmla="*/ 22239 h 22239"/>
                <a:gd name="connsiteX3" fmla="*/ 0 w 211271"/>
                <a:gd name="connsiteY3" fmla="*/ 22239 h 22239"/>
              </a:gdLst>
              <a:ahLst/>
              <a:cxnLst>
                <a:cxn ang="0">
                  <a:pos x="connsiteX0" y="connsiteY0"/>
                </a:cxn>
                <a:cxn ang="0">
                  <a:pos x="connsiteX1" y="connsiteY1"/>
                </a:cxn>
                <a:cxn ang="0">
                  <a:pos x="connsiteX2" y="connsiteY2"/>
                </a:cxn>
                <a:cxn ang="0">
                  <a:pos x="connsiteX3" y="connsiteY3"/>
                </a:cxn>
              </a:cxnLst>
              <a:rect l="l" t="t" r="r" b="b"/>
              <a:pathLst>
                <a:path w="211271" h="22239">
                  <a:moveTo>
                    <a:pt x="0" y="0"/>
                  </a:moveTo>
                  <a:lnTo>
                    <a:pt x="211272" y="0"/>
                  </a:lnTo>
                  <a:lnTo>
                    <a:pt x="211272" y="22239"/>
                  </a:lnTo>
                  <a:lnTo>
                    <a:pt x="0" y="2223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4" name="Graphic 3">
            <a:extLst>
              <a:ext uri="{FF2B5EF4-FFF2-40B4-BE49-F238E27FC236}">
                <a16:creationId xmlns:a16="http://schemas.microsoft.com/office/drawing/2014/main" id="{B4B5378F-90AC-478B-A992-9D43485A2BCE}"/>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1308" y="6150220"/>
            <a:ext cx="365762" cy="365760"/>
          </a:xfrm>
          <a:prstGeom prst="rect">
            <a:avLst/>
          </a:prstGeom>
        </p:spPr>
      </p:pic>
      <p:pic>
        <p:nvPicPr>
          <p:cNvPr id="14" name="Graphic 13">
            <a:extLst>
              <a:ext uri="{FF2B5EF4-FFF2-40B4-BE49-F238E27FC236}">
                <a16:creationId xmlns:a16="http://schemas.microsoft.com/office/drawing/2014/main" id="{B6F86746-E2C7-4F4F-A08E-3550CEFD93E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487974" y="6093206"/>
            <a:ext cx="434674" cy="434674"/>
          </a:xfrm>
          <a:prstGeom prst="rect">
            <a:avLst/>
          </a:prstGeom>
        </p:spPr>
      </p:pic>
      <p:grpSp>
        <p:nvGrpSpPr>
          <p:cNvPr id="16" name="Group 15">
            <a:extLst>
              <a:ext uri="{FF2B5EF4-FFF2-40B4-BE49-F238E27FC236}">
                <a16:creationId xmlns:a16="http://schemas.microsoft.com/office/drawing/2014/main" id="{AD1D8553-681B-41C8-BCAC-1106925EAEA5}"/>
              </a:ext>
              <a:ext uri="{C183D7F6-B498-43B3-948B-1728B52AA6E4}">
                <adec:decorative xmlns:adec="http://schemas.microsoft.com/office/drawing/2017/decorative" val="1"/>
              </a:ext>
            </a:extLst>
          </p:cNvPr>
          <p:cNvGrpSpPr/>
          <p:nvPr/>
        </p:nvGrpSpPr>
        <p:grpSpPr>
          <a:xfrm>
            <a:off x="4214175" y="1933117"/>
            <a:ext cx="2377128" cy="1421318"/>
            <a:chOff x="2613975" y="1933117"/>
            <a:chExt cx="2377128" cy="1421318"/>
          </a:xfrm>
        </p:grpSpPr>
        <p:sp>
          <p:nvSpPr>
            <p:cNvPr id="203" name="Rectangle 202">
              <a:extLst>
                <a:ext uri="{FF2B5EF4-FFF2-40B4-BE49-F238E27FC236}">
                  <a16:creationId xmlns:a16="http://schemas.microsoft.com/office/drawing/2014/main" id="{319740DB-DEC8-41C4-AE5E-C76A88A7BC42}"/>
                </a:ext>
              </a:extLst>
            </p:cNvPr>
            <p:cNvSpPr/>
            <p:nvPr/>
          </p:nvSpPr>
          <p:spPr bwMode="auto">
            <a:xfrm>
              <a:off x="2787650" y="1948214"/>
              <a:ext cx="2203453" cy="317155"/>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146304" rIns="182880" bIns="146304"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a:ln>
                    <a:noFill/>
                  </a:ln>
                  <a:solidFill>
                    <a:srgbClr val="FFFFFF"/>
                  </a:solidFill>
                  <a:effectLst/>
                  <a:uLnTx/>
                  <a:uFillTx/>
                  <a:latin typeface="Segoe UI Semibold"/>
                  <a:ea typeface="+mn-ea"/>
                  <a:cs typeface="+mn-cs"/>
                </a:rPr>
                <a:t>AI</a:t>
              </a:r>
            </a:p>
          </p:txBody>
        </p:sp>
        <p:sp>
          <p:nvSpPr>
            <p:cNvPr id="204" name="Rectangle 203">
              <a:extLst>
                <a:ext uri="{FF2B5EF4-FFF2-40B4-BE49-F238E27FC236}">
                  <a16:creationId xmlns:a16="http://schemas.microsoft.com/office/drawing/2014/main" id="{97113327-2BFC-4B04-8756-82B2D54B9DEC}"/>
                </a:ext>
              </a:extLst>
            </p:cNvPr>
            <p:cNvSpPr/>
            <p:nvPr/>
          </p:nvSpPr>
          <p:spPr bwMode="auto">
            <a:xfrm>
              <a:off x="3164052" y="2373247"/>
              <a:ext cx="1701639" cy="98118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Key details are stored in </a:t>
              </a:r>
              <a:r>
                <a:rPr kumimoji="0" lang="en-US" sz="1200" b="0" i="0" u="none" strike="noStrike" kern="1200" cap="none" spc="0" normalizeH="0" baseline="0" noProof="0">
                  <a:ln>
                    <a:noFill/>
                  </a:ln>
                  <a:solidFill>
                    <a:srgbClr val="0078D4"/>
                  </a:solidFill>
                  <a:effectLst/>
                  <a:uLnTx/>
                  <a:uFillTx/>
                  <a:latin typeface="Segoe UI Semibold"/>
                  <a:ea typeface="Segoe UI" pitchFamily="34" charset="0"/>
                  <a:cs typeface="Segoe UI" pitchFamily="34" charset="0"/>
                </a:rPr>
                <a:t>Dataverse</a:t>
              </a:r>
              <a:r>
                <a:rPr kumimoji="0" lang="en-US" sz="12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 along with AI confidence data</a:t>
              </a:r>
            </a:p>
          </p:txBody>
        </p:sp>
        <p:sp>
          <p:nvSpPr>
            <p:cNvPr id="205" name="Oval 204">
              <a:extLst>
                <a:ext uri="{FF2B5EF4-FFF2-40B4-BE49-F238E27FC236}">
                  <a16:creationId xmlns:a16="http://schemas.microsoft.com/office/drawing/2014/main" id="{B3C82EC6-0B80-4875-8E57-ABB36D0C94BB}"/>
                </a:ext>
              </a:extLst>
            </p:cNvPr>
            <p:cNvSpPr/>
            <p:nvPr/>
          </p:nvSpPr>
          <p:spPr bwMode="auto">
            <a:xfrm>
              <a:off x="2636795" y="2184171"/>
              <a:ext cx="301711" cy="301711"/>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274320" rIns="182880" bIns="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sym typeface="Wingdings" panose="05000000000000000000" pitchFamily="2" charset="2"/>
                </a:rPr>
                <a:t></a:t>
              </a:r>
              <a:endParaRPr kumimoji="0" lang="en-IN"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06" name="Oval 205">
              <a:extLst>
                <a:ext uri="{FF2B5EF4-FFF2-40B4-BE49-F238E27FC236}">
                  <a16:creationId xmlns:a16="http://schemas.microsoft.com/office/drawing/2014/main" id="{CED99E97-BCB0-4834-80F9-B6D8DD360597}"/>
                </a:ext>
              </a:extLst>
            </p:cNvPr>
            <p:cNvSpPr/>
            <p:nvPr/>
          </p:nvSpPr>
          <p:spPr bwMode="auto">
            <a:xfrm>
              <a:off x="2613975" y="1933117"/>
              <a:ext cx="347350" cy="347348"/>
            </a:xfrm>
            <a:prstGeom prst="ellipse">
              <a:avLst/>
            </a:prstGeom>
            <a:solidFill>
              <a:schemeClr val="bg1"/>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nvGrpSpPr>
            <p:cNvPr id="207" name="Group 206">
              <a:extLst>
                <a:ext uri="{FF2B5EF4-FFF2-40B4-BE49-F238E27FC236}">
                  <a16:creationId xmlns:a16="http://schemas.microsoft.com/office/drawing/2014/main" id="{F546BD91-2D96-4B20-B84A-7BC75CCFA72B}"/>
                </a:ext>
              </a:extLst>
            </p:cNvPr>
            <p:cNvGrpSpPr/>
            <p:nvPr/>
          </p:nvGrpSpPr>
          <p:grpSpPr>
            <a:xfrm>
              <a:off x="2685250" y="2029886"/>
              <a:ext cx="223848" cy="153810"/>
              <a:chOff x="2763331" y="3983880"/>
              <a:chExt cx="453121" cy="311347"/>
            </a:xfrm>
          </p:grpSpPr>
          <p:sp>
            <p:nvSpPr>
              <p:cNvPr id="208" name="Freeform: Shape 207">
                <a:extLst>
                  <a:ext uri="{FF2B5EF4-FFF2-40B4-BE49-F238E27FC236}">
                    <a16:creationId xmlns:a16="http://schemas.microsoft.com/office/drawing/2014/main" id="{4DBFF5FC-95ED-488E-B069-1AA4E5F0DB58}"/>
                  </a:ext>
                </a:extLst>
              </p:cNvPr>
              <p:cNvSpPr/>
              <p:nvPr/>
            </p:nvSpPr>
            <p:spPr>
              <a:xfrm>
                <a:off x="2896766" y="3983880"/>
                <a:ext cx="186252" cy="311347"/>
              </a:xfrm>
              <a:custGeom>
                <a:avLst/>
                <a:gdLst>
                  <a:gd name="connsiteX0" fmla="*/ 69497 w 186252"/>
                  <a:gd name="connsiteY0" fmla="*/ 0 h 311347"/>
                  <a:gd name="connsiteX1" fmla="*/ 0 w 186252"/>
                  <a:gd name="connsiteY1" fmla="*/ 0 h 311347"/>
                  <a:gd name="connsiteX2" fmla="*/ 116755 w 186252"/>
                  <a:gd name="connsiteY2" fmla="*/ 155674 h 311347"/>
                  <a:gd name="connsiteX3" fmla="*/ 0 w 186252"/>
                  <a:gd name="connsiteY3" fmla="*/ 311348 h 311347"/>
                  <a:gd name="connsiteX4" fmla="*/ 69497 w 186252"/>
                  <a:gd name="connsiteY4" fmla="*/ 311348 h 311347"/>
                  <a:gd name="connsiteX5" fmla="*/ 186253 w 186252"/>
                  <a:gd name="connsiteY5" fmla="*/ 155674 h 311347"/>
                  <a:gd name="connsiteX6" fmla="*/ 69497 w 186252"/>
                  <a:gd name="connsiteY6" fmla="*/ 0 h 311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252" h="311347">
                    <a:moveTo>
                      <a:pt x="69497" y="0"/>
                    </a:moveTo>
                    <a:lnTo>
                      <a:pt x="0" y="0"/>
                    </a:lnTo>
                    <a:lnTo>
                      <a:pt x="116755" y="155674"/>
                    </a:lnTo>
                    <a:lnTo>
                      <a:pt x="0" y="311348"/>
                    </a:lnTo>
                    <a:lnTo>
                      <a:pt x="69497" y="311348"/>
                    </a:lnTo>
                    <a:lnTo>
                      <a:pt x="186253" y="155674"/>
                    </a:lnTo>
                    <a:lnTo>
                      <a:pt x="69497" y="0"/>
                    </a:lnTo>
                    <a:close/>
                  </a:path>
                </a:pathLst>
              </a:custGeom>
              <a:solidFill>
                <a:schemeClr val="tx1"/>
              </a:solid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09" name="Freeform: Shape 208">
                <a:extLst>
                  <a:ext uri="{FF2B5EF4-FFF2-40B4-BE49-F238E27FC236}">
                    <a16:creationId xmlns:a16="http://schemas.microsoft.com/office/drawing/2014/main" id="{10430ACC-2AD9-47BF-9AFF-F3298E006989}"/>
                  </a:ext>
                </a:extLst>
              </p:cNvPr>
              <p:cNvSpPr/>
              <p:nvPr/>
            </p:nvSpPr>
            <p:spPr>
              <a:xfrm>
                <a:off x="2763331" y="3983880"/>
                <a:ext cx="186252" cy="311347"/>
              </a:xfrm>
              <a:custGeom>
                <a:avLst/>
                <a:gdLst>
                  <a:gd name="connsiteX0" fmla="*/ 0 w 186252"/>
                  <a:gd name="connsiteY0" fmla="*/ 311348 h 311347"/>
                  <a:gd name="connsiteX1" fmla="*/ 69497 w 186252"/>
                  <a:gd name="connsiteY1" fmla="*/ 311348 h 311347"/>
                  <a:gd name="connsiteX2" fmla="*/ 186253 w 186252"/>
                  <a:gd name="connsiteY2" fmla="*/ 155674 h 311347"/>
                  <a:gd name="connsiteX3" fmla="*/ 69497 w 186252"/>
                  <a:gd name="connsiteY3" fmla="*/ 0 h 311347"/>
                  <a:gd name="connsiteX4" fmla="*/ 0 w 186252"/>
                  <a:gd name="connsiteY4" fmla="*/ 0 h 311347"/>
                  <a:gd name="connsiteX5" fmla="*/ 116755 w 186252"/>
                  <a:gd name="connsiteY5" fmla="*/ 155674 h 311347"/>
                  <a:gd name="connsiteX6" fmla="*/ 0 w 186252"/>
                  <a:gd name="connsiteY6" fmla="*/ 311348 h 311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252" h="311347">
                    <a:moveTo>
                      <a:pt x="0" y="311348"/>
                    </a:moveTo>
                    <a:lnTo>
                      <a:pt x="69497" y="311348"/>
                    </a:lnTo>
                    <a:lnTo>
                      <a:pt x="186253" y="155674"/>
                    </a:lnTo>
                    <a:lnTo>
                      <a:pt x="69497" y="0"/>
                    </a:lnTo>
                    <a:lnTo>
                      <a:pt x="0" y="0"/>
                    </a:lnTo>
                    <a:lnTo>
                      <a:pt x="116755" y="155674"/>
                    </a:lnTo>
                    <a:lnTo>
                      <a:pt x="0" y="311348"/>
                    </a:lnTo>
                    <a:close/>
                  </a:path>
                </a:pathLst>
              </a:custGeom>
              <a:solidFill>
                <a:schemeClr val="tx1"/>
              </a:solid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10" name="Freeform: Shape 209">
                <a:extLst>
                  <a:ext uri="{FF2B5EF4-FFF2-40B4-BE49-F238E27FC236}">
                    <a16:creationId xmlns:a16="http://schemas.microsoft.com/office/drawing/2014/main" id="{A7521164-3688-4695-B71F-4624E2078020}"/>
                  </a:ext>
                </a:extLst>
              </p:cNvPr>
              <p:cNvSpPr/>
              <p:nvPr/>
            </p:nvSpPr>
            <p:spPr>
              <a:xfrm>
                <a:off x="3030200" y="3983880"/>
                <a:ext cx="186252" cy="311347"/>
              </a:xfrm>
              <a:custGeom>
                <a:avLst/>
                <a:gdLst>
                  <a:gd name="connsiteX0" fmla="*/ 69497 w 186252"/>
                  <a:gd name="connsiteY0" fmla="*/ 0 h 311347"/>
                  <a:gd name="connsiteX1" fmla="*/ 0 w 186252"/>
                  <a:gd name="connsiteY1" fmla="*/ 0 h 311347"/>
                  <a:gd name="connsiteX2" fmla="*/ 116755 w 186252"/>
                  <a:gd name="connsiteY2" fmla="*/ 155674 h 311347"/>
                  <a:gd name="connsiteX3" fmla="*/ 0 w 186252"/>
                  <a:gd name="connsiteY3" fmla="*/ 311348 h 311347"/>
                  <a:gd name="connsiteX4" fmla="*/ 69497 w 186252"/>
                  <a:gd name="connsiteY4" fmla="*/ 311348 h 311347"/>
                  <a:gd name="connsiteX5" fmla="*/ 186253 w 186252"/>
                  <a:gd name="connsiteY5" fmla="*/ 155674 h 311347"/>
                  <a:gd name="connsiteX6" fmla="*/ 69497 w 186252"/>
                  <a:gd name="connsiteY6" fmla="*/ 0 h 311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252" h="311347">
                    <a:moveTo>
                      <a:pt x="69497" y="0"/>
                    </a:moveTo>
                    <a:lnTo>
                      <a:pt x="0" y="0"/>
                    </a:lnTo>
                    <a:lnTo>
                      <a:pt x="116755" y="155674"/>
                    </a:lnTo>
                    <a:lnTo>
                      <a:pt x="0" y="311348"/>
                    </a:lnTo>
                    <a:lnTo>
                      <a:pt x="69497" y="311348"/>
                    </a:lnTo>
                    <a:lnTo>
                      <a:pt x="186253" y="155674"/>
                    </a:lnTo>
                    <a:lnTo>
                      <a:pt x="69497" y="0"/>
                    </a:lnTo>
                    <a:close/>
                  </a:path>
                </a:pathLst>
              </a:custGeom>
              <a:solidFill>
                <a:schemeClr val="tx1"/>
              </a:solid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grpSp>
      </p:grpSp>
      <p:pic>
        <p:nvPicPr>
          <p:cNvPr id="20" name="Graphic 19">
            <a:extLst>
              <a:ext uri="{FF2B5EF4-FFF2-40B4-BE49-F238E27FC236}">
                <a16:creationId xmlns:a16="http://schemas.microsoft.com/office/drawing/2014/main" id="{A70AD49B-06B5-4453-B1CC-91370766ECF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5866215" y="6087385"/>
            <a:ext cx="438912" cy="438912"/>
          </a:xfrm>
          <a:prstGeom prst="rect">
            <a:avLst/>
          </a:prstGeom>
        </p:spPr>
      </p:pic>
      <p:sp>
        <p:nvSpPr>
          <p:cNvPr id="212" name="Rectangle 211">
            <a:extLst>
              <a:ext uri="{FF2B5EF4-FFF2-40B4-BE49-F238E27FC236}">
                <a16:creationId xmlns:a16="http://schemas.microsoft.com/office/drawing/2014/main" id="{A3B7DC0A-523A-48B1-A8C9-A44F45A2EF3D}"/>
              </a:ext>
              <a:ext uri="{C183D7F6-B498-43B3-948B-1728B52AA6E4}">
                <adec:decorative xmlns:adec="http://schemas.microsoft.com/office/drawing/2017/decorative" val="1"/>
              </a:ext>
            </a:extLst>
          </p:cNvPr>
          <p:cNvSpPr/>
          <p:nvPr/>
        </p:nvSpPr>
        <p:spPr bwMode="auto">
          <a:xfrm>
            <a:off x="6594473" y="1948214"/>
            <a:ext cx="2203453" cy="317155"/>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146304" rIns="182880" bIns="146304"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a:ln>
                  <a:noFill/>
                </a:ln>
                <a:solidFill>
                  <a:srgbClr val="FFFFFF"/>
                </a:solidFill>
                <a:effectLst/>
                <a:uLnTx/>
                <a:uFillTx/>
                <a:latin typeface="Segoe UI Semibold"/>
                <a:ea typeface="+mn-ea"/>
                <a:cs typeface="+mn-cs"/>
              </a:rPr>
              <a:t>BPM</a:t>
            </a:r>
          </a:p>
        </p:txBody>
      </p:sp>
      <p:sp>
        <p:nvSpPr>
          <p:cNvPr id="213" name="Rectangle 212">
            <a:extLst>
              <a:ext uri="{FF2B5EF4-FFF2-40B4-BE49-F238E27FC236}">
                <a16:creationId xmlns:a16="http://schemas.microsoft.com/office/drawing/2014/main" id="{C0FC2F30-CD44-44F2-8C96-CEC1FB4E98D3}"/>
              </a:ext>
              <a:ext uri="{C183D7F6-B498-43B3-948B-1728B52AA6E4}">
                <adec:decorative xmlns:adec="http://schemas.microsoft.com/office/drawing/2017/decorative" val="1"/>
              </a:ext>
            </a:extLst>
          </p:cNvPr>
          <p:cNvSpPr/>
          <p:nvPr/>
        </p:nvSpPr>
        <p:spPr bwMode="auto">
          <a:xfrm>
            <a:off x="6970875" y="2373247"/>
            <a:ext cx="1701639" cy="98118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Validation </a:t>
            </a:r>
            <a:r>
              <a:rPr kumimoji="0" lang="en-US" sz="1200" b="0" i="0" u="none" strike="noStrike" kern="1200" cap="none" spc="0" normalizeH="0" baseline="0" noProof="0">
                <a:ln>
                  <a:noFill/>
                </a:ln>
                <a:solidFill>
                  <a:srgbClr val="0078D4"/>
                </a:solidFill>
                <a:effectLst/>
                <a:uLnTx/>
                <a:uFillTx/>
                <a:latin typeface="Segoe UI Semibold"/>
                <a:ea typeface="Segoe UI" pitchFamily="34" charset="0"/>
                <a:cs typeface="Segoe UI" pitchFamily="34" charset="0"/>
              </a:rPr>
              <a:t>Power App </a:t>
            </a:r>
            <a:r>
              <a:rPr kumimoji="0" lang="en-US" sz="12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allows humans to validate form extraction results and fix any errors</a:t>
            </a:r>
          </a:p>
        </p:txBody>
      </p:sp>
      <p:sp>
        <p:nvSpPr>
          <p:cNvPr id="214" name="Oval 213">
            <a:extLst>
              <a:ext uri="{FF2B5EF4-FFF2-40B4-BE49-F238E27FC236}">
                <a16:creationId xmlns:a16="http://schemas.microsoft.com/office/drawing/2014/main" id="{EB28CBFF-12D5-4D0C-A313-A87557BB1E3C}"/>
              </a:ext>
              <a:ext uri="{C183D7F6-B498-43B3-948B-1728B52AA6E4}">
                <adec:decorative xmlns:adec="http://schemas.microsoft.com/office/drawing/2017/decorative" val="1"/>
              </a:ext>
            </a:extLst>
          </p:cNvPr>
          <p:cNvSpPr/>
          <p:nvPr/>
        </p:nvSpPr>
        <p:spPr bwMode="auto">
          <a:xfrm rot="10800000">
            <a:off x="6443618" y="1723359"/>
            <a:ext cx="301711" cy="301711"/>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274320" rIns="182880" bIns="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sym typeface="Wingdings" panose="05000000000000000000" pitchFamily="2" charset="2"/>
              </a:rPr>
              <a:t></a:t>
            </a:r>
            <a:endParaRPr kumimoji="0" lang="en-IN"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15" name="Oval 214">
            <a:extLst>
              <a:ext uri="{FF2B5EF4-FFF2-40B4-BE49-F238E27FC236}">
                <a16:creationId xmlns:a16="http://schemas.microsoft.com/office/drawing/2014/main" id="{C3C7DAE6-715C-4BC0-8CCF-1B42325C20AA}"/>
              </a:ext>
              <a:ext uri="{C183D7F6-B498-43B3-948B-1728B52AA6E4}">
                <adec:decorative xmlns:adec="http://schemas.microsoft.com/office/drawing/2017/decorative" val="1"/>
              </a:ext>
            </a:extLst>
          </p:cNvPr>
          <p:cNvSpPr/>
          <p:nvPr/>
        </p:nvSpPr>
        <p:spPr bwMode="auto">
          <a:xfrm>
            <a:off x="6420798" y="1933117"/>
            <a:ext cx="347350" cy="347348"/>
          </a:xfrm>
          <a:prstGeom prst="ellipse">
            <a:avLst/>
          </a:prstGeom>
          <a:solidFill>
            <a:schemeClr val="bg1"/>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nvGrpSpPr>
          <p:cNvPr id="216" name="Graphic 9">
            <a:extLst>
              <a:ext uri="{FF2B5EF4-FFF2-40B4-BE49-F238E27FC236}">
                <a16:creationId xmlns:a16="http://schemas.microsoft.com/office/drawing/2014/main" id="{8589D858-BCFE-4BA6-8B09-7DF9EE305A70}"/>
              </a:ext>
              <a:ext uri="{C183D7F6-B498-43B3-948B-1728B52AA6E4}">
                <adec:decorative xmlns:adec="http://schemas.microsoft.com/office/drawing/2017/decorative" val="1"/>
              </a:ext>
            </a:extLst>
          </p:cNvPr>
          <p:cNvGrpSpPr/>
          <p:nvPr/>
        </p:nvGrpSpPr>
        <p:grpSpPr>
          <a:xfrm>
            <a:off x="6485051" y="1997369"/>
            <a:ext cx="218845" cy="218845"/>
            <a:chOff x="5857897" y="2348685"/>
            <a:chExt cx="533739" cy="533739"/>
          </a:xfrm>
          <a:solidFill>
            <a:schemeClr val="tx1"/>
          </a:solidFill>
        </p:grpSpPr>
        <p:sp>
          <p:nvSpPr>
            <p:cNvPr id="217" name="Freeform: Shape 216">
              <a:extLst>
                <a:ext uri="{FF2B5EF4-FFF2-40B4-BE49-F238E27FC236}">
                  <a16:creationId xmlns:a16="http://schemas.microsoft.com/office/drawing/2014/main" id="{5E1C549F-A8A2-4B5E-9643-E04027B333A2}"/>
                </a:ext>
              </a:extLst>
            </p:cNvPr>
            <p:cNvSpPr/>
            <p:nvPr/>
          </p:nvSpPr>
          <p:spPr>
            <a:xfrm>
              <a:off x="6049709" y="2509918"/>
              <a:ext cx="161233" cy="161233"/>
            </a:xfrm>
            <a:custGeom>
              <a:avLst/>
              <a:gdLst>
                <a:gd name="connsiteX0" fmla="*/ 0 w 161233"/>
                <a:gd name="connsiteY0" fmla="*/ 80617 h 161233"/>
                <a:gd name="connsiteX1" fmla="*/ 80617 w 161233"/>
                <a:gd name="connsiteY1" fmla="*/ 161234 h 161233"/>
                <a:gd name="connsiteX2" fmla="*/ 161234 w 161233"/>
                <a:gd name="connsiteY2" fmla="*/ 80617 h 161233"/>
                <a:gd name="connsiteX3" fmla="*/ 80617 w 161233"/>
                <a:gd name="connsiteY3" fmla="*/ 0 h 161233"/>
                <a:gd name="connsiteX4" fmla="*/ 0 w 161233"/>
                <a:gd name="connsiteY4" fmla="*/ 80617 h 161233"/>
                <a:gd name="connsiteX5" fmla="*/ 125651 w 161233"/>
                <a:gd name="connsiteY5" fmla="*/ 104524 h 161233"/>
                <a:gd name="connsiteX6" fmla="*/ 125651 w 161233"/>
                <a:gd name="connsiteY6" fmla="*/ 121759 h 161233"/>
                <a:gd name="connsiteX7" fmla="*/ 35027 w 161233"/>
                <a:gd name="connsiteY7" fmla="*/ 121759 h 161233"/>
                <a:gd name="connsiteX8" fmla="*/ 35027 w 161233"/>
                <a:gd name="connsiteY8" fmla="*/ 104524 h 161233"/>
                <a:gd name="connsiteX9" fmla="*/ 39474 w 161233"/>
                <a:gd name="connsiteY9" fmla="*/ 95628 h 161233"/>
                <a:gd name="connsiteX10" fmla="*/ 61714 w 161233"/>
                <a:gd name="connsiteY10" fmla="*/ 85065 h 161233"/>
                <a:gd name="connsiteX11" fmla="*/ 80617 w 161233"/>
                <a:gd name="connsiteY11" fmla="*/ 82285 h 161233"/>
                <a:gd name="connsiteX12" fmla="*/ 99520 w 161233"/>
                <a:gd name="connsiteY12" fmla="*/ 85065 h 161233"/>
                <a:gd name="connsiteX13" fmla="*/ 121759 w 161233"/>
                <a:gd name="connsiteY13" fmla="*/ 95628 h 161233"/>
                <a:gd name="connsiteX14" fmla="*/ 125651 w 161233"/>
                <a:gd name="connsiteY14" fmla="*/ 104524 h 161233"/>
                <a:gd name="connsiteX15" fmla="*/ 80617 w 161233"/>
                <a:gd name="connsiteY15" fmla="*/ 31135 h 161233"/>
                <a:gd name="connsiteX16" fmla="*/ 103412 w 161233"/>
                <a:gd name="connsiteY16" fmla="*/ 53930 h 161233"/>
                <a:gd name="connsiteX17" fmla="*/ 103412 w 161233"/>
                <a:gd name="connsiteY17" fmla="*/ 53930 h 161233"/>
                <a:gd name="connsiteX18" fmla="*/ 80617 w 161233"/>
                <a:gd name="connsiteY18" fmla="*/ 76725 h 161233"/>
                <a:gd name="connsiteX19" fmla="*/ 57822 w 161233"/>
                <a:gd name="connsiteY19" fmla="*/ 53930 h 161233"/>
                <a:gd name="connsiteX20" fmla="*/ 80617 w 161233"/>
                <a:gd name="connsiteY20" fmla="*/ 31135 h 161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1233" h="161233">
                  <a:moveTo>
                    <a:pt x="0" y="80617"/>
                  </a:moveTo>
                  <a:cubicBezTo>
                    <a:pt x="0" y="125095"/>
                    <a:pt x="36139" y="161234"/>
                    <a:pt x="80617" y="161234"/>
                  </a:cubicBezTo>
                  <a:cubicBezTo>
                    <a:pt x="125095" y="161234"/>
                    <a:pt x="161234" y="125095"/>
                    <a:pt x="161234" y="80617"/>
                  </a:cubicBezTo>
                  <a:cubicBezTo>
                    <a:pt x="161234" y="36139"/>
                    <a:pt x="125095" y="0"/>
                    <a:pt x="80617" y="0"/>
                  </a:cubicBezTo>
                  <a:cubicBezTo>
                    <a:pt x="36139" y="0"/>
                    <a:pt x="0" y="36139"/>
                    <a:pt x="0" y="80617"/>
                  </a:cubicBezTo>
                  <a:close/>
                  <a:moveTo>
                    <a:pt x="125651" y="104524"/>
                  </a:moveTo>
                  <a:lnTo>
                    <a:pt x="125651" y="121759"/>
                  </a:lnTo>
                  <a:lnTo>
                    <a:pt x="35027" y="121759"/>
                  </a:lnTo>
                  <a:lnTo>
                    <a:pt x="35027" y="104524"/>
                  </a:lnTo>
                  <a:cubicBezTo>
                    <a:pt x="35027" y="101188"/>
                    <a:pt x="36695" y="97852"/>
                    <a:pt x="39474" y="95628"/>
                  </a:cubicBezTo>
                  <a:cubicBezTo>
                    <a:pt x="46146" y="90624"/>
                    <a:pt x="53374" y="87289"/>
                    <a:pt x="61714" y="85065"/>
                  </a:cubicBezTo>
                  <a:cubicBezTo>
                    <a:pt x="67829" y="83397"/>
                    <a:pt x="73945" y="82285"/>
                    <a:pt x="80617" y="82285"/>
                  </a:cubicBezTo>
                  <a:cubicBezTo>
                    <a:pt x="86733" y="82285"/>
                    <a:pt x="93404" y="83397"/>
                    <a:pt x="99520" y="85065"/>
                  </a:cubicBezTo>
                  <a:cubicBezTo>
                    <a:pt x="107304" y="87289"/>
                    <a:pt x="115087" y="90624"/>
                    <a:pt x="121759" y="95628"/>
                  </a:cubicBezTo>
                  <a:cubicBezTo>
                    <a:pt x="123983" y="97852"/>
                    <a:pt x="125651" y="101188"/>
                    <a:pt x="125651" y="104524"/>
                  </a:cubicBezTo>
                  <a:close/>
                  <a:moveTo>
                    <a:pt x="80617" y="31135"/>
                  </a:moveTo>
                  <a:cubicBezTo>
                    <a:pt x="92848" y="31135"/>
                    <a:pt x="103412" y="41142"/>
                    <a:pt x="103412" y="53930"/>
                  </a:cubicBezTo>
                  <a:lnTo>
                    <a:pt x="103412" y="53930"/>
                  </a:lnTo>
                  <a:cubicBezTo>
                    <a:pt x="103412" y="66161"/>
                    <a:pt x="93404" y="76725"/>
                    <a:pt x="80617" y="76725"/>
                  </a:cubicBezTo>
                  <a:cubicBezTo>
                    <a:pt x="68385" y="76725"/>
                    <a:pt x="57822" y="66717"/>
                    <a:pt x="57822" y="53930"/>
                  </a:cubicBezTo>
                  <a:cubicBezTo>
                    <a:pt x="57822" y="41142"/>
                    <a:pt x="67829" y="31135"/>
                    <a:pt x="80617" y="31135"/>
                  </a:cubicBez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18" name="Freeform: Shape 217">
              <a:extLst>
                <a:ext uri="{FF2B5EF4-FFF2-40B4-BE49-F238E27FC236}">
                  <a16:creationId xmlns:a16="http://schemas.microsoft.com/office/drawing/2014/main" id="{9999F5F6-E8B7-4705-A064-45C89AD806BF}"/>
                </a:ext>
              </a:extLst>
            </p:cNvPr>
            <p:cNvSpPr/>
            <p:nvPr/>
          </p:nvSpPr>
          <p:spPr>
            <a:xfrm>
              <a:off x="6363837" y="2526598"/>
              <a:ext cx="16679" cy="16679"/>
            </a:xfrm>
            <a:custGeom>
              <a:avLst/>
              <a:gdLst>
                <a:gd name="connsiteX0" fmla="*/ 0 w 16679"/>
                <a:gd name="connsiteY0" fmla="*/ 0 h 16679"/>
                <a:gd name="connsiteX1" fmla="*/ 16679 w 16679"/>
                <a:gd name="connsiteY1" fmla="*/ 0 h 16679"/>
                <a:gd name="connsiteX2" fmla="*/ 16679 w 16679"/>
                <a:gd name="connsiteY2" fmla="*/ 16679 h 16679"/>
                <a:gd name="connsiteX3" fmla="*/ 0 w 16679"/>
                <a:gd name="connsiteY3" fmla="*/ 16679 h 16679"/>
              </a:gdLst>
              <a:ahLst/>
              <a:cxnLst>
                <a:cxn ang="0">
                  <a:pos x="connsiteX0" y="connsiteY0"/>
                </a:cxn>
                <a:cxn ang="0">
                  <a:pos x="connsiteX1" y="connsiteY1"/>
                </a:cxn>
                <a:cxn ang="0">
                  <a:pos x="connsiteX2" y="connsiteY2"/>
                </a:cxn>
                <a:cxn ang="0">
                  <a:pos x="connsiteX3" y="connsiteY3"/>
                </a:cxn>
              </a:cxnLst>
              <a:rect l="l" t="t" r="r" b="b"/>
              <a:pathLst>
                <a:path w="16679" h="16679">
                  <a:moveTo>
                    <a:pt x="0" y="0"/>
                  </a:moveTo>
                  <a:lnTo>
                    <a:pt x="16679" y="0"/>
                  </a:lnTo>
                  <a:lnTo>
                    <a:pt x="16679" y="16679"/>
                  </a:lnTo>
                  <a:lnTo>
                    <a:pt x="0" y="1667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19" name="Freeform: Shape 218">
              <a:extLst>
                <a:ext uri="{FF2B5EF4-FFF2-40B4-BE49-F238E27FC236}">
                  <a16:creationId xmlns:a16="http://schemas.microsoft.com/office/drawing/2014/main" id="{A7FA4099-B74A-44EF-B79E-E365505B7744}"/>
                </a:ext>
              </a:extLst>
            </p:cNvPr>
            <p:cNvSpPr/>
            <p:nvPr/>
          </p:nvSpPr>
          <p:spPr>
            <a:xfrm>
              <a:off x="6268764" y="2526598"/>
              <a:ext cx="16123" cy="16679"/>
            </a:xfrm>
            <a:custGeom>
              <a:avLst/>
              <a:gdLst>
                <a:gd name="connsiteX0" fmla="*/ 0 w 16123"/>
                <a:gd name="connsiteY0" fmla="*/ 0 h 16679"/>
                <a:gd name="connsiteX1" fmla="*/ 16123 w 16123"/>
                <a:gd name="connsiteY1" fmla="*/ 0 h 16679"/>
                <a:gd name="connsiteX2" fmla="*/ 16123 w 16123"/>
                <a:gd name="connsiteY2" fmla="*/ 16679 h 16679"/>
                <a:gd name="connsiteX3" fmla="*/ 0 w 16123"/>
                <a:gd name="connsiteY3" fmla="*/ 16679 h 16679"/>
              </a:gdLst>
              <a:ahLst/>
              <a:cxnLst>
                <a:cxn ang="0">
                  <a:pos x="connsiteX0" y="connsiteY0"/>
                </a:cxn>
                <a:cxn ang="0">
                  <a:pos x="connsiteX1" y="connsiteY1"/>
                </a:cxn>
                <a:cxn ang="0">
                  <a:pos x="connsiteX2" y="connsiteY2"/>
                </a:cxn>
                <a:cxn ang="0">
                  <a:pos x="connsiteX3" y="connsiteY3"/>
                </a:cxn>
              </a:cxnLst>
              <a:rect l="l" t="t" r="r" b="b"/>
              <a:pathLst>
                <a:path w="16123" h="16679">
                  <a:moveTo>
                    <a:pt x="0" y="0"/>
                  </a:moveTo>
                  <a:lnTo>
                    <a:pt x="16123" y="0"/>
                  </a:lnTo>
                  <a:lnTo>
                    <a:pt x="16123" y="16679"/>
                  </a:lnTo>
                  <a:lnTo>
                    <a:pt x="0" y="1667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20" name="Freeform: Shape 219">
              <a:extLst>
                <a:ext uri="{FF2B5EF4-FFF2-40B4-BE49-F238E27FC236}">
                  <a16:creationId xmlns:a16="http://schemas.microsoft.com/office/drawing/2014/main" id="{F7016D84-40F8-4861-8E87-FBB0A43D1065}"/>
                </a:ext>
              </a:extLst>
            </p:cNvPr>
            <p:cNvSpPr/>
            <p:nvPr/>
          </p:nvSpPr>
          <p:spPr>
            <a:xfrm>
              <a:off x="6301011" y="2526598"/>
              <a:ext cx="16123" cy="16679"/>
            </a:xfrm>
            <a:custGeom>
              <a:avLst/>
              <a:gdLst>
                <a:gd name="connsiteX0" fmla="*/ 0 w 16123"/>
                <a:gd name="connsiteY0" fmla="*/ 0 h 16679"/>
                <a:gd name="connsiteX1" fmla="*/ 16123 w 16123"/>
                <a:gd name="connsiteY1" fmla="*/ 0 h 16679"/>
                <a:gd name="connsiteX2" fmla="*/ 16123 w 16123"/>
                <a:gd name="connsiteY2" fmla="*/ 16679 h 16679"/>
                <a:gd name="connsiteX3" fmla="*/ 0 w 16123"/>
                <a:gd name="connsiteY3" fmla="*/ 16679 h 16679"/>
              </a:gdLst>
              <a:ahLst/>
              <a:cxnLst>
                <a:cxn ang="0">
                  <a:pos x="connsiteX0" y="connsiteY0"/>
                </a:cxn>
                <a:cxn ang="0">
                  <a:pos x="connsiteX1" y="connsiteY1"/>
                </a:cxn>
                <a:cxn ang="0">
                  <a:pos x="connsiteX2" y="connsiteY2"/>
                </a:cxn>
                <a:cxn ang="0">
                  <a:pos x="connsiteX3" y="connsiteY3"/>
                </a:cxn>
              </a:cxnLst>
              <a:rect l="l" t="t" r="r" b="b"/>
              <a:pathLst>
                <a:path w="16123" h="16679">
                  <a:moveTo>
                    <a:pt x="0" y="0"/>
                  </a:moveTo>
                  <a:lnTo>
                    <a:pt x="16123" y="0"/>
                  </a:lnTo>
                  <a:lnTo>
                    <a:pt x="16123" y="16679"/>
                  </a:lnTo>
                  <a:lnTo>
                    <a:pt x="0" y="1667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21" name="Freeform: Shape 220">
              <a:extLst>
                <a:ext uri="{FF2B5EF4-FFF2-40B4-BE49-F238E27FC236}">
                  <a16:creationId xmlns:a16="http://schemas.microsoft.com/office/drawing/2014/main" id="{F91CF99B-1AB4-41D7-B013-9D970A258AA7}"/>
                </a:ext>
              </a:extLst>
            </p:cNvPr>
            <p:cNvSpPr/>
            <p:nvPr/>
          </p:nvSpPr>
          <p:spPr>
            <a:xfrm>
              <a:off x="6332702" y="2526598"/>
              <a:ext cx="16123" cy="16679"/>
            </a:xfrm>
            <a:custGeom>
              <a:avLst/>
              <a:gdLst>
                <a:gd name="connsiteX0" fmla="*/ 0 w 16123"/>
                <a:gd name="connsiteY0" fmla="*/ 0 h 16679"/>
                <a:gd name="connsiteX1" fmla="*/ 16123 w 16123"/>
                <a:gd name="connsiteY1" fmla="*/ 0 h 16679"/>
                <a:gd name="connsiteX2" fmla="*/ 16123 w 16123"/>
                <a:gd name="connsiteY2" fmla="*/ 16679 h 16679"/>
                <a:gd name="connsiteX3" fmla="*/ 0 w 16123"/>
                <a:gd name="connsiteY3" fmla="*/ 16679 h 16679"/>
              </a:gdLst>
              <a:ahLst/>
              <a:cxnLst>
                <a:cxn ang="0">
                  <a:pos x="connsiteX0" y="connsiteY0"/>
                </a:cxn>
                <a:cxn ang="0">
                  <a:pos x="connsiteX1" y="connsiteY1"/>
                </a:cxn>
                <a:cxn ang="0">
                  <a:pos x="connsiteX2" y="connsiteY2"/>
                </a:cxn>
                <a:cxn ang="0">
                  <a:pos x="connsiteX3" y="connsiteY3"/>
                </a:cxn>
              </a:cxnLst>
              <a:rect l="l" t="t" r="r" b="b"/>
              <a:pathLst>
                <a:path w="16123" h="16679">
                  <a:moveTo>
                    <a:pt x="0" y="0"/>
                  </a:moveTo>
                  <a:lnTo>
                    <a:pt x="16123" y="0"/>
                  </a:lnTo>
                  <a:lnTo>
                    <a:pt x="16123" y="16679"/>
                  </a:lnTo>
                  <a:lnTo>
                    <a:pt x="0" y="1667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22" name="Freeform: Shape 221">
              <a:extLst>
                <a:ext uri="{FF2B5EF4-FFF2-40B4-BE49-F238E27FC236}">
                  <a16:creationId xmlns:a16="http://schemas.microsoft.com/office/drawing/2014/main" id="{57C4CC57-E8E0-4979-B2CA-7E04F05E9D5F}"/>
                </a:ext>
              </a:extLst>
            </p:cNvPr>
            <p:cNvSpPr/>
            <p:nvPr/>
          </p:nvSpPr>
          <p:spPr>
            <a:xfrm>
              <a:off x="6235962" y="2526598"/>
              <a:ext cx="16679" cy="16679"/>
            </a:xfrm>
            <a:custGeom>
              <a:avLst/>
              <a:gdLst>
                <a:gd name="connsiteX0" fmla="*/ 0 w 16679"/>
                <a:gd name="connsiteY0" fmla="*/ 0 h 16679"/>
                <a:gd name="connsiteX1" fmla="*/ 16679 w 16679"/>
                <a:gd name="connsiteY1" fmla="*/ 0 h 16679"/>
                <a:gd name="connsiteX2" fmla="*/ 16679 w 16679"/>
                <a:gd name="connsiteY2" fmla="*/ 16679 h 16679"/>
                <a:gd name="connsiteX3" fmla="*/ 0 w 16679"/>
                <a:gd name="connsiteY3" fmla="*/ 16679 h 16679"/>
              </a:gdLst>
              <a:ahLst/>
              <a:cxnLst>
                <a:cxn ang="0">
                  <a:pos x="connsiteX0" y="connsiteY0"/>
                </a:cxn>
                <a:cxn ang="0">
                  <a:pos x="connsiteX1" y="connsiteY1"/>
                </a:cxn>
                <a:cxn ang="0">
                  <a:pos x="connsiteX2" y="connsiteY2"/>
                </a:cxn>
                <a:cxn ang="0">
                  <a:pos x="connsiteX3" y="connsiteY3"/>
                </a:cxn>
              </a:cxnLst>
              <a:rect l="l" t="t" r="r" b="b"/>
              <a:pathLst>
                <a:path w="16679" h="16679">
                  <a:moveTo>
                    <a:pt x="0" y="0"/>
                  </a:moveTo>
                  <a:lnTo>
                    <a:pt x="16679" y="0"/>
                  </a:lnTo>
                  <a:lnTo>
                    <a:pt x="16679" y="16679"/>
                  </a:lnTo>
                  <a:lnTo>
                    <a:pt x="0" y="1667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23" name="Freeform: Shape 222">
              <a:extLst>
                <a:ext uri="{FF2B5EF4-FFF2-40B4-BE49-F238E27FC236}">
                  <a16:creationId xmlns:a16="http://schemas.microsoft.com/office/drawing/2014/main" id="{BA2EDE11-3171-4103-9D94-2660B2056842}"/>
                </a:ext>
              </a:extLst>
            </p:cNvPr>
            <p:cNvSpPr/>
            <p:nvPr/>
          </p:nvSpPr>
          <p:spPr>
            <a:xfrm>
              <a:off x="6235962" y="2459880"/>
              <a:ext cx="16679" cy="16679"/>
            </a:xfrm>
            <a:custGeom>
              <a:avLst/>
              <a:gdLst>
                <a:gd name="connsiteX0" fmla="*/ 0 w 16679"/>
                <a:gd name="connsiteY0" fmla="*/ 0 h 16679"/>
                <a:gd name="connsiteX1" fmla="*/ 16679 w 16679"/>
                <a:gd name="connsiteY1" fmla="*/ 0 h 16679"/>
                <a:gd name="connsiteX2" fmla="*/ 16679 w 16679"/>
                <a:gd name="connsiteY2" fmla="*/ 16679 h 16679"/>
                <a:gd name="connsiteX3" fmla="*/ 0 w 16679"/>
                <a:gd name="connsiteY3" fmla="*/ 16679 h 16679"/>
              </a:gdLst>
              <a:ahLst/>
              <a:cxnLst>
                <a:cxn ang="0">
                  <a:pos x="connsiteX0" y="connsiteY0"/>
                </a:cxn>
                <a:cxn ang="0">
                  <a:pos x="connsiteX1" y="connsiteY1"/>
                </a:cxn>
                <a:cxn ang="0">
                  <a:pos x="connsiteX2" y="connsiteY2"/>
                </a:cxn>
                <a:cxn ang="0">
                  <a:pos x="connsiteX3" y="connsiteY3"/>
                </a:cxn>
              </a:cxnLst>
              <a:rect l="l" t="t" r="r" b="b"/>
              <a:pathLst>
                <a:path w="16679" h="16679">
                  <a:moveTo>
                    <a:pt x="0" y="0"/>
                  </a:moveTo>
                  <a:lnTo>
                    <a:pt x="16679" y="0"/>
                  </a:lnTo>
                  <a:lnTo>
                    <a:pt x="16679" y="16679"/>
                  </a:lnTo>
                  <a:lnTo>
                    <a:pt x="0" y="1667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24" name="Freeform: Shape 223">
              <a:extLst>
                <a:ext uri="{FF2B5EF4-FFF2-40B4-BE49-F238E27FC236}">
                  <a16:creationId xmlns:a16="http://schemas.microsoft.com/office/drawing/2014/main" id="{69AD8600-6B53-4BC6-B837-525777BC68B4}"/>
                </a:ext>
              </a:extLst>
            </p:cNvPr>
            <p:cNvSpPr/>
            <p:nvPr/>
          </p:nvSpPr>
          <p:spPr>
            <a:xfrm>
              <a:off x="6235962" y="2493239"/>
              <a:ext cx="16679" cy="16679"/>
            </a:xfrm>
            <a:custGeom>
              <a:avLst/>
              <a:gdLst>
                <a:gd name="connsiteX0" fmla="*/ 0 w 16679"/>
                <a:gd name="connsiteY0" fmla="*/ 0 h 16679"/>
                <a:gd name="connsiteX1" fmla="*/ 16679 w 16679"/>
                <a:gd name="connsiteY1" fmla="*/ 0 h 16679"/>
                <a:gd name="connsiteX2" fmla="*/ 16679 w 16679"/>
                <a:gd name="connsiteY2" fmla="*/ 16679 h 16679"/>
                <a:gd name="connsiteX3" fmla="*/ 0 w 16679"/>
                <a:gd name="connsiteY3" fmla="*/ 16679 h 16679"/>
              </a:gdLst>
              <a:ahLst/>
              <a:cxnLst>
                <a:cxn ang="0">
                  <a:pos x="connsiteX0" y="connsiteY0"/>
                </a:cxn>
                <a:cxn ang="0">
                  <a:pos x="connsiteX1" y="connsiteY1"/>
                </a:cxn>
                <a:cxn ang="0">
                  <a:pos x="connsiteX2" y="connsiteY2"/>
                </a:cxn>
                <a:cxn ang="0">
                  <a:pos x="connsiteX3" y="connsiteY3"/>
                </a:cxn>
              </a:cxnLst>
              <a:rect l="l" t="t" r="r" b="b"/>
              <a:pathLst>
                <a:path w="16679" h="16679">
                  <a:moveTo>
                    <a:pt x="0" y="0"/>
                  </a:moveTo>
                  <a:lnTo>
                    <a:pt x="16679" y="0"/>
                  </a:lnTo>
                  <a:lnTo>
                    <a:pt x="16679" y="16679"/>
                  </a:lnTo>
                  <a:lnTo>
                    <a:pt x="0" y="1667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25" name="Freeform: Shape 224">
              <a:extLst>
                <a:ext uri="{FF2B5EF4-FFF2-40B4-BE49-F238E27FC236}">
                  <a16:creationId xmlns:a16="http://schemas.microsoft.com/office/drawing/2014/main" id="{5BC3E961-B6BE-41E6-B6AA-6DAEA49D39F7}"/>
                </a:ext>
              </a:extLst>
            </p:cNvPr>
            <p:cNvSpPr/>
            <p:nvPr/>
          </p:nvSpPr>
          <p:spPr>
            <a:xfrm>
              <a:off x="6235962" y="2426521"/>
              <a:ext cx="16679" cy="16679"/>
            </a:xfrm>
            <a:custGeom>
              <a:avLst/>
              <a:gdLst>
                <a:gd name="connsiteX0" fmla="*/ 0 w 16679"/>
                <a:gd name="connsiteY0" fmla="*/ 0 h 16679"/>
                <a:gd name="connsiteX1" fmla="*/ 16679 w 16679"/>
                <a:gd name="connsiteY1" fmla="*/ 0 h 16679"/>
                <a:gd name="connsiteX2" fmla="*/ 16679 w 16679"/>
                <a:gd name="connsiteY2" fmla="*/ 16679 h 16679"/>
                <a:gd name="connsiteX3" fmla="*/ 0 w 16679"/>
                <a:gd name="connsiteY3" fmla="*/ 16679 h 16679"/>
              </a:gdLst>
              <a:ahLst/>
              <a:cxnLst>
                <a:cxn ang="0">
                  <a:pos x="connsiteX0" y="connsiteY0"/>
                </a:cxn>
                <a:cxn ang="0">
                  <a:pos x="connsiteX1" y="connsiteY1"/>
                </a:cxn>
                <a:cxn ang="0">
                  <a:pos x="connsiteX2" y="connsiteY2"/>
                </a:cxn>
                <a:cxn ang="0">
                  <a:pos x="connsiteX3" y="connsiteY3"/>
                </a:cxn>
              </a:cxnLst>
              <a:rect l="l" t="t" r="r" b="b"/>
              <a:pathLst>
                <a:path w="16679" h="16679">
                  <a:moveTo>
                    <a:pt x="0" y="0"/>
                  </a:moveTo>
                  <a:lnTo>
                    <a:pt x="16679" y="0"/>
                  </a:lnTo>
                  <a:lnTo>
                    <a:pt x="16679" y="16679"/>
                  </a:lnTo>
                  <a:lnTo>
                    <a:pt x="0" y="1667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26" name="Freeform: Shape 225">
              <a:extLst>
                <a:ext uri="{FF2B5EF4-FFF2-40B4-BE49-F238E27FC236}">
                  <a16:creationId xmlns:a16="http://schemas.microsoft.com/office/drawing/2014/main" id="{692880BE-9F71-4410-AE26-882741324842}"/>
                </a:ext>
              </a:extLst>
            </p:cNvPr>
            <p:cNvSpPr/>
            <p:nvPr/>
          </p:nvSpPr>
          <p:spPr>
            <a:xfrm>
              <a:off x="6235962" y="2393163"/>
              <a:ext cx="16679" cy="16679"/>
            </a:xfrm>
            <a:custGeom>
              <a:avLst/>
              <a:gdLst>
                <a:gd name="connsiteX0" fmla="*/ 0 w 16679"/>
                <a:gd name="connsiteY0" fmla="*/ 0 h 16679"/>
                <a:gd name="connsiteX1" fmla="*/ 16679 w 16679"/>
                <a:gd name="connsiteY1" fmla="*/ 0 h 16679"/>
                <a:gd name="connsiteX2" fmla="*/ 16679 w 16679"/>
                <a:gd name="connsiteY2" fmla="*/ 16679 h 16679"/>
                <a:gd name="connsiteX3" fmla="*/ 0 w 16679"/>
                <a:gd name="connsiteY3" fmla="*/ 16679 h 16679"/>
              </a:gdLst>
              <a:ahLst/>
              <a:cxnLst>
                <a:cxn ang="0">
                  <a:pos x="connsiteX0" y="connsiteY0"/>
                </a:cxn>
                <a:cxn ang="0">
                  <a:pos x="connsiteX1" y="connsiteY1"/>
                </a:cxn>
                <a:cxn ang="0">
                  <a:pos x="connsiteX2" y="connsiteY2"/>
                </a:cxn>
                <a:cxn ang="0">
                  <a:pos x="connsiteX3" y="connsiteY3"/>
                </a:cxn>
              </a:cxnLst>
              <a:rect l="l" t="t" r="r" b="b"/>
              <a:pathLst>
                <a:path w="16679" h="16679">
                  <a:moveTo>
                    <a:pt x="0" y="0"/>
                  </a:moveTo>
                  <a:lnTo>
                    <a:pt x="16679" y="0"/>
                  </a:lnTo>
                  <a:lnTo>
                    <a:pt x="16679" y="16679"/>
                  </a:lnTo>
                  <a:lnTo>
                    <a:pt x="0" y="1667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27" name="Freeform: Shape 226">
              <a:extLst>
                <a:ext uri="{FF2B5EF4-FFF2-40B4-BE49-F238E27FC236}">
                  <a16:creationId xmlns:a16="http://schemas.microsoft.com/office/drawing/2014/main" id="{9105B691-79BF-4920-A33F-9B037F2E0BC8}"/>
                </a:ext>
              </a:extLst>
            </p:cNvPr>
            <p:cNvSpPr/>
            <p:nvPr/>
          </p:nvSpPr>
          <p:spPr>
            <a:xfrm>
              <a:off x="6301011" y="2393163"/>
              <a:ext cx="16123" cy="16679"/>
            </a:xfrm>
            <a:custGeom>
              <a:avLst/>
              <a:gdLst>
                <a:gd name="connsiteX0" fmla="*/ 0 w 16123"/>
                <a:gd name="connsiteY0" fmla="*/ 0 h 16679"/>
                <a:gd name="connsiteX1" fmla="*/ 16123 w 16123"/>
                <a:gd name="connsiteY1" fmla="*/ 0 h 16679"/>
                <a:gd name="connsiteX2" fmla="*/ 16123 w 16123"/>
                <a:gd name="connsiteY2" fmla="*/ 16679 h 16679"/>
                <a:gd name="connsiteX3" fmla="*/ 0 w 16123"/>
                <a:gd name="connsiteY3" fmla="*/ 16679 h 16679"/>
              </a:gdLst>
              <a:ahLst/>
              <a:cxnLst>
                <a:cxn ang="0">
                  <a:pos x="connsiteX0" y="connsiteY0"/>
                </a:cxn>
                <a:cxn ang="0">
                  <a:pos x="connsiteX1" y="connsiteY1"/>
                </a:cxn>
                <a:cxn ang="0">
                  <a:pos x="connsiteX2" y="connsiteY2"/>
                </a:cxn>
                <a:cxn ang="0">
                  <a:pos x="connsiteX3" y="connsiteY3"/>
                </a:cxn>
              </a:cxnLst>
              <a:rect l="l" t="t" r="r" b="b"/>
              <a:pathLst>
                <a:path w="16123" h="16679">
                  <a:moveTo>
                    <a:pt x="0" y="0"/>
                  </a:moveTo>
                  <a:lnTo>
                    <a:pt x="16123" y="0"/>
                  </a:lnTo>
                  <a:lnTo>
                    <a:pt x="16123" y="16679"/>
                  </a:lnTo>
                  <a:lnTo>
                    <a:pt x="0" y="1667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28" name="Freeform: Shape 227">
              <a:extLst>
                <a:ext uri="{FF2B5EF4-FFF2-40B4-BE49-F238E27FC236}">
                  <a16:creationId xmlns:a16="http://schemas.microsoft.com/office/drawing/2014/main" id="{C3FEA401-AE9B-4C0C-A9F3-1FC0CD2F102D}"/>
                </a:ext>
              </a:extLst>
            </p:cNvPr>
            <p:cNvSpPr/>
            <p:nvPr/>
          </p:nvSpPr>
          <p:spPr>
            <a:xfrm>
              <a:off x="6332702" y="2393163"/>
              <a:ext cx="16123" cy="16679"/>
            </a:xfrm>
            <a:custGeom>
              <a:avLst/>
              <a:gdLst>
                <a:gd name="connsiteX0" fmla="*/ 0 w 16123"/>
                <a:gd name="connsiteY0" fmla="*/ 0 h 16679"/>
                <a:gd name="connsiteX1" fmla="*/ 16123 w 16123"/>
                <a:gd name="connsiteY1" fmla="*/ 0 h 16679"/>
                <a:gd name="connsiteX2" fmla="*/ 16123 w 16123"/>
                <a:gd name="connsiteY2" fmla="*/ 16679 h 16679"/>
                <a:gd name="connsiteX3" fmla="*/ 0 w 16123"/>
                <a:gd name="connsiteY3" fmla="*/ 16679 h 16679"/>
              </a:gdLst>
              <a:ahLst/>
              <a:cxnLst>
                <a:cxn ang="0">
                  <a:pos x="connsiteX0" y="connsiteY0"/>
                </a:cxn>
                <a:cxn ang="0">
                  <a:pos x="connsiteX1" y="connsiteY1"/>
                </a:cxn>
                <a:cxn ang="0">
                  <a:pos x="connsiteX2" y="connsiteY2"/>
                </a:cxn>
                <a:cxn ang="0">
                  <a:pos x="connsiteX3" y="connsiteY3"/>
                </a:cxn>
              </a:cxnLst>
              <a:rect l="l" t="t" r="r" b="b"/>
              <a:pathLst>
                <a:path w="16123" h="16679">
                  <a:moveTo>
                    <a:pt x="0" y="0"/>
                  </a:moveTo>
                  <a:lnTo>
                    <a:pt x="16123" y="0"/>
                  </a:lnTo>
                  <a:lnTo>
                    <a:pt x="16123" y="16679"/>
                  </a:lnTo>
                  <a:lnTo>
                    <a:pt x="0" y="1667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29" name="Freeform: Shape 228">
              <a:extLst>
                <a:ext uri="{FF2B5EF4-FFF2-40B4-BE49-F238E27FC236}">
                  <a16:creationId xmlns:a16="http://schemas.microsoft.com/office/drawing/2014/main" id="{33BD3153-A99A-4AEC-8FD7-4511AE59F6C0}"/>
                </a:ext>
              </a:extLst>
            </p:cNvPr>
            <p:cNvSpPr/>
            <p:nvPr/>
          </p:nvSpPr>
          <p:spPr>
            <a:xfrm>
              <a:off x="6268764" y="2393163"/>
              <a:ext cx="16123" cy="16679"/>
            </a:xfrm>
            <a:custGeom>
              <a:avLst/>
              <a:gdLst>
                <a:gd name="connsiteX0" fmla="*/ 0 w 16123"/>
                <a:gd name="connsiteY0" fmla="*/ 0 h 16679"/>
                <a:gd name="connsiteX1" fmla="*/ 16123 w 16123"/>
                <a:gd name="connsiteY1" fmla="*/ 0 h 16679"/>
                <a:gd name="connsiteX2" fmla="*/ 16123 w 16123"/>
                <a:gd name="connsiteY2" fmla="*/ 16679 h 16679"/>
                <a:gd name="connsiteX3" fmla="*/ 0 w 16123"/>
                <a:gd name="connsiteY3" fmla="*/ 16679 h 16679"/>
              </a:gdLst>
              <a:ahLst/>
              <a:cxnLst>
                <a:cxn ang="0">
                  <a:pos x="connsiteX0" y="connsiteY0"/>
                </a:cxn>
                <a:cxn ang="0">
                  <a:pos x="connsiteX1" y="connsiteY1"/>
                </a:cxn>
                <a:cxn ang="0">
                  <a:pos x="connsiteX2" y="connsiteY2"/>
                </a:cxn>
                <a:cxn ang="0">
                  <a:pos x="connsiteX3" y="connsiteY3"/>
                </a:cxn>
              </a:cxnLst>
              <a:rect l="l" t="t" r="r" b="b"/>
              <a:pathLst>
                <a:path w="16123" h="16679">
                  <a:moveTo>
                    <a:pt x="0" y="0"/>
                  </a:moveTo>
                  <a:lnTo>
                    <a:pt x="16123" y="0"/>
                  </a:lnTo>
                  <a:lnTo>
                    <a:pt x="16123" y="16679"/>
                  </a:lnTo>
                  <a:lnTo>
                    <a:pt x="0" y="1667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30" name="Freeform: Shape 229">
              <a:extLst>
                <a:ext uri="{FF2B5EF4-FFF2-40B4-BE49-F238E27FC236}">
                  <a16:creationId xmlns:a16="http://schemas.microsoft.com/office/drawing/2014/main" id="{43D94AB6-E77B-4FAA-A174-F2C5DB4137B5}"/>
                </a:ext>
              </a:extLst>
            </p:cNvPr>
            <p:cNvSpPr/>
            <p:nvPr/>
          </p:nvSpPr>
          <p:spPr>
            <a:xfrm>
              <a:off x="6363837" y="2393163"/>
              <a:ext cx="16679" cy="16679"/>
            </a:xfrm>
            <a:custGeom>
              <a:avLst/>
              <a:gdLst>
                <a:gd name="connsiteX0" fmla="*/ 0 w 16679"/>
                <a:gd name="connsiteY0" fmla="*/ 0 h 16679"/>
                <a:gd name="connsiteX1" fmla="*/ 16679 w 16679"/>
                <a:gd name="connsiteY1" fmla="*/ 0 h 16679"/>
                <a:gd name="connsiteX2" fmla="*/ 16679 w 16679"/>
                <a:gd name="connsiteY2" fmla="*/ 16679 h 16679"/>
                <a:gd name="connsiteX3" fmla="*/ 0 w 16679"/>
                <a:gd name="connsiteY3" fmla="*/ 16679 h 16679"/>
              </a:gdLst>
              <a:ahLst/>
              <a:cxnLst>
                <a:cxn ang="0">
                  <a:pos x="connsiteX0" y="connsiteY0"/>
                </a:cxn>
                <a:cxn ang="0">
                  <a:pos x="connsiteX1" y="connsiteY1"/>
                </a:cxn>
                <a:cxn ang="0">
                  <a:pos x="connsiteX2" y="connsiteY2"/>
                </a:cxn>
                <a:cxn ang="0">
                  <a:pos x="connsiteX3" y="connsiteY3"/>
                </a:cxn>
              </a:cxnLst>
              <a:rect l="l" t="t" r="r" b="b"/>
              <a:pathLst>
                <a:path w="16679" h="16679">
                  <a:moveTo>
                    <a:pt x="0" y="0"/>
                  </a:moveTo>
                  <a:lnTo>
                    <a:pt x="16679" y="0"/>
                  </a:lnTo>
                  <a:lnTo>
                    <a:pt x="16679" y="16679"/>
                  </a:lnTo>
                  <a:lnTo>
                    <a:pt x="0" y="1667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31" name="Freeform: Shape 230">
              <a:extLst>
                <a:ext uri="{FF2B5EF4-FFF2-40B4-BE49-F238E27FC236}">
                  <a16:creationId xmlns:a16="http://schemas.microsoft.com/office/drawing/2014/main" id="{037455D3-91BE-4EF5-B482-CD0AD997A14C}"/>
                </a:ext>
              </a:extLst>
            </p:cNvPr>
            <p:cNvSpPr/>
            <p:nvPr/>
          </p:nvSpPr>
          <p:spPr>
            <a:xfrm>
              <a:off x="6363837" y="2426521"/>
              <a:ext cx="16679" cy="16679"/>
            </a:xfrm>
            <a:custGeom>
              <a:avLst/>
              <a:gdLst>
                <a:gd name="connsiteX0" fmla="*/ 0 w 16679"/>
                <a:gd name="connsiteY0" fmla="*/ 0 h 16679"/>
                <a:gd name="connsiteX1" fmla="*/ 16679 w 16679"/>
                <a:gd name="connsiteY1" fmla="*/ 0 h 16679"/>
                <a:gd name="connsiteX2" fmla="*/ 16679 w 16679"/>
                <a:gd name="connsiteY2" fmla="*/ 16679 h 16679"/>
                <a:gd name="connsiteX3" fmla="*/ 0 w 16679"/>
                <a:gd name="connsiteY3" fmla="*/ 16679 h 16679"/>
              </a:gdLst>
              <a:ahLst/>
              <a:cxnLst>
                <a:cxn ang="0">
                  <a:pos x="connsiteX0" y="connsiteY0"/>
                </a:cxn>
                <a:cxn ang="0">
                  <a:pos x="connsiteX1" y="connsiteY1"/>
                </a:cxn>
                <a:cxn ang="0">
                  <a:pos x="connsiteX2" y="connsiteY2"/>
                </a:cxn>
                <a:cxn ang="0">
                  <a:pos x="connsiteX3" y="connsiteY3"/>
                </a:cxn>
              </a:cxnLst>
              <a:rect l="l" t="t" r="r" b="b"/>
              <a:pathLst>
                <a:path w="16679" h="16679">
                  <a:moveTo>
                    <a:pt x="0" y="0"/>
                  </a:moveTo>
                  <a:lnTo>
                    <a:pt x="16679" y="0"/>
                  </a:lnTo>
                  <a:lnTo>
                    <a:pt x="16679" y="16679"/>
                  </a:lnTo>
                  <a:lnTo>
                    <a:pt x="0" y="1667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32" name="Freeform: Shape 231">
              <a:extLst>
                <a:ext uri="{FF2B5EF4-FFF2-40B4-BE49-F238E27FC236}">
                  <a16:creationId xmlns:a16="http://schemas.microsoft.com/office/drawing/2014/main" id="{A65939CE-959A-4254-8CE5-B0AC62E89EC6}"/>
                </a:ext>
              </a:extLst>
            </p:cNvPr>
            <p:cNvSpPr/>
            <p:nvPr/>
          </p:nvSpPr>
          <p:spPr>
            <a:xfrm>
              <a:off x="6363837" y="2459880"/>
              <a:ext cx="16679" cy="16679"/>
            </a:xfrm>
            <a:custGeom>
              <a:avLst/>
              <a:gdLst>
                <a:gd name="connsiteX0" fmla="*/ 0 w 16679"/>
                <a:gd name="connsiteY0" fmla="*/ 0 h 16679"/>
                <a:gd name="connsiteX1" fmla="*/ 16679 w 16679"/>
                <a:gd name="connsiteY1" fmla="*/ 0 h 16679"/>
                <a:gd name="connsiteX2" fmla="*/ 16679 w 16679"/>
                <a:gd name="connsiteY2" fmla="*/ 16679 h 16679"/>
                <a:gd name="connsiteX3" fmla="*/ 0 w 16679"/>
                <a:gd name="connsiteY3" fmla="*/ 16679 h 16679"/>
              </a:gdLst>
              <a:ahLst/>
              <a:cxnLst>
                <a:cxn ang="0">
                  <a:pos x="connsiteX0" y="connsiteY0"/>
                </a:cxn>
                <a:cxn ang="0">
                  <a:pos x="connsiteX1" y="connsiteY1"/>
                </a:cxn>
                <a:cxn ang="0">
                  <a:pos x="connsiteX2" y="connsiteY2"/>
                </a:cxn>
                <a:cxn ang="0">
                  <a:pos x="connsiteX3" y="connsiteY3"/>
                </a:cxn>
              </a:cxnLst>
              <a:rect l="l" t="t" r="r" b="b"/>
              <a:pathLst>
                <a:path w="16679" h="16679">
                  <a:moveTo>
                    <a:pt x="0" y="0"/>
                  </a:moveTo>
                  <a:lnTo>
                    <a:pt x="16679" y="0"/>
                  </a:lnTo>
                  <a:lnTo>
                    <a:pt x="16679" y="16679"/>
                  </a:lnTo>
                  <a:lnTo>
                    <a:pt x="0" y="1667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33" name="Freeform: Shape 232">
              <a:extLst>
                <a:ext uri="{FF2B5EF4-FFF2-40B4-BE49-F238E27FC236}">
                  <a16:creationId xmlns:a16="http://schemas.microsoft.com/office/drawing/2014/main" id="{69008E5A-52ED-4E56-A06D-47608D3C4A70}"/>
                </a:ext>
              </a:extLst>
            </p:cNvPr>
            <p:cNvSpPr/>
            <p:nvPr/>
          </p:nvSpPr>
          <p:spPr>
            <a:xfrm>
              <a:off x="6363837" y="2493239"/>
              <a:ext cx="16679" cy="16679"/>
            </a:xfrm>
            <a:custGeom>
              <a:avLst/>
              <a:gdLst>
                <a:gd name="connsiteX0" fmla="*/ 0 w 16679"/>
                <a:gd name="connsiteY0" fmla="*/ 0 h 16679"/>
                <a:gd name="connsiteX1" fmla="*/ 16679 w 16679"/>
                <a:gd name="connsiteY1" fmla="*/ 0 h 16679"/>
                <a:gd name="connsiteX2" fmla="*/ 16679 w 16679"/>
                <a:gd name="connsiteY2" fmla="*/ 16679 h 16679"/>
                <a:gd name="connsiteX3" fmla="*/ 0 w 16679"/>
                <a:gd name="connsiteY3" fmla="*/ 16679 h 16679"/>
              </a:gdLst>
              <a:ahLst/>
              <a:cxnLst>
                <a:cxn ang="0">
                  <a:pos x="connsiteX0" y="connsiteY0"/>
                </a:cxn>
                <a:cxn ang="0">
                  <a:pos x="connsiteX1" y="connsiteY1"/>
                </a:cxn>
                <a:cxn ang="0">
                  <a:pos x="connsiteX2" y="connsiteY2"/>
                </a:cxn>
                <a:cxn ang="0">
                  <a:pos x="connsiteX3" y="connsiteY3"/>
                </a:cxn>
              </a:cxnLst>
              <a:rect l="l" t="t" r="r" b="b"/>
              <a:pathLst>
                <a:path w="16679" h="16679">
                  <a:moveTo>
                    <a:pt x="0" y="0"/>
                  </a:moveTo>
                  <a:lnTo>
                    <a:pt x="16679" y="0"/>
                  </a:lnTo>
                  <a:lnTo>
                    <a:pt x="16679" y="16679"/>
                  </a:lnTo>
                  <a:lnTo>
                    <a:pt x="0" y="1667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34" name="Freeform: Shape 233">
              <a:extLst>
                <a:ext uri="{FF2B5EF4-FFF2-40B4-BE49-F238E27FC236}">
                  <a16:creationId xmlns:a16="http://schemas.microsoft.com/office/drawing/2014/main" id="{ED2C3E43-96D9-4B77-90DC-C884BAC0CDB5}"/>
                </a:ext>
              </a:extLst>
            </p:cNvPr>
            <p:cNvSpPr/>
            <p:nvPr/>
          </p:nvSpPr>
          <p:spPr>
            <a:xfrm>
              <a:off x="6225398" y="2615554"/>
              <a:ext cx="72277" cy="72833"/>
            </a:xfrm>
            <a:custGeom>
              <a:avLst/>
              <a:gdLst>
                <a:gd name="connsiteX0" fmla="*/ 21683 w 72277"/>
                <a:gd name="connsiteY0" fmla="*/ 69497 h 72833"/>
                <a:gd name="connsiteX1" fmla="*/ 24463 w 72277"/>
                <a:gd name="connsiteY1" fmla="*/ 71165 h 72833"/>
                <a:gd name="connsiteX2" fmla="*/ 26131 w 72277"/>
                <a:gd name="connsiteY2" fmla="*/ 69497 h 72833"/>
                <a:gd name="connsiteX3" fmla="*/ 34471 w 72277"/>
                <a:gd name="connsiteY3" fmla="*/ 46702 h 72833"/>
                <a:gd name="connsiteX4" fmla="*/ 60602 w 72277"/>
                <a:gd name="connsiteY4" fmla="*/ 72833 h 72833"/>
                <a:gd name="connsiteX5" fmla="*/ 72277 w 72277"/>
                <a:gd name="connsiteY5" fmla="*/ 61158 h 72833"/>
                <a:gd name="connsiteX6" fmla="*/ 46146 w 72277"/>
                <a:gd name="connsiteY6" fmla="*/ 35027 h 72833"/>
                <a:gd name="connsiteX7" fmla="*/ 68941 w 72277"/>
                <a:gd name="connsiteY7" fmla="*/ 26687 h 72833"/>
                <a:gd name="connsiteX8" fmla="*/ 70609 w 72277"/>
                <a:gd name="connsiteY8" fmla="*/ 23907 h 72833"/>
                <a:gd name="connsiteX9" fmla="*/ 68941 w 72277"/>
                <a:gd name="connsiteY9" fmla="*/ 22239 h 72833"/>
                <a:gd name="connsiteX10" fmla="*/ 2780 w 72277"/>
                <a:gd name="connsiteY10" fmla="*/ 0 h 72833"/>
                <a:gd name="connsiteX11" fmla="*/ 2224 w 72277"/>
                <a:gd name="connsiteY11" fmla="*/ 0 h 72833"/>
                <a:gd name="connsiteX12" fmla="*/ 2224 w 72277"/>
                <a:gd name="connsiteY12" fmla="*/ 0 h 72833"/>
                <a:gd name="connsiteX13" fmla="*/ 0 w 72277"/>
                <a:gd name="connsiteY13" fmla="*/ 2224 h 72833"/>
                <a:gd name="connsiteX14" fmla="*/ 0 w 72277"/>
                <a:gd name="connsiteY14" fmla="*/ 2780 h 72833"/>
                <a:gd name="connsiteX15" fmla="*/ 21683 w 72277"/>
                <a:gd name="connsiteY15" fmla="*/ 69497 h 72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277" h="72833">
                  <a:moveTo>
                    <a:pt x="21683" y="69497"/>
                  </a:moveTo>
                  <a:cubicBezTo>
                    <a:pt x="22239" y="70609"/>
                    <a:pt x="23351" y="71165"/>
                    <a:pt x="24463" y="71165"/>
                  </a:cubicBezTo>
                  <a:cubicBezTo>
                    <a:pt x="25019" y="71165"/>
                    <a:pt x="25575" y="70609"/>
                    <a:pt x="26131" y="69497"/>
                  </a:cubicBezTo>
                  <a:lnTo>
                    <a:pt x="34471" y="46702"/>
                  </a:lnTo>
                  <a:lnTo>
                    <a:pt x="60602" y="72833"/>
                  </a:lnTo>
                  <a:lnTo>
                    <a:pt x="72277" y="61158"/>
                  </a:lnTo>
                  <a:lnTo>
                    <a:pt x="46146" y="35027"/>
                  </a:lnTo>
                  <a:lnTo>
                    <a:pt x="68941" y="26687"/>
                  </a:lnTo>
                  <a:cubicBezTo>
                    <a:pt x="70053" y="26131"/>
                    <a:pt x="70609" y="25019"/>
                    <a:pt x="70609" y="23907"/>
                  </a:cubicBezTo>
                  <a:cubicBezTo>
                    <a:pt x="70609" y="23351"/>
                    <a:pt x="70053" y="22795"/>
                    <a:pt x="68941" y="22239"/>
                  </a:cubicBezTo>
                  <a:lnTo>
                    <a:pt x="2780" y="0"/>
                  </a:lnTo>
                  <a:cubicBezTo>
                    <a:pt x="2780" y="0"/>
                    <a:pt x="2224" y="0"/>
                    <a:pt x="2224" y="0"/>
                  </a:cubicBezTo>
                  <a:lnTo>
                    <a:pt x="2224" y="0"/>
                  </a:lnTo>
                  <a:cubicBezTo>
                    <a:pt x="1112" y="0"/>
                    <a:pt x="0" y="1112"/>
                    <a:pt x="0" y="2224"/>
                  </a:cubicBezTo>
                  <a:cubicBezTo>
                    <a:pt x="0" y="2224"/>
                    <a:pt x="0" y="2780"/>
                    <a:pt x="0" y="2780"/>
                  </a:cubicBezTo>
                  <a:lnTo>
                    <a:pt x="21683" y="69497"/>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35" name="Freeform: Shape 234">
              <a:extLst>
                <a:ext uri="{FF2B5EF4-FFF2-40B4-BE49-F238E27FC236}">
                  <a16:creationId xmlns:a16="http://schemas.microsoft.com/office/drawing/2014/main" id="{C16FEF36-87FE-40A5-AFBF-EA760B031080}"/>
                </a:ext>
              </a:extLst>
            </p:cNvPr>
            <p:cNvSpPr/>
            <p:nvPr/>
          </p:nvSpPr>
          <p:spPr>
            <a:xfrm>
              <a:off x="5869016" y="2482119"/>
              <a:ext cx="150114" cy="116755"/>
            </a:xfrm>
            <a:custGeom>
              <a:avLst/>
              <a:gdLst>
                <a:gd name="connsiteX0" fmla="*/ 150114 w 150114"/>
                <a:gd name="connsiteY0" fmla="*/ 0 h 116755"/>
                <a:gd name="connsiteX1" fmla="*/ 0 w 150114"/>
                <a:gd name="connsiteY1" fmla="*/ 0 h 116755"/>
                <a:gd name="connsiteX2" fmla="*/ 0 w 150114"/>
                <a:gd name="connsiteY2" fmla="*/ 116755 h 116755"/>
                <a:gd name="connsiteX3" fmla="*/ 150114 w 150114"/>
                <a:gd name="connsiteY3" fmla="*/ 116755 h 116755"/>
                <a:gd name="connsiteX4" fmla="*/ 150114 w 150114"/>
                <a:gd name="connsiteY4" fmla="*/ 0 h 116755"/>
                <a:gd name="connsiteX5" fmla="*/ 133435 w 150114"/>
                <a:gd name="connsiteY5" fmla="*/ 100076 h 116755"/>
                <a:gd name="connsiteX6" fmla="*/ 16679 w 150114"/>
                <a:gd name="connsiteY6" fmla="*/ 100076 h 116755"/>
                <a:gd name="connsiteX7" fmla="*/ 16679 w 150114"/>
                <a:gd name="connsiteY7" fmla="*/ 16679 h 116755"/>
                <a:gd name="connsiteX8" fmla="*/ 133435 w 150114"/>
                <a:gd name="connsiteY8" fmla="*/ 16679 h 116755"/>
                <a:gd name="connsiteX9" fmla="*/ 133435 w 150114"/>
                <a:gd name="connsiteY9" fmla="*/ 100076 h 116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0114" h="116755">
                  <a:moveTo>
                    <a:pt x="150114" y="0"/>
                  </a:moveTo>
                  <a:lnTo>
                    <a:pt x="0" y="0"/>
                  </a:lnTo>
                  <a:lnTo>
                    <a:pt x="0" y="116755"/>
                  </a:lnTo>
                  <a:lnTo>
                    <a:pt x="150114" y="116755"/>
                  </a:lnTo>
                  <a:lnTo>
                    <a:pt x="150114" y="0"/>
                  </a:lnTo>
                  <a:close/>
                  <a:moveTo>
                    <a:pt x="133435" y="100076"/>
                  </a:moveTo>
                  <a:lnTo>
                    <a:pt x="16679" y="100076"/>
                  </a:lnTo>
                  <a:lnTo>
                    <a:pt x="16679" y="16679"/>
                  </a:lnTo>
                  <a:lnTo>
                    <a:pt x="133435" y="16679"/>
                  </a:lnTo>
                  <a:lnTo>
                    <a:pt x="133435" y="100076"/>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36" name="Freeform: Shape 235">
              <a:extLst>
                <a:ext uri="{FF2B5EF4-FFF2-40B4-BE49-F238E27FC236}">
                  <a16:creationId xmlns:a16="http://schemas.microsoft.com/office/drawing/2014/main" id="{4F63A24C-E9B0-4A4B-B29D-DAC111F5742B}"/>
                </a:ext>
              </a:extLst>
            </p:cNvPr>
            <p:cNvSpPr/>
            <p:nvPr/>
          </p:nvSpPr>
          <p:spPr>
            <a:xfrm>
              <a:off x="5907935" y="2512698"/>
              <a:ext cx="66717" cy="16679"/>
            </a:xfrm>
            <a:custGeom>
              <a:avLst/>
              <a:gdLst>
                <a:gd name="connsiteX0" fmla="*/ 0 w 66717"/>
                <a:gd name="connsiteY0" fmla="*/ 0 h 16679"/>
                <a:gd name="connsiteX1" fmla="*/ 66717 w 66717"/>
                <a:gd name="connsiteY1" fmla="*/ 0 h 16679"/>
                <a:gd name="connsiteX2" fmla="*/ 66717 w 66717"/>
                <a:gd name="connsiteY2" fmla="*/ 16679 h 16679"/>
                <a:gd name="connsiteX3" fmla="*/ 0 w 66717"/>
                <a:gd name="connsiteY3" fmla="*/ 16679 h 16679"/>
              </a:gdLst>
              <a:ahLst/>
              <a:cxnLst>
                <a:cxn ang="0">
                  <a:pos x="connsiteX0" y="connsiteY0"/>
                </a:cxn>
                <a:cxn ang="0">
                  <a:pos x="connsiteX1" y="connsiteY1"/>
                </a:cxn>
                <a:cxn ang="0">
                  <a:pos x="connsiteX2" y="connsiteY2"/>
                </a:cxn>
                <a:cxn ang="0">
                  <a:pos x="connsiteX3" y="connsiteY3"/>
                </a:cxn>
              </a:cxnLst>
              <a:rect l="l" t="t" r="r" b="b"/>
              <a:pathLst>
                <a:path w="66717" h="16679">
                  <a:moveTo>
                    <a:pt x="0" y="0"/>
                  </a:moveTo>
                  <a:lnTo>
                    <a:pt x="66717" y="0"/>
                  </a:lnTo>
                  <a:lnTo>
                    <a:pt x="66717" y="16679"/>
                  </a:lnTo>
                  <a:lnTo>
                    <a:pt x="0" y="1667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37" name="Freeform: Shape 236">
              <a:extLst>
                <a:ext uri="{FF2B5EF4-FFF2-40B4-BE49-F238E27FC236}">
                  <a16:creationId xmlns:a16="http://schemas.microsoft.com/office/drawing/2014/main" id="{2B390D44-7216-408B-9C05-518E278C90D7}"/>
                </a:ext>
              </a:extLst>
            </p:cNvPr>
            <p:cNvSpPr/>
            <p:nvPr/>
          </p:nvSpPr>
          <p:spPr>
            <a:xfrm>
              <a:off x="5907935" y="2546057"/>
              <a:ext cx="44478" cy="16679"/>
            </a:xfrm>
            <a:custGeom>
              <a:avLst/>
              <a:gdLst>
                <a:gd name="connsiteX0" fmla="*/ 0 w 44478"/>
                <a:gd name="connsiteY0" fmla="*/ 0 h 16679"/>
                <a:gd name="connsiteX1" fmla="*/ 44478 w 44478"/>
                <a:gd name="connsiteY1" fmla="*/ 0 h 16679"/>
                <a:gd name="connsiteX2" fmla="*/ 44478 w 44478"/>
                <a:gd name="connsiteY2" fmla="*/ 16679 h 16679"/>
                <a:gd name="connsiteX3" fmla="*/ 0 w 44478"/>
                <a:gd name="connsiteY3" fmla="*/ 16679 h 16679"/>
              </a:gdLst>
              <a:ahLst/>
              <a:cxnLst>
                <a:cxn ang="0">
                  <a:pos x="connsiteX0" y="connsiteY0"/>
                </a:cxn>
                <a:cxn ang="0">
                  <a:pos x="connsiteX1" y="connsiteY1"/>
                </a:cxn>
                <a:cxn ang="0">
                  <a:pos x="connsiteX2" y="connsiteY2"/>
                </a:cxn>
                <a:cxn ang="0">
                  <a:pos x="connsiteX3" y="connsiteY3"/>
                </a:cxn>
              </a:cxnLst>
              <a:rect l="l" t="t" r="r" b="b"/>
              <a:pathLst>
                <a:path w="44478" h="16679">
                  <a:moveTo>
                    <a:pt x="0" y="0"/>
                  </a:moveTo>
                  <a:lnTo>
                    <a:pt x="44478" y="0"/>
                  </a:lnTo>
                  <a:lnTo>
                    <a:pt x="44478" y="16679"/>
                  </a:lnTo>
                  <a:lnTo>
                    <a:pt x="0" y="1667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38" name="Freeform: Shape 237">
              <a:extLst>
                <a:ext uri="{FF2B5EF4-FFF2-40B4-BE49-F238E27FC236}">
                  <a16:creationId xmlns:a16="http://schemas.microsoft.com/office/drawing/2014/main" id="{7D29879C-9391-418A-B3DF-2210C30A6957}"/>
                </a:ext>
              </a:extLst>
            </p:cNvPr>
            <p:cNvSpPr/>
            <p:nvPr/>
          </p:nvSpPr>
          <p:spPr>
            <a:xfrm>
              <a:off x="6263761" y="2432081"/>
              <a:ext cx="88956" cy="83396"/>
            </a:xfrm>
            <a:custGeom>
              <a:avLst/>
              <a:gdLst>
                <a:gd name="connsiteX0" fmla="*/ 66717 w 88956"/>
                <a:gd name="connsiteY0" fmla="*/ 0 h 83396"/>
                <a:gd name="connsiteX1" fmla="*/ 0 w 88956"/>
                <a:gd name="connsiteY1" fmla="*/ 0 h 83396"/>
                <a:gd name="connsiteX2" fmla="*/ 0 w 88956"/>
                <a:gd name="connsiteY2" fmla="*/ 33359 h 83396"/>
                <a:gd name="connsiteX3" fmla="*/ 55598 w 88956"/>
                <a:gd name="connsiteY3" fmla="*/ 33359 h 83396"/>
                <a:gd name="connsiteX4" fmla="*/ 55598 w 88956"/>
                <a:gd name="connsiteY4" fmla="*/ 83397 h 83396"/>
                <a:gd name="connsiteX5" fmla="*/ 88957 w 88956"/>
                <a:gd name="connsiteY5" fmla="*/ 83397 h 83396"/>
                <a:gd name="connsiteX6" fmla="*/ 88957 w 88956"/>
                <a:gd name="connsiteY6" fmla="*/ 22239 h 83396"/>
                <a:gd name="connsiteX7" fmla="*/ 66717 w 88956"/>
                <a:gd name="connsiteY7" fmla="*/ 0 h 83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956" h="83396">
                  <a:moveTo>
                    <a:pt x="66717" y="0"/>
                  </a:moveTo>
                  <a:lnTo>
                    <a:pt x="0" y="0"/>
                  </a:lnTo>
                  <a:lnTo>
                    <a:pt x="0" y="33359"/>
                  </a:lnTo>
                  <a:lnTo>
                    <a:pt x="55598" y="33359"/>
                  </a:lnTo>
                  <a:lnTo>
                    <a:pt x="55598" y="83397"/>
                  </a:lnTo>
                  <a:lnTo>
                    <a:pt x="88957" y="83397"/>
                  </a:lnTo>
                  <a:lnTo>
                    <a:pt x="88957" y="22239"/>
                  </a:lnTo>
                  <a:cubicBezTo>
                    <a:pt x="88957" y="10008"/>
                    <a:pt x="78949" y="0"/>
                    <a:pt x="66717" y="0"/>
                  </a:cubicBez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39" name="Freeform: Shape 238">
              <a:extLst>
                <a:ext uri="{FF2B5EF4-FFF2-40B4-BE49-F238E27FC236}">
                  <a16:creationId xmlns:a16="http://schemas.microsoft.com/office/drawing/2014/main" id="{1D479159-7D28-4223-8B1D-C0F1694A7DA5}"/>
                </a:ext>
              </a:extLst>
            </p:cNvPr>
            <p:cNvSpPr/>
            <p:nvPr/>
          </p:nvSpPr>
          <p:spPr>
            <a:xfrm>
              <a:off x="5907935" y="2554396"/>
              <a:ext cx="444782" cy="255749"/>
            </a:xfrm>
            <a:custGeom>
              <a:avLst/>
              <a:gdLst>
                <a:gd name="connsiteX0" fmla="*/ 411424 w 444782"/>
                <a:gd name="connsiteY0" fmla="*/ 155674 h 255749"/>
                <a:gd name="connsiteX1" fmla="*/ 33359 w 444782"/>
                <a:gd name="connsiteY1" fmla="*/ 155674 h 255749"/>
                <a:gd name="connsiteX2" fmla="*/ 33359 w 444782"/>
                <a:gd name="connsiteY2" fmla="*/ 66717 h 255749"/>
                <a:gd name="connsiteX3" fmla="*/ 0 w 444782"/>
                <a:gd name="connsiteY3" fmla="*/ 66717 h 255749"/>
                <a:gd name="connsiteX4" fmla="*/ 0 w 444782"/>
                <a:gd name="connsiteY4" fmla="*/ 166793 h 255749"/>
                <a:gd name="connsiteX5" fmla="*/ 22239 w 444782"/>
                <a:gd name="connsiteY5" fmla="*/ 189033 h 255749"/>
                <a:gd name="connsiteX6" fmla="*/ 177913 w 444782"/>
                <a:gd name="connsiteY6" fmla="*/ 189033 h 255749"/>
                <a:gd name="connsiteX7" fmla="*/ 177913 w 444782"/>
                <a:gd name="connsiteY7" fmla="*/ 222391 h 255749"/>
                <a:gd name="connsiteX8" fmla="*/ 122315 w 444782"/>
                <a:gd name="connsiteY8" fmla="*/ 222391 h 255749"/>
                <a:gd name="connsiteX9" fmla="*/ 122315 w 444782"/>
                <a:gd name="connsiteY9" fmla="*/ 255750 h 255749"/>
                <a:gd name="connsiteX10" fmla="*/ 322467 w 444782"/>
                <a:gd name="connsiteY10" fmla="*/ 255750 h 255749"/>
                <a:gd name="connsiteX11" fmla="*/ 322467 w 444782"/>
                <a:gd name="connsiteY11" fmla="*/ 222391 h 255749"/>
                <a:gd name="connsiteX12" fmla="*/ 266870 w 444782"/>
                <a:gd name="connsiteY12" fmla="*/ 222391 h 255749"/>
                <a:gd name="connsiteX13" fmla="*/ 266870 w 444782"/>
                <a:gd name="connsiteY13" fmla="*/ 189033 h 255749"/>
                <a:gd name="connsiteX14" fmla="*/ 422543 w 444782"/>
                <a:gd name="connsiteY14" fmla="*/ 189033 h 255749"/>
                <a:gd name="connsiteX15" fmla="*/ 444783 w 444782"/>
                <a:gd name="connsiteY15" fmla="*/ 166793 h 255749"/>
                <a:gd name="connsiteX16" fmla="*/ 444783 w 444782"/>
                <a:gd name="connsiteY16" fmla="*/ 0 h 255749"/>
                <a:gd name="connsiteX17" fmla="*/ 411424 w 444782"/>
                <a:gd name="connsiteY17" fmla="*/ 0 h 255749"/>
                <a:gd name="connsiteX18" fmla="*/ 411424 w 444782"/>
                <a:gd name="connsiteY18" fmla="*/ 155674 h 255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44782" h="255749">
                  <a:moveTo>
                    <a:pt x="411424" y="155674"/>
                  </a:moveTo>
                  <a:lnTo>
                    <a:pt x="33359" y="155674"/>
                  </a:lnTo>
                  <a:lnTo>
                    <a:pt x="33359" y="66717"/>
                  </a:lnTo>
                  <a:lnTo>
                    <a:pt x="0" y="66717"/>
                  </a:lnTo>
                  <a:lnTo>
                    <a:pt x="0" y="166793"/>
                  </a:lnTo>
                  <a:cubicBezTo>
                    <a:pt x="0" y="179025"/>
                    <a:pt x="10008" y="189033"/>
                    <a:pt x="22239" y="189033"/>
                  </a:cubicBezTo>
                  <a:lnTo>
                    <a:pt x="177913" y="189033"/>
                  </a:lnTo>
                  <a:lnTo>
                    <a:pt x="177913" y="222391"/>
                  </a:lnTo>
                  <a:lnTo>
                    <a:pt x="122315" y="222391"/>
                  </a:lnTo>
                  <a:lnTo>
                    <a:pt x="122315" y="255750"/>
                  </a:lnTo>
                  <a:lnTo>
                    <a:pt x="322467" y="255750"/>
                  </a:lnTo>
                  <a:lnTo>
                    <a:pt x="322467" y="222391"/>
                  </a:lnTo>
                  <a:lnTo>
                    <a:pt x="266870" y="222391"/>
                  </a:lnTo>
                  <a:lnTo>
                    <a:pt x="266870" y="189033"/>
                  </a:lnTo>
                  <a:lnTo>
                    <a:pt x="422543" y="189033"/>
                  </a:lnTo>
                  <a:cubicBezTo>
                    <a:pt x="434775" y="189033"/>
                    <a:pt x="444783" y="179025"/>
                    <a:pt x="444783" y="166793"/>
                  </a:cubicBezTo>
                  <a:lnTo>
                    <a:pt x="444783" y="0"/>
                  </a:lnTo>
                  <a:lnTo>
                    <a:pt x="411424" y="0"/>
                  </a:lnTo>
                  <a:lnTo>
                    <a:pt x="411424" y="155674"/>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40" name="Freeform: Shape 239">
              <a:extLst>
                <a:ext uri="{FF2B5EF4-FFF2-40B4-BE49-F238E27FC236}">
                  <a16:creationId xmlns:a16="http://schemas.microsoft.com/office/drawing/2014/main" id="{73103C06-A163-4B45-BB7B-3C6AFF5783C5}"/>
                </a:ext>
              </a:extLst>
            </p:cNvPr>
            <p:cNvSpPr/>
            <p:nvPr/>
          </p:nvSpPr>
          <p:spPr>
            <a:xfrm>
              <a:off x="5907935" y="2432081"/>
              <a:ext cx="316907" cy="33358"/>
            </a:xfrm>
            <a:custGeom>
              <a:avLst/>
              <a:gdLst>
                <a:gd name="connsiteX0" fmla="*/ 316908 w 316907"/>
                <a:gd name="connsiteY0" fmla="*/ 0 h 33358"/>
                <a:gd name="connsiteX1" fmla="*/ 22239 w 316907"/>
                <a:gd name="connsiteY1" fmla="*/ 0 h 33358"/>
                <a:gd name="connsiteX2" fmla="*/ 0 w 316907"/>
                <a:gd name="connsiteY2" fmla="*/ 22239 h 33358"/>
                <a:gd name="connsiteX3" fmla="*/ 0 w 316907"/>
                <a:gd name="connsiteY3" fmla="*/ 33359 h 33358"/>
                <a:gd name="connsiteX4" fmla="*/ 316908 w 316907"/>
                <a:gd name="connsiteY4" fmla="*/ 33359 h 33358"/>
                <a:gd name="connsiteX5" fmla="*/ 316908 w 316907"/>
                <a:gd name="connsiteY5" fmla="*/ 0 h 33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6907" h="33358">
                  <a:moveTo>
                    <a:pt x="316908" y="0"/>
                  </a:moveTo>
                  <a:lnTo>
                    <a:pt x="22239" y="0"/>
                  </a:lnTo>
                  <a:cubicBezTo>
                    <a:pt x="10008" y="0"/>
                    <a:pt x="0" y="10008"/>
                    <a:pt x="0" y="22239"/>
                  </a:cubicBezTo>
                  <a:lnTo>
                    <a:pt x="0" y="33359"/>
                  </a:lnTo>
                  <a:lnTo>
                    <a:pt x="316908" y="33359"/>
                  </a:lnTo>
                  <a:lnTo>
                    <a:pt x="316908" y="0"/>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24" name="Graphic 23">
            <a:extLst>
              <a:ext uri="{FF2B5EF4-FFF2-40B4-BE49-F238E27FC236}">
                <a16:creationId xmlns:a16="http://schemas.microsoft.com/office/drawing/2014/main" id="{C049F7A8-6FDA-4A45-8052-49901E08819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7569003" y="6091517"/>
            <a:ext cx="438054" cy="438054"/>
          </a:xfrm>
          <a:prstGeom prst="rect">
            <a:avLst/>
          </a:prstGeom>
        </p:spPr>
      </p:pic>
      <p:sp>
        <p:nvSpPr>
          <p:cNvPr id="241" name="Rectangle 240">
            <a:extLst>
              <a:ext uri="{FF2B5EF4-FFF2-40B4-BE49-F238E27FC236}">
                <a16:creationId xmlns:a16="http://schemas.microsoft.com/office/drawing/2014/main" id="{182205B0-41C8-45E0-82FF-887D12CF8FF7}"/>
              </a:ext>
              <a:ext uri="{C183D7F6-B498-43B3-948B-1728B52AA6E4}">
                <adec:decorative xmlns:adec="http://schemas.microsoft.com/office/drawing/2017/decorative" val="1"/>
              </a:ext>
            </a:extLst>
          </p:cNvPr>
          <p:cNvSpPr/>
          <p:nvPr/>
        </p:nvSpPr>
        <p:spPr bwMode="auto">
          <a:xfrm>
            <a:off x="6594473" y="4268422"/>
            <a:ext cx="2203453" cy="317155"/>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146304" rIns="182880" bIns="146304"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a:ln>
                  <a:noFill/>
                </a:ln>
                <a:solidFill>
                  <a:srgbClr val="FFFFFF"/>
                </a:solidFill>
                <a:effectLst/>
                <a:uLnTx/>
                <a:uFillTx/>
                <a:latin typeface="Segoe UI Semibold"/>
                <a:ea typeface="+mn-ea"/>
                <a:cs typeface="+mn-cs"/>
              </a:rPr>
              <a:t>AI</a:t>
            </a:r>
          </a:p>
        </p:txBody>
      </p:sp>
      <p:sp>
        <p:nvSpPr>
          <p:cNvPr id="242" name="Rectangle 241">
            <a:extLst>
              <a:ext uri="{FF2B5EF4-FFF2-40B4-BE49-F238E27FC236}">
                <a16:creationId xmlns:a16="http://schemas.microsoft.com/office/drawing/2014/main" id="{55CA0F2A-A771-49D1-9BC6-3D2647685059}"/>
              </a:ext>
              <a:ext uri="{C183D7F6-B498-43B3-948B-1728B52AA6E4}">
                <adec:decorative xmlns:adec="http://schemas.microsoft.com/office/drawing/2017/decorative" val="1"/>
              </a:ext>
            </a:extLst>
          </p:cNvPr>
          <p:cNvSpPr/>
          <p:nvPr/>
        </p:nvSpPr>
        <p:spPr bwMode="auto">
          <a:xfrm>
            <a:off x="6970875" y="4705487"/>
            <a:ext cx="1701639" cy="98118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Upon validation, </a:t>
            </a:r>
            <a:r>
              <a:rPr kumimoji="0" lang="en-US" sz="1200" b="0" i="0" u="none" strike="noStrike" kern="1200" cap="none" spc="0" normalizeH="0" baseline="0" noProof="0">
                <a:ln>
                  <a:noFill/>
                </a:ln>
                <a:solidFill>
                  <a:srgbClr val="0078D4"/>
                </a:solidFill>
                <a:effectLst/>
                <a:uLnTx/>
                <a:uFillTx/>
                <a:latin typeface="Segoe UI Semibold"/>
                <a:ea typeface="+mn-ea"/>
                <a:cs typeface="Segoe UI" pitchFamily="34" charset="0"/>
              </a:rPr>
              <a:t>Power Automate</a:t>
            </a:r>
            <a:r>
              <a:rPr kumimoji="0" lang="en-US" sz="12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 triggers a desktop flow</a:t>
            </a:r>
          </a:p>
        </p:txBody>
      </p:sp>
      <p:sp>
        <p:nvSpPr>
          <p:cNvPr id="243" name="Oval 242">
            <a:extLst>
              <a:ext uri="{FF2B5EF4-FFF2-40B4-BE49-F238E27FC236}">
                <a16:creationId xmlns:a16="http://schemas.microsoft.com/office/drawing/2014/main" id="{32198293-02DF-4225-89C4-E05FCA001EA5}"/>
              </a:ext>
              <a:ext uri="{C183D7F6-B498-43B3-948B-1728B52AA6E4}">
                <adec:decorative xmlns:adec="http://schemas.microsoft.com/office/drawing/2017/decorative" val="1"/>
              </a:ext>
            </a:extLst>
          </p:cNvPr>
          <p:cNvSpPr/>
          <p:nvPr/>
        </p:nvSpPr>
        <p:spPr bwMode="auto">
          <a:xfrm rot="10800000">
            <a:off x="6443618" y="4040451"/>
            <a:ext cx="301711" cy="301711"/>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274320" rIns="182880" bIns="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sym typeface="Wingdings" panose="05000000000000000000" pitchFamily="2" charset="2"/>
              </a:rPr>
              <a:t></a:t>
            </a:r>
            <a:endParaRPr kumimoji="0" lang="en-IN"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44" name="Oval 243">
            <a:extLst>
              <a:ext uri="{FF2B5EF4-FFF2-40B4-BE49-F238E27FC236}">
                <a16:creationId xmlns:a16="http://schemas.microsoft.com/office/drawing/2014/main" id="{BEC107FA-E4C0-47EC-80BC-BF2BD5C1DC2D}"/>
              </a:ext>
              <a:ext uri="{C183D7F6-B498-43B3-948B-1728B52AA6E4}">
                <adec:decorative xmlns:adec="http://schemas.microsoft.com/office/drawing/2017/decorative" val="1"/>
              </a:ext>
            </a:extLst>
          </p:cNvPr>
          <p:cNvSpPr/>
          <p:nvPr/>
        </p:nvSpPr>
        <p:spPr bwMode="auto">
          <a:xfrm>
            <a:off x="6420798" y="4253325"/>
            <a:ext cx="347350" cy="347348"/>
          </a:xfrm>
          <a:prstGeom prst="ellipse">
            <a:avLst/>
          </a:prstGeom>
          <a:solidFill>
            <a:schemeClr val="bg1"/>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245" name="Group 244">
            <a:extLst>
              <a:ext uri="{FF2B5EF4-FFF2-40B4-BE49-F238E27FC236}">
                <a16:creationId xmlns:a16="http://schemas.microsoft.com/office/drawing/2014/main" id="{E3088D4F-6552-448E-8AA6-04C719845861}"/>
              </a:ext>
              <a:ext uri="{C183D7F6-B498-43B3-948B-1728B52AA6E4}">
                <adec:decorative xmlns:adec="http://schemas.microsoft.com/office/drawing/2017/decorative" val="1"/>
              </a:ext>
            </a:extLst>
          </p:cNvPr>
          <p:cNvGrpSpPr/>
          <p:nvPr/>
        </p:nvGrpSpPr>
        <p:grpSpPr>
          <a:xfrm>
            <a:off x="6494120" y="4297564"/>
            <a:ext cx="200707" cy="258871"/>
            <a:chOff x="7304743" y="7944561"/>
            <a:chExt cx="349222" cy="450424"/>
          </a:xfrm>
          <a:solidFill>
            <a:schemeClr val="tx1"/>
          </a:solidFill>
        </p:grpSpPr>
        <p:sp>
          <p:nvSpPr>
            <p:cNvPr id="246" name="Freeform: Shape 245">
              <a:extLst>
                <a:ext uri="{FF2B5EF4-FFF2-40B4-BE49-F238E27FC236}">
                  <a16:creationId xmlns:a16="http://schemas.microsoft.com/office/drawing/2014/main" id="{DD0883BE-DD2E-4593-9AE2-B8DBEC2DCE0B}"/>
                </a:ext>
              </a:extLst>
            </p:cNvPr>
            <p:cNvSpPr/>
            <p:nvPr/>
          </p:nvSpPr>
          <p:spPr>
            <a:xfrm>
              <a:off x="7350540" y="8311589"/>
              <a:ext cx="266869" cy="83396"/>
            </a:xfrm>
            <a:custGeom>
              <a:avLst/>
              <a:gdLst>
                <a:gd name="connsiteX0" fmla="*/ 225171 w 266869"/>
                <a:gd name="connsiteY0" fmla="*/ 0 h 83396"/>
                <a:gd name="connsiteX1" fmla="*/ 41698 w 266869"/>
                <a:gd name="connsiteY1" fmla="*/ 0 h 83396"/>
                <a:gd name="connsiteX2" fmla="*/ 0 w 266869"/>
                <a:gd name="connsiteY2" fmla="*/ 41698 h 83396"/>
                <a:gd name="connsiteX3" fmla="*/ 41698 w 266869"/>
                <a:gd name="connsiteY3" fmla="*/ 83397 h 83396"/>
                <a:gd name="connsiteX4" fmla="*/ 225171 w 266869"/>
                <a:gd name="connsiteY4" fmla="*/ 83397 h 83396"/>
                <a:gd name="connsiteX5" fmla="*/ 266870 w 266869"/>
                <a:gd name="connsiteY5" fmla="*/ 41698 h 83396"/>
                <a:gd name="connsiteX6" fmla="*/ 225171 w 266869"/>
                <a:gd name="connsiteY6" fmla="*/ 0 h 83396"/>
                <a:gd name="connsiteX7" fmla="*/ 52818 w 266869"/>
                <a:gd name="connsiteY7" fmla="*/ 58378 h 83396"/>
                <a:gd name="connsiteX8" fmla="*/ 36139 w 266869"/>
                <a:gd name="connsiteY8" fmla="*/ 41698 h 83396"/>
                <a:gd name="connsiteX9" fmla="*/ 52818 w 266869"/>
                <a:gd name="connsiteY9" fmla="*/ 25019 h 83396"/>
                <a:gd name="connsiteX10" fmla="*/ 69497 w 266869"/>
                <a:gd name="connsiteY10" fmla="*/ 41698 h 83396"/>
                <a:gd name="connsiteX11" fmla="*/ 52818 w 266869"/>
                <a:gd name="connsiteY11" fmla="*/ 58378 h 83396"/>
                <a:gd name="connsiteX12" fmla="*/ 133435 w 266869"/>
                <a:gd name="connsiteY12" fmla="*/ 58378 h 83396"/>
                <a:gd name="connsiteX13" fmla="*/ 116755 w 266869"/>
                <a:gd name="connsiteY13" fmla="*/ 41698 h 83396"/>
                <a:gd name="connsiteX14" fmla="*/ 133435 w 266869"/>
                <a:gd name="connsiteY14" fmla="*/ 25019 h 83396"/>
                <a:gd name="connsiteX15" fmla="*/ 150114 w 266869"/>
                <a:gd name="connsiteY15" fmla="*/ 41698 h 83396"/>
                <a:gd name="connsiteX16" fmla="*/ 133435 w 266869"/>
                <a:gd name="connsiteY16" fmla="*/ 58378 h 83396"/>
                <a:gd name="connsiteX17" fmla="*/ 214052 w 266869"/>
                <a:gd name="connsiteY17" fmla="*/ 58378 h 83396"/>
                <a:gd name="connsiteX18" fmla="*/ 197372 w 266869"/>
                <a:gd name="connsiteY18" fmla="*/ 41698 h 83396"/>
                <a:gd name="connsiteX19" fmla="*/ 214052 w 266869"/>
                <a:gd name="connsiteY19" fmla="*/ 25019 h 83396"/>
                <a:gd name="connsiteX20" fmla="*/ 230731 w 266869"/>
                <a:gd name="connsiteY20" fmla="*/ 41698 h 83396"/>
                <a:gd name="connsiteX21" fmla="*/ 214052 w 266869"/>
                <a:gd name="connsiteY21" fmla="*/ 58378 h 83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6869" h="83396">
                  <a:moveTo>
                    <a:pt x="225171" y="0"/>
                  </a:moveTo>
                  <a:lnTo>
                    <a:pt x="41698" y="0"/>
                  </a:lnTo>
                  <a:cubicBezTo>
                    <a:pt x="18669" y="0"/>
                    <a:pt x="0" y="18669"/>
                    <a:pt x="0" y="41698"/>
                  </a:cubicBezTo>
                  <a:cubicBezTo>
                    <a:pt x="0" y="64728"/>
                    <a:pt x="18669" y="83397"/>
                    <a:pt x="41698" y="83397"/>
                  </a:cubicBezTo>
                  <a:lnTo>
                    <a:pt x="225171" y="83397"/>
                  </a:lnTo>
                  <a:cubicBezTo>
                    <a:pt x="248200" y="83397"/>
                    <a:pt x="266870" y="64728"/>
                    <a:pt x="266870" y="41698"/>
                  </a:cubicBezTo>
                  <a:cubicBezTo>
                    <a:pt x="266870" y="18669"/>
                    <a:pt x="248200" y="0"/>
                    <a:pt x="225171" y="0"/>
                  </a:cubicBezTo>
                  <a:close/>
                  <a:moveTo>
                    <a:pt x="52818" y="58378"/>
                  </a:moveTo>
                  <a:cubicBezTo>
                    <a:pt x="43606" y="58378"/>
                    <a:pt x="36139" y="50910"/>
                    <a:pt x="36139" y="41698"/>
                  </a:cubicBezTo>
                  <a:cubicBezTo>
                    <a:pt x="36139" y="32486"/>
                    <a:pt x="43606" y="25019"/>
                    <a:pt x="52818" y="25019"/>
                  </a:cubicBezTo>
                  <a:cubicBezTo>
                    <a:pt x="62030" y="25019"/>
                    <a:pt x="69497" y="32486"/>
                    <a:pt x="69497" y="41698"/>
                  </a:cubicBezTo>
                  <a:cubicBezTo>
                    <a:pt x="69497" y="50910"/>
                    <a:pt x="62030" y="58378"/>
                    <a:pt x="52818" y="58378"/>
                  </a:cubicBezTo>
                  <a:close/>
                  <a:moveTo>
                    <a:pt x="133435" y="58378"/>
                  </a:moveTo>
                  <a:cubicBezTo>
                    <a:pt x="124223" y="58378"/>
                    <a:pt x="116755" y="50910"/>
                    <a:pt x="116755" y="41698"/>
                  </a:cubicBezTo>
                  <a:cubicBezTo>
                    <a:pt x="116755" y="32486"/>
                    <a:pt x="124223" y="25019"/>
                    <a:pt x="133435" y="25019"/>
                  </a:cubicBezTo>
                  <a:cubicBezTo>
                    <a:pt x="142647" y="25019"/>
                    <a:pt x="150114" y="32486"/>
                    <a:pt x="150114" y="41698"/>
                  </a:cubicBezTo>
                  <a:cubicBezTo>
                    <a:pt x="150114" y="50910"/>
                    <a:pt x="142647" y="58378"/>
                    <a:pt x="133435" y="58378"/>
                  </a:cubicBezTo>
                  <a:close/>
                  <a:moveTo>
                    <a:pt x="214052" y="58378"/>
                  </a:moveTo>
                  <a:cubicBezTo>
                    <a:pt x="204840" y="58378"/>
                    <a:pt x="197372" y="50910"/>
                    <a:pt x="197372" y="41698"/>
                  </a:cubicBezTo>
                  <a:cubicBezTo>
                    <a:pt x="197372" y="32486"/>
                    <a:pt x="204840" y="25019"/>
                    <a:pt x="214052" y="25019"/>
                  </a:cubicBezTo>
                  <a:cubicBezTo>
                    <a:pt x="223264" y="25019"/>
                    <a:pt x="230731" y="32486"/>
                    <a:pt x="230731" y="41698"/>
                  </a:cubicBezTo>
                  <a:cubicBezTo>
                    <a:pt x="230731" y="50910"/>
                    <a:pt x="223264" y="58378"/>
                    <a:pt x="214052" y="58378"/>
                  </a:cubicBez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FFFFFF"/>
                </a:solidFill>
                <a:effectLst/>
                <a:uLnTx/>
                <a:uFillTx/>
                <a:latin typeface="Segoe UI"/>
                <a:ea typeface="+mn-ea"/>
                <a:cs typeface="+mn-cs"/>
              </a:endParaRPr>
            </a:p>
          </p:txBody>
        </p:sp>
        <p:sp>
          <p:nvSpPr>
            <p:cNvPr id="247" name="Freeform: Shape 246">
              <a:extLst>
                <a:ext uri="{FF2B5EF4-FFF2-40B4-BE49-F238E27FC236}">
                  <a16:creationId xmlns:a16="http://schemas.microsoft.com/office/drawing/2014/main" id="{FCE837CE-A1AB-4B28-9991-3D81DBA878E4}"/>
                </a:ext>
              </a:extLst>
            </p:cNvPr>
            <p:cNvSpPr/>
            <p:nvPr/>
          </p:nvSpPr>
          <p:spPr>
            <a:xfrm>
              <a:off x="7505714" y="8058619"/>
              <a:ext cx="16679" cy="16679"/>
            </a:xfrm>
            <a:custGeom>
              <a:avLst/>
              <a:gdLst>
                <a:gd name="connsiteX0" fmla="*/ 16679 w 16679"/>
                <a:gd name="connsiteY0" fmla="*/ 8340 h 16679"/>
                <a:gd name="connsiteX1" fmla="*/ 8340 w 16679"/>
                <a:gd name="connsiteY1" fmla="*/ 16679 h 16679"/>
                <a:gd name="connsiteX2" fmla="*/ 0 w 16679"/>
                <a:gd name="connsiteY2" fmla="*/ 8340 h 16679"/>
                <a:gd name="connsiteX3" fmla="*/ 8340 w 16679"/>
                <a:gd name="connsiteY3" fmla="*/ 0 h 16679"/>
                <a:gd name="connsiteX4" fmla="*/ 16679 w 16679"/>
                <a:gd name="connsiteY4" fmla="*/ 8340 h 1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79" h="16679">
                  <a:moveTo>
                    <a:pt x="16679" y="8340"/>
                  </a:moveTo>
                  <a:cubicBezTo>
                    <a:pt x="16679" y="12946"/>
                    <a:pt x="12946" y="16679"/>
                    <a:pt x="8340" y="16679"/>
                  </a:cubicBezTo>
                  <a:cubicBezTo>
                    <a:pt x="3734" y="16679"/>
                    <a:pt x="0" y="12946"/>
                    <a:pt x="0" y="8340"/>
                  </a:cubicBezTo>
                  <a:cubicBezTo>
                    <a:pt x="0" y="3734"/>
                    <a:pt x="3734" y="0"/>
                    <a:pt x="8340" y="0"/>
                  </a:cubicBezTo>
                  <a:cubicBezTo>
                    <a:pt x="12946" y="0"/>
                    <a:pt x="16679" y="3734"/>
                    <a:pt x="16679" y="8340"/>
                  </a:cubicBez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FFFFFF"/>
                </a:solidFill>
                <a:effectLst/>
                <a:uLnTx/>
                <a:uFillTx/>
                <a:latin typeface="Segoe UI"/>
                <a:ea typeface="+mn-ea"/>
                <a:cs typeface="+mn-cs"/>
              </a:endParaRPr>
            </a:p>
          </p:txBody>
        </p:sp>
        <p:sp>
          <p:nvSpPr>
            <p:cNvPr id="248" name="Freeform: Shape 247">
              <a:extLst>
                <a:ext uri="{FF2B5EF4-FFF2-40B4-BE49-F238E27FC236}">
                  <a16:creationId xmlns:a16="http://schemas.microsoft.com/office/drawing/2014/main" id="{E1BAB055-A31C-417E-90C8-5E6200FEB847}"/>
                </a:ext>
              </a:extLst>
            </p:cNvPr>
            <p:cNvSpPr/>
            <p:nvPr/>
          </p:nvSpPr>
          <p:spPr>
            <a:xfrm>
              <a:off x="7412143" y="7944561"/>
              <a:ext cx="144554" cy="177995"/>
            </a:xfrm>
            <a:custGeom>
              <a:avLst/>
              <a:gdLst>
                <a:gd name="connsiteX0" fmla="*/ 120147 w 144554"/>
                <a:gd name="connsiteY0" fmla="*/ 66799 h 177995"/>
                <a:gd name="connsiteX1" fmla="*/ 83397 w 144554"/>
                <a:gd name="connsiteY1" fmla="*/ 66799 h 177995"/>
                <a:gd name="connsiteX2" fmla="*/ 83397 w 144554"/>
                <a:gd name="connsiteY2" fmla="*/ 41502 h 177995"/>
                <a:gd name="connsiteX3" fmla="*/ 91537 w 144554"/>
                <a:gd name="connsiteY3" fmla="*/ 11123 h 177995"/>
                <a:gd name="connsiteX4" fmla="*/ 61158 w 144554"/>
                <a:gd name="connsiteY4" fmla="*/ 2983 h 177995"/>
                <a:gd name="connsiteX5" fmla="*/ 53018 w 144554"/>
                <a:gd name="connsiteY5" fmla="*/ 33362 h 177995"/>
                <a:gd name="connsiteX6" fmla="*/ 61158 w 144554"/>
                <a:gd name="connsiteY6" fmla="*/ 41502 h 177995"/>
                <a:gd name="connsiteX7" fmla="*/ 61158 w 144554"/>
                <a:gd name="connsiteY7" fmla="*/ 66799 h 177995"/>
                <a:gd name="connsiteX8" fmla="*/ 24407 w 144554"/>
                <a:gd name="connsiteY8" fmla="*/ 66799 h 177995"/>
                <a:gd name="connsiteX9" fmla="*/ 0 w 144554"/>
                <a:gd name="connsiteY9" fmla="*/ 91207 h 177995"/>
                <a:gd name="connsiteX10" fmla="*/ 0 w 144554"/>
                <a:gd name="connsiteY10" fmla="*/ 153588 h 177995"/>
                <a:gd name="connsiteX11" fmla="*/ 24407 w 144554"/>
                <a:gd name="connsiteY11" fmla="*/ 177995 h 177995"/>
                <a:gd name="connsiteX12" fmla="*/ 120147 w 144554"/>
                <a:gd name="connsiteY12" fmla="*/ 177995 h 177995"/>
                <a:gd name="connsiteX13" fmla="*/ 144554 w 144554"/>
                <a:gd name="connsiteY13" fmla="*/ 153588 h 177995"/>
                <a:gd name="connsiteX14" fmla="*/ 144554 w 144554"/>
                <a:gd name="connsiteY14" fmla="*/ 91207 h 177995"/>
                <a:gd name="connsiteX15" fmla="*/ 120147 w 144554"/>
                <a:gd name="connsiteY15" fmla="*/ 66799 h 177995"/>
                <a:gd name="connsiteX16" fmla="*/ 44478 w 144554"/>
                <a:gd name="connsiteY16" fmla="*/ 139077 h 177995"/>
                <a:gd name="connsiteX17" fmla="*/ 27799 w 144554"/>
                <a:gd name="connsiteY17" fmla="*/ 122397 h 177995"/>
                <a:gd name="connsiteX18" fmla="*/ 44478 w 144554"/>
                <a:gd name="connsiteY18" fmla="*/ 105718 h 177995"/>
                <a:gd name="connsiteX19" fmla="*/ 61158 w 144554"/>
                <a:gd name="connsiteY19" fmla="*/ 122397 h 177995"/>
                <a:gd name="connsiteX20" fmla="*/ 44478 w 144554"/>
                <a:gd name="connsiteY20" fmla="*/ 139077 h 177995"/>
                <a:gd name="connsiteX21" fmla="*/ 100076 w 144554"/>
                <a:gd name="connsiteY21" fmla="*/ 139077 h 177995"/>
                <a:gd name="connsiteX22" fmla="*/ 83397 w 144554"/>
                <a:gd name="connsiteY22" fmla="*/ 122397 h 177995"/>
                <a:gd name="connsiteX23" fmla="*/ 100076 w 144554"/>
                <a:gd name="connsiteY23" fmla="*/ 105718 h 177995"/>
                <a:gd name="connsiteX24" fmla="*/ 116755 w 144554"/>
                <a:gd name="connsiteY24" fmla="*/ 122397 h 177995"/>
                <a:gd name="connsiteX25" fmla="*/ 100076 w 144554"/>
                <a:gd name="connsiteY25" fmla="*/ 139077 h 177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4554" h="177995">
                  <a:moveTo>
                    <a:pt x="120147" y="66799"/>
                  </a:moveTo>
                  <a:lnTo>
                    <a:pt x="83397" y="66799"/>
                  </a:lnTo>
                  <a:lnTo>
                    <a:pt x="83397" y="41502"/>
                  </a:lnTo>
                  <a:cubicBezTo>
                    <a:pt x="94034" y="35361"/>
                    <a:pt x="97678" y="21760"/>
                    <a:pt x="91537" y="11123"/>
                  </a:cubicBezTo>
                  <a:cubicBezTo>
                    <a:pt x="85395" y="486"/>
                    <a:pt x="71795" y="-3158"/>
                    <a:pt x="61158" y="2983"/>
                  </a:cubicBezTo>
                  <a:cubicBezTo>
                    <a:pt x="50521" y="9124"/>
                    <a:pt x="46876" y="22725"/>
                    <a:pt x="53018" y="33362"/>
                  </a:cubicBezTo>
                  <a:cubicBezTo>
                    <a:pt x="54970" y="36743"/>
                    <a:pt x="57777" y="39550"/>
                    <a:pt x="61158" y="41502"/>
                  </a:cubicBezTo>
                  <a:lnTo>
                    <a:pt x="61158" y="66799"/>
                  </a:lnTo>
                  <a:lnTo>
                    <a:pt x="24407" y="66799"/>
                  </a:lnTo>
                  <a:cubicBezTo>
                    <a:pt x="10941" y="66830"/>
                    <a:pt x="31" y="77740"/>
                    <a:pt x="0" y="91207"/>
                  </a:cubicBezTo>
                  <a:lnTo>
                    <a:pt x="0" y="153588"/>
                  </a:lnTo>
                  <a:cubicBezTo>
                    <a:pt x="31" y="167055"/>
                    <a:pt x="10941" y="177965"/>
                    <a:pt x="24407" y="177995"/>
                  </a:cubicBezTo>
                  <a:lnTo>
                    <a:pt x="120147" y="177995"/>
                  </a:lnTo>
                  <a:cubicBezTo>
                    <a:pt x="133614" y="177965"/>
                    <a:pt x="144524" y="167055"/>
                    <a:pt x="144554" y="153588"/>
                  </a:cubicBezTo>
                  <a:lnTo>
                    <a:pt x="144554" y="91207"/>
                  </a:lnTo>
                  <a:cubicBezTo>
                    <a:pt x="144524" y="77740"/>
                    <a:pt x="133614" y="66830"/>
                    <a:pt x="120147" y="66799"/>
                  </a:cubicBezTo>
                  <a:close/>
                  <a:moveTo>
                    <a:pt x="44478" y="139077"/>
                  </a:moveTo>
                  <a:cubicBezTo>
                    <a:pt x="35266" y="139077"/>
                    <a:pt x="27799" y="131609"/>
                    <a:pt x="27799" y="122397"/>
                  </a:cubicBezTo>
                  <a:cubicBezTo>
                    <a:pt x="27799" y="113185"/>
                    <a:pt x="35266" y="105718"/>
                    <a:pt x="44478" y="105718"/>
                  </a:cubicBezTo>
                  <a:cubicBezTo>
                    <a:pt x="53690" y="105718"/>
                    <a:pt x="61158" y="113185"/>
                    <a:pt x="61158" y="122397"/>
                  </a:cubicBezTo>
                  <a:cubicBezTo>
                    <a:pt x="61158" y="131609"/>
                    <a:pt x="53690" y="139077"/>
                    <a:pt x="44478" y="139077"/>
                  </a:cubicBezTo>
                  <a:close/>
                  <a:moveTo>
                    <a:pt x="100076" y="139077"/>
                  </a:moveTo>
                  <a:cubicBezTo>
                    <a:pt x="90864" y="139077"/>
                    <a:pt x="83397" y="131609"/>
                    <a:pt x="83397" y="122397"/>
                  </a:cubicBezTo>
                  <a:cubicBezTo>
                    <a:pt x="83397" y="113185"/>
                    <a:pt x="90864" y="105718"/>
                    <a:pt x="100076" y="105718"/>
                  </a:cubicBezTo>
                  <a:cubicBezTo>
                    <a:pt x="109288" y="105718"/>
                    <a:pt x="116755" y="113185"/>
                    <a:pt x="116755" y="122397"/>
                  </a:cubicBezTo>
                  <a:cubicBezTo>
                    <a:pt x="116755" y="131609"/>
                    <a:pt x="109288" y="139077"/>
                    <a:pt x="100076" y="139077"/>
                  </a:cubicBez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FFFFFF"/>
                </a:solidFill>
                <a:effectLst/>
                <a:uLnTx/>
                <a:uFillTx/>
                <a:latin typeface="Segoe UI"/>
                <a:ea typeface="+mn-ea"/>
                <a:cs typeface="+mn-cs"/>
              </a:endParaRPr>
            </a:p>
          </p:txBody>
        </p:sp>
        <p:sp>
          <p:nvSpPr>
            <p:cNvPr id="249" name="Freeform: Shape 248">
              <a:extLst>
                <a:ext uri="{FF2B5EF4-FFF2-40B4-BE49-F238E27FC236}">
                  <a16:creationId xmlns:a16="http://schemas.microsoft.com/office/drawing/2014/main" id="{EF7E4237-59C9-407E-8577-D9E63DC40901}"/>
                </a:ext>
              </a:extLst>
            </p:cNvPr>
            <p:cNvSpPr/>
            <p:nvPr/>
          </p:nvSpPr>
          <p:spPr>
            <a:xfrm>
              <a:off x="7450116" y="8058619"/>
              <a:ext cx="16679" cy="16679"/>
            </a:xfrm>
            <a:custGeom>
              <a:avLst/>
              <a:gdLst>
                <a:gd name="connsiteX0" fmla="*/ 16679 w 16679"/>
                <a:gd name="connsiteY0" fmla="*/ 8340 h 16679"/>
                <a:gd name="connsiteX1" fmla="*/ 8340 w 16679"/>
                <a:gd name="connsiteY1" fmla="*/ 16679 h 16679"/>
                <a:gd name="connsiteX2" fmla="*/ 0 w 16679"/>
                <a:gd name="connsiteY2" fmla="*/ 8340 h 16679"/>
                <a:gd name="connsiteX3" fmla="*/ 8340 w 16679"/>
                <a:gd name="connsiteY3" fmla="*/ 0 h 16679"/>
                <a:gd name="connsiteX4" fmla="*/ 16679 w 16679"/>
                <a:gd name="connsiteY4" fmla="*/ 8340 h 1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79" h="16679">
                  <a:moveTo>
                    <a:pt x="16679" y="8340"/>
                  </a:moveTo>
                  <a:cubicBezTo>
                    <a:pt x="16679" y="12946"/>
                    <a:pt x="12946" y="16679"/>
                    <a:pt x="8340" y="16679"/>
                  </a:cubicBezTo>
                  <a:cubicBezTo>
                    <a:pt x="3734" y="16679"/>
                    <a:pt x="0" y="12946"/>
                    <a:pt x="0" y="8340"/>
                  </a:cubicBezTo>
                  <a:cubicBezTo>
                    <a:pt x="0" y="3734"/>
                    <a:pt x="3734" y="0"/>
                    <a:pt x="8340" y="0"/>
                  </a:cubicBezTo>
                  <a:cubicBezTo>
                    <a:pt x="12946" y="0"/>
                    <a:pt x="16679" y="3734"/>
                    <a:pt x="16679" y="8340"/>
                  </a:cubicBez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FFFFFF"/>
                </a:solidFill>
                <a:effectLst/>
                <a:uLnTx/>
                <a:uFillTx/>
                <a:latin typeface="Segoe UI"/>
                <a:ea typeface="+mn-ea"/>
                <a:cs typeface="+mn-cs"/>
              </a:endParaRPr>
            </a:p>
          </p:txBody>
        </p:sp>
        <p:sp>
          <p:nvSpPr>
            <p:cNvPr id="250" name="Freeform: Shape 249">
              <a:extLst>
                <a:ext uri="{FF2B5EF4-FFF2-40B4-BE49-F238E27FC236}">
                  <a16:creationId xmlns:a16="http://schemas.microsoft.com/office/drawing/2014/main" id="{D19D6D32-0E91-4E6E-B923-662E78C99DFC}"/>
                </a:ext>
              </a:extLst>
            </p:cNvPr>
            <p:cNvSpPr/>
            <p:nvPr/>
          </p:nvSpPr>
          <p:spPr>
            <a:xfrm>
              <a:off x="7304743" y="8065124"/>
              <a:ext cx="349222" cy="231564"/>
            </a:xfrm>
            <a:custGeom>
              <a:avLst/>
              <a:gdLst>
                <a:gd name="connsiteX0" fmla="*/ 324231 w 349222"/>
                <a:gd name="connsiteY0" fmla="*/ 173187 h 231564"/>
                <a:gd name="connsiteX1" fmla="*/ 324231 w 349222"/>
                <a:gd name="connsiteY1" fmla="*/ 126874 h 231564"/>
                <a:gd name="connsiteX2" fmla="*/ 299268 w 349222"/>
                <a:gd name="connsiteY2" fmla="*/ 101911 h 231564"/>
                <a:gd name="connsiteX3" fmla="*/ 268633 w 349222"/>
                <a:gd name="connsiteY3" fmla="*/ 101911 h 231564"/>
                <a:gd name="connsiteX4" fmla="*/ 268633 w 349222"/>
                <a:gd name="connsiteY4" fmla="*/ 74112 h 231564"/>
                <a:gd name="connsiteX5" fmla="*/ 90720 w 349222"/>
                <a:gd name="connsiteY5" fmla="*/ 74112 h 231564"/>
                <a:gd name="connsiteX6" fmla="*/ 90720 w 349222"/>
                <a:gd name="connsiteY6" fmla="*/ 107471 h 231564"/>
                <a:gd name="connsiteX7" fmla="*/ 48966 w 349222"/>
                <a:gd name="connsiteY7" fmla="*/ 107471 h 231564"/>
                <a:gd name="connsiteX8" fmla="*/ 46242 w 349222"/>
                <a:gd name="connsiteY8" fmla="*/ 104746 h 231564"/>
                <a:gd name="connsiteX9" fmla="*/ 46242 w 349222"/>
                <a:gd name="connsiteY9" fmla="*/ 58656 h 231564"/>
                <a:gd name="connsiteX10" fmla="*/ 70628 w 349222"/>
                <a:gd name="connsiteY10" fmla="*/ 13831 h 231564"/>
                <a:gd name="connsiteX11" fmla="*/ 62921 w 349222"/>
                <a:gd name="connsiteY11" fmla="*/ 0 h 231564"/>
                <a:gd name="connsiteX12" fmla="*/ 46242 w 349222"/>
                <a:gd name="connsiteY12" fmla="*/ 14789 h 231564"/>
                <a:gd name="connsiteX13" fmla="*/ 49967 w 349222"/>
                <a:gd name="connsiteY13" fmla="*/ 24074 h 231564"/>
                <a:gd name="connsiteX14" fmla="*/ 35992 w 349222"/>
                <a:gd name="connsiteY14" fmla="*/ 37898 h 231564"/>
                <a:gd name="connsiteX15" fmla="*/ 22169 w 349222"/>
                <a:gd name="connsiteY15" fmla="*/ 23923 h 231564"/>
                <a:gd name="connsiteX16" fmla="*/ 25559 w 349222"/>
                <a:gd name="connsiteY16" fmla="*/ 14900 h 231564"/>
                <a:gd name="connsiteX17" fmla="*/ 8880 w 349222"/>
                <a:gd name="connsiteY17" fmla="*/ 278 h 231564"/>
                <a:gd name="connsiteX18" fmla="*/ 12413 w 349222"/>
                <a:gd name="connsiteY18" fmla="*/ 51263 h 231564"/>
                <a:gd name="connsiteX19" fmla="*/ 24003 w 349222"/>
                <a:gd name="connsiteY19" fmla="*/ 58044 h 231564"/>
                <a:gd name="connsiteX20" fmla="*/ 24003 w 349222"/>
                <a:gd name="connsiteY20" fmla="*/ 104746 h 231564"/>
                <a:gd name="connsiteX21" fmla="*/ 48966 w 349222"/>
                <a:gd name="connsiteY21" fmla="*/ 129710 h 231564"/>
                <a:gd name="connsiteX22" fmla="*/ 90720 w 349222"/>
                <a:gd name="connsiteY22" fmla="*/ 129710 h 231564"/>
                <a:gd name="connsiteX23" fmla="*/ 90720 w 349222"/>
                <a:gd name="connsiteY23" fmla="*/ 229786 h 231564"/>
                <a:gd name="connsiteX24" fmla="*/ 268633 w 349222"/>
                <a:gd name="connsiteY24" fmla="*/ 229786 h 231564"/>
                <a:gd name="connsiteX25" fmla="*/ 268633 w 349222"/>
                <a:gd name="connsiteY25" fmla="*/ 124150 h 231564"/>
                <a:gd name="connsiteX26" fmla="*/ 299268 w 349222"/>
                <a:gd name="connsiteY26" fmla="*/ 124150 h 231564"/>
                <a:gd name="connsiteX27" fmla="*/ 301992 w 349222"/>
                <a:gd name="connsiteY27" fmla="*/ 126874 h 231564"/>
                <a:gd name="connsiteX28" fmla="*/ 301992 w 349222"/>
                <a:gd name="connsiteY28" fmla="*/ 173187 h 231564"/>
                <a:gd name="connsiteX29" fmla="*/ 278731 w 349222"/>
                <a:gd name="connsiteY29" fmla="*/ 218695 h 231564"/>
                <a:gd name="connsiteX30" fmla="*/ 286091 w 349222"/>
                <a:gd name="connsiteY30" fmla="*/ 231565 h 231564"/>
                <a:gd name="connsiteX31" fmla="*/ 302770 w 349222"/>
                <a:gd name="connsiteY31" fmla="*/ 216776 h 231564"/>
                <a:gd name="connsiteX32" fmla="*/ 299212 w 349222"/>
                <a:gd name="connsiteY32" fmla="*/ 207547 h 231564"/>
                <a:gd name="connsiteX33" fmla="*/ 313123 w 349222"/>
                <a:gd name="connsiteY33" fmla="*/ 193659 h 231564"/>
                <a:gd name="connsiteX34" fmla="*/ 327011 w 349222"/>
                <a:gd name="connsiteY34" fmla="*/ 207570 h 231564"/>
                <a:gd name="connsiteX35" fmla="*/ 323564 w 349222"/>
                <a:gd name="connsiteY35" fmla="*/ 216720 h 231564"/>
                <a:gd name="connsiteX36" fmla="*/ 340243 w 349222"/>
                <a:gd name="connsiteY36" fmla="*/ 231342 h 231564"/>
                <a:gd name="connsiteX37" fmla="*/ 336958 w 349222"/>
                <a:gd name="connsiteY37" fmla="*/ 180419 h 231564"/>
                <a:gd name="connsiteX38" fmla="*/ 324231 w 349222"/>
                <a:gd name="connsiteY38" fmla="*/ 173187 h 231564"/>
                <a:gd name="connsiteX39" fmla="*/ 246394 w 349222"/>
                <a:gd name="connsiteY39" fmla="*/ 151949 h 231564"/>
                <a:gd name="connsiteX40" fmla="*/ 230938 w 349222"/>
                <a:gd name="connsiteY40" fmla="*/ 151949 h 231564"/>
                <a:gd name="connsiteX41" fmla="*/ 229437 w 349222"/>
                <a:gd name="connsiteY41" fmla="*/ 152560 h 231564"/>
                <a:gd name="connsiteX42" fmla="*/ 212424 w 349222"/>
                <a:gd name="connsiteY42" fmla="*/ 169963 h 231564"/>
                <a:gd name="connsiteX43" fmla="*/ 199469 w 349222"/>
                <a:gd name="connsiteY43" fmla="*/ 139273 h 231564"/>
                <a:gd name="connsiteX44" fmla="*/ 175284 w 349222"/>
                <a:gd name="connsiteY44" fmla="*/ 189311 h 231564"/>
                <a:gd name="connsiteX45" fmla="*/ 158327 w 349222"/>
                <a:gd name="connsiteY45" fmla="*/ 124150 h 231564"/>
                <a:gd name="connsiteX46" fmla="*/ 145262 w 349222"/>
                <a:gd name="connsiteY46" fmla="*/ 151949 h 231564"/>
                <a:gd name="connsiteX47" fmla="*/ 118519 w 349222"/>
                <a:gd name="connsiteY47" fmla="*/ 151949 h 231564"/>
                <a:gd name="connsiteX48" fmla="*/ 118519 w 349222"/>
                <a:gd name="connsiteY48" fmla="*/ 140829 h 231564"/>
                <a:gd name="connsiteX49" fmla="*/ 138201 w 349222"/>
                <a:gd name="connsiteY49" fmla="*/ 140829 h 231564"/>
                <a:gd name="connsiteX50" fmla="*/ 161329 w 349222"/>
                <a:gd name="connsiteY50" fmla="*/ 91625 h 231564"/>
                <a:gd name="connsiteX51" fmla="*/ 178453 w 349222"/>
                <a:gd name="connsiteY51" fmla="*/ 157119 h 231564"/>
                <a:gd name="connsiteX52" fmla="*/ 200192 w 349222"/>
                <a:gd name="connsiteY52" fmla="*/ 112641 h 231564"/>
                <a:gd name="connsiteX53" fmla="*/ 216204 w 349222"/>
                <a:gd name="connsiteY53" fmla="*/ 150559 h 231564"/>
                <a:gd name="connsiteX54" fmla="*/ 221764 w 349222"/>
                <a:gd name="connsiteY54" fmla="*/ 144999 h 231564"/>
                <a:gd name="connsiteX55" fmla="*/ 230938 w 349222"/>
                <a:gd name="connsiteY55" fmla="*/ 140829 h 231564"/>
                <a:gd name="connsiteX56" fmla="*/ 246394 w 349222"/>
                <a:gd name="connsiteY56" fmla="*/ 140829 h 231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49222" h="231564">
                  <a:moveTo>
                    <a:pt x="324231" y="173187"/>
                  </a:moveTo>
                  <a:lnTo>
                    <a:pt x="324231" y="126874"/>
                  </a:lnTo>
                  <a:cubicBezTo>
                    <a:pt x="324231" y="113087"/>
                    <a:pt x="313055" y="101911"/>
                    <a:pt x="299268" y="101911"/>
                  </a:cubicBezTo>
                  <a:lnTo>
                    <a:pt x="268633" y="101911"/>
                  </a:lnTo>
                  <a:lnTo>
                    <a:pt x="268633" y="74112"/>
                  </a:lnTo>
                  <a:lnTo>
                    <a:pt x="90720" y="74112"/>
                  </a:lnTo>
                  <a:lnTo>
                    <a:pt x="90720" y="107471"/>
                  </a:lnTo>
                  <a:lnTo>
                    <a:pt x="48966" y="107471"/>
                  </a:lnTo>
                  <a:cubicBezTo>
                    <a:pt x="47462" y="107471"/>
                    <a:pt x="46242" y="106251"/>
                    <a:pt x="46242" y="104746"/>
                  </a:cubicBezTo>
                  <a:lnTo>
                    <a:pt x="46242" y="58656"/>
                  </a:lnTo>
                  <a:cubicBezTo>
                    <a:pt x="65354" y="53011"/>
                    <a:pt x="76272" y="32942"/>
                    <a:pt x="70628" y="13831"/>
                  </a:cubicBezTo>
                  <a:cubicBezTo>
                    <a:pt x="69114" y="8707"/>
                    <a:pt x="66482" y="3983"/>
                    <a:pt x="62921" y="0"/>
                  </a:cubicBezTo>
                  <a:lnTo>
                    <a:pt x="46242" y="14789"/>
                  </a:lnTo>
                  <a:cubicBezTo>
                    <a:pt x="48575" y="17326"/>
                    <a:pt x="49900" y="20628"/>
                    <a:pt x="49967" y="24074"/>
                  </a:cubicBezTo>
                  <a:cubicBezTo>
                    <a:pt x="49925" y="31750"/>
                    <a:pt x="43668" y="37939"/>
                    <a:pt x="35992" y="37898"/>
                  </a:cubicBezTo>
                  <a:cubicBezTo>
                    <a:pt x="28315" y="37855"/>
                    <a:pt x="22127" y="31599"/>
                    <a:pt x="22169" y="23923"/>
                  </a:cubicBezTo>
                  <a:cubicBezTo>
                    <a:pt x="22186" y="20607"/>
                    <a:pt x="23389" y="17407"/>
                    <a:pt x="25559" y="14900"/>
                  </a:cubicBezTo>
                  <a:lnTo>
                    <a:pt x="8880" y="278"/>
                  </a:lnTo>
                  <a:cubicBezTo>
                    <a:pt x="-4224" y="15333"/>
                    <a:pt x="-2642" y="38160"/>
                    <a:pt x="12413" y="51263"/>
                  </a:cubicBezTo>
                  <a:cubicBezTo>
                    <a:pt x="15819" y="54228"/>
                    <a:pt x="19749" y="56528"/>
                    <a:pt x="24003" y="58044"/>
                  </a:cubicBezTo>
                  <a:lnTo>
                    <a:pt x="24003" y="104746"/>
                  </a:lnTo>
                  <a:cubicBezTo>
                    <a:pt x="24003" y="118533"/>
                    <a:pt x="35179" y="129710"/>
                    <a:pt x="48966" y="129710"/>
                  </a:cubicBezTo>
                  <a:lnTo>
                    <a:pt x="90720" y="129710"/>
                  </a:lnTo>
                  <a:lnTo>
                    <a:pt x="90720" y="229786"/>
                  </a:lnTo>
                  <a:lnTo>
                    <a:pt x="268633" y="229786"/>
                  </a:lnTo>
                  <a:lnTo>
                    <a:pt x="268633" y="124150"/>
                  </a:lnTo>
                  <a:lnTo>
                    <a:pt x="299268" y="124150"/>
                  </a:lnTo>
                  <a:cubicBezTo>
                    <a:pt x="300772" y="124150"/>
                    <a:pt x="301992" y="125370"/>
                    <a:pt x="301992" y="126874"/>
                  </a:cubicBezTo>
                  <a:lnTo>
                    <a:pt x="301992" y="173187"/>
                  </a:lnTo>
                  <a:cubicBezTo>
                    <a:pt x="283002" y="179330"/>
                    <a:pt x="272588" y="199705"/>
                    <a:pt x="278731" y="218695"/>
                  </a:cubicBezTo>
                  <a:cubicBezTo>
                    <a:pt x="280269" y="223447"/>
                    <a:pt x="282774" y="227829"/>
                    <a:pt x="286091" y="231565"/>
                  </a:cubicBezTo>
                  <a:lnTo>
                    <a:pt x="302770" y="216776"/>
                  </a:lnTo>
                  <a:cubicBezTo>
                    <a:pt x="300470" y="214254"/>
                    <a:pt x="299200" y="210960"/>
                    <a:pt x="299212" y="207547"/>
                  </a:cubicBezTo>
                  <a:cubicBezTo>
                    <a:pt x="299219" y="199870"/>
                    <a:pt x="305447" y="193652"/>
                    <a:pt x="313123" y="193659"/>
                  </a:cubicBezTo>
                  <a:cubicBezTo>
                    <a:pt x="320799" y="193666"/>
                    <a:pt x="327017" y="199894"/>
                    <a:pt x="327011" y="207570"/>
                  </a:cubicBezTo>
                  <a:cubicBezTo>
                    <a:pt x="327008" y="210937"/>
                    <a:pt x="325783" y="214188"/>
                    <a:pt x="323564" y="216720"/>
                  </a:cubicBezTo>
                  <a:lnTo>
                    <a:pt x="340243" y="231342"/>
                  </a:lnTo>
                  <a:cubicBezTo>
                    <a:pt x="353398" y="216373"/>
                    <a:pt x="351928" y="193574"/>
                    <a:pt x="336958" y="180419"/>
                  </a:cubicBezTo>
                  <a:cubicBezTo>
                    <a:pt x="333255" y="177164"/>
                    <a:pt x="328923" y="174703"/>
                    <a:pt x="324231" y="173187"/>
                  </a:cubicBezTo>
                  <a:close/>
                  <a:moveTo>
                    <a:pt x="246394" y="151949"/>
                  </a:moveTo>
                  <a:lnTo>
                    <a:pt x="230938" y="151949"/>
                  </a:lnTo>
                  <a:cubicBezTo>
                    <a:pt x="230400" y="152045"/>
                    <a:pt x="229889" y="152253"/>
                    <a:pt x="229437" y="152560"/>
                  </a:cubicBezTo>
                  <a:lnTo>
                    <a:pt x="212424" y="169963"/>
                  </a:lnTo>
                  <a:lnTo>
                    <a:pt x="199469" y="139273"/>
                  </a:lnTo>
                  <a:lnTo>
                    <a:pt x="175284" y="189311"/>
                  </a:lnTo>
                  <a:lnTo>
                    <a:pt x="158327" y="124150"/>
                  </a:lnTo>
                  <a:lnTo>
                    <a:pt x="145262" y="151949"/>
                  </a:lnTo>
                  <a:lnTo>
                    <a:pt x="118519" y="151949"/>
                  </a:lnTo>
                  <a:lnTo>
                    <a:pt x="118519" y="140829"/>
                  </a:lnTo>
                  <a:lnTo>
                    <a:pt x="138201" y="140829"/>
                  </a:lnTo>
                  <a:lnTo>
                    <a:pt x="161329" y="91625"/>
                  </a:lnTo>
                  <a:lnTo>
                    <a:pt x="178453" y="157119"/>
                  </a:lnTo>
                  <a:lnTo>
                    <a:pt x="200192" y="112641"/>
                  </a:lnTo>
                  <a:lnTo>
                    <a:pt x="216204" y="150559"/>
                  </a:lnTo>
                  <a:lnTo>
                    <a:pt x="221764" y="144999"/>
                  </a:lnTo>
                  <a:cubicBezTo>
                    <a:pt x="224205" y="142528"/>
                    <a:pt x="227471" y="141044"/>
                    <a:pt x="230938" y="140829"/>
                  </a:cubicBezTo>
                  <a:lnTo>
                    <a:pt x="246394" y="140829"/>
                  </a:lnTo>
                  <a:close/>
                </a:path>
              </a:pathLst>
            </a:custGeom>
            <a:grp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30" name="Group 29">
            <a:extLst>
              <a:ext uri="{FF2B5EF4-FFF2-40B4-BE49-F238E27FC236}">
                <a16:creationId xmlns:a16="http://schemas.microsoft.com/office/drawing/2014/main" id="{33511273-2275-4FB0-8AF4-E4A0D70733DA}"/>
              </a:ext>
              <a:ext uri="{C183D7F6-B498-43B3-948B-1728B52AA6E4}">
                <adec:decorative xmlns:adec="http://schemas.microsoft.com/office/drawing/2017/decorative" val="1"/>
              </a:ext>
            </a:extLst>
          </p:cNvPr>
          <p:cNvGrpSpPr/>
          <p:nvPr/>
        </p:nvGrpSpPr>
        <p:grpSpPr>
          <a:xfrm>
            <a:off x="8627161" y="1926050"/>
            <a:ext cx="2372370" cy="1433350"/>
            <a:chOff x="8627161" y="2872200"/>
            <a:chExt cx="2372370" cy="1433350"/>
          </a:xfrm>
        </p:grpSpPr>
        <p:sp>
          <p:nvSpPr>
            <p:cNvPr id="254" name="Rectangle 253">
              <a:extLst>
                <a:ext uri="{FF2B5EF4-FFF2-40B4-BE49-F238E27FC236}">
                  <a16:creationId xmlns:a16="http://schemas.microsoft.com/office/drawing/2014/main" id="{AC8A1E05-1DB2-432E-9AB7-C6D8360AEB88}"/>
                </a:ext>
              </a:extLst>
            </p:cNvPr>
            <p:cNvSpPr/>
            <p:nvPr/>
          </p:nvSpPr>
          <p:spPr bwMode="auto">
            <a:xfrm>
              <a:off x="8800836" y="2887297"/>
              <a:ext cx="2198695" cy="317155"/>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146304" rIns="182880" bIns="146304"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a:ln>
                    <a:noFill/>
                  </a:ln>
                  <a:solidFill>
                    <a:srgbClr val="FFFFFF"/>
                  </a:solidFill>
                  <a:effectLst/>
                  <a:uLnTx/>
                  <a:uFillTx/>
                  <a:latin typeface="Segoe UI Semibold"/>
                  <a:ea typeface="+mn-ea"/>
                  <a:cs typeface="+mn-cs"/>
                </a:rPr>
                <a:t>RPA</a:t>
              </a:r>
            </a:p>
          </p:txBody>
        </p:sp>
        <p:sp>
          <p:nvSpPr>
            <p:cNvPr id="255" name="Rectangle 254">
              <a:extLst>
                <a:ext uri="{FF2B5EF4-FFF2-40B4-BE49-F238E27FC236}">
                  <a16:creationId xmlns:a16="http://schemas.microsoft.com/office/drawing/2014/main" id="{C913B6C7-D361-401E-868C-6F71C3B818E2}"/>
                </a:ext>
              </a:extLst>
            </p:cNvPr>
            <p:cNvSpPr/>
            <p:nvPr/>
          </p:nvSpPr>
          <p:spPr bwMode="auto">
            <a:xfrm>
              <a:off x="9177238" y="3324362"/>
              <a:ext cx="1701639" cy="98118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Segoe UI" pitchFamily="34" charset="0"/>
                  <a:cs typeface="Segoe UI" pitchFamily="34" charset="0"/>
                </a:rPr>
                <a:t>RPA bot </a:t>
              </a:r>
              <a:r>
                <a:rPr kumimoji="0" lang="en-US" sz="12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receives inputs from </a:t>
              </a:r>
              <a:r>
                <a:rPr kumimoji="0" lang="en-US" sz="1200" b="0" i="0" u="none" strike="noStrike" kern="1200" cap="none" spc="0" normalizeH="0" baseline="0" noProof="0">
                  <a:ln>
                    <a:noFill/>
                  </a:ln>
                  <a:solidFill>
                    <a:srgbClr val="0078D4"/>
                  </a:solidFill>
                  <a:effectLst/>
                  <a:uLnTx/>
                  <a:uFillTx/>
                  <a:latin typeface="Segoe UI Semibold"/>
                  <a:ea typeface="+mn-ea"/>
                  <a:cs typeface="Segoe UI" pitchFamily="34" charset="0"/>
                </a:rPr>
                <a:t>cloud flow </a:t>
              </a:r>
              <a:r>
                <a:rPr kumimoji="0" lang="en-US" sz="12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and inserts data into legacy portal/application.</a:t>
              </a:r>
            </a:p>
          </p:txBody>
        </p:sp>
        <p:sp>
          <p:nvSpPr>
            <p:cNvPr id="256" name="Oval 255">
              <a:extLst>
                <a:ext uri="{FF2B5EF4-FFF2-40B4-BE49-F238E27FC236}">
                  <a16:creationId xmlns:a16="http://schemas.microsoft.com/office/drawing/2014/main" id="{67CD634A-DE60-4BF5-BFBE-922C935E52F4}"/>
                </a:ext>
              </a:extLst>
            </p:cNvPr>
            <p:cNvSpPr/>
            <p:nvPr/>
          </p:nvSpPr>
          <p:spPr bwMode="auto">
            <a:xfrm>
              <a:off x="8649981" y="3135451"/>
              <a:ext cx="301711" cy="301711"/>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274320" rIns="182880" bIns="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sym typeface="Wingdings" panose="05000000000000000000" pitchFamily="2" charset="2"/>
                </a:rPr>
                <a:t></a:t>
              </a:r>
              <a:endParaRPr kumimoji="0" lang="en-IN" sz="14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57" name="Oval 256">
              <a:extLst>
                <a:ext uri="{FF2B5EF4-FFF2-40B4-BE49-F238E27FC236}">
                  <a16:creationId xmlns:a16="http://schemas.microsoft.com/office/drawing/2014/main" id="{7659EC99-1C24-4394-AE31-90769ACA9B03}"/>
                </a:ext>
              </a:extLst>
            </p:cNvPr>
            <p:cNvSpPr/>
            <p:nvPr/>
          </p:nvSpPr>
          <p:spPr bwMode="auto">
            <a:xfrm>
              <a:off x="8627161" y="2872200"/>
              <a:ext cx="347350" cy="347348"/>
            </a:xfrm>
            <a:prstGeom prst="ellipse">
              <a:avLst/>
            </a:prstGeom>
            <a:solidFill>
              <a:schemeClr val="bg1"/>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nvGrpSpPr>
            <p:cNvPr id="258" name="Group 257">
              <a:extLst>
                <a:ext uri="{FF2B5EF4-FFF2-40B4-BE49-F238E27FC236}">
                  <a16:creationId xmlns:a16="http://schemas.microsoft.com/office/drawing/2014/main" id="{C3C5204D-2D29-4E6D-B291-30535DAD7A0B}"/>
                </a:ext>
              </a:extLst>
            </p:cNvPr>
            <p:cNvGrpSpPr/>
            <p:nvPr/>
          </p:nvGrpSpPr>
          <p:grpSpPr>
            <a:xfrm>
              <a:off x="8713411" y="2948365"/>
              <a:ext cx="174850" cy="195018"/>
              <a:chOff x="7017270" y="3932818"/>
              <a:chExt cx="378348" cy="421986"/>
            </a:xfrm>
          </p:grpSpPr>
          <p:sp>
            <p:nvSpPr>
              <p:cNvPr id="259" name="Freeform: Shape 258">
                <a:extLst>
                  <a:ext uri="{FF2B5EF4-FFF2-40B4-BE49-F238E27FC236}">
                    <a16:creationId xmlns:a16="http://schemas.microsoft.com/office/drawing/2014/main" id="{012BC657-23B2-4F7F-9F79-BB5B7BC2664A}"/>
                  </a:ext>
                </a:extLst>
              </p:cNvPr>
              <p:cNvSpPr/>
              <p:nvPr/>
            </p:nvSpPr>
            <p:spPr>
              <a:xfrm>
                <a:off x="7064841" y="4193571"/>
                <a:ext cx="161233" cy="161233"/>
              </a:xfrm>
              <a:custGeom>
                <a:avLst/>
                <a:gdLst>
                  <a:gd name="connsiteX0" fmla="*/ 80617 w 161233"/>
                  <a:gd name="connsiteY0" fmla="*/ 108416 h 161233"/>
                  <a:gd name="connsiteX1" fmla="*/ 52818 w 161233"/>
                  <a:gd name="connsiteY1" fmla="*/ 80617 h 161233"/>
                  <a:gd name="connsiteX2" fmla="*/ 80617 w 161233"/>
                  <a:gd name="connsiteY2" fmla="*/ 52818 h 161233"/>
                  <a:gd name="connsiteX3" fmla="*/ 108416 w 161233"/>
                  <a:gd name="connsiteY3" fmla="*/ 80617 h 161233"/>
                  <a:gd name="connsiteX4" fmla="*/ 80617 w 161233"/>
                  <a:gd name="connsiteY4" fmla="*/ 108416 h 161233"/>
                  <a:gd name="connsiteX5" fmla="*/ 80617 w 161233"/>
                  <a:gd name="connsiteY5" fmla="*/ 0 h 161233"/>
                  <a:gd name="connsiteX6" fmla="*/ 0 w 161233"/>
                  <a:gd name="connsiteY6" fmla="*/ 80617 h 161233"/>
                  <a:gd name="connsiteX7" fmla="*/ 80617 w 161233"/>
                  <a:gd name="connsiteY7" fmla="*/ 161234 h 161233"/>
                  <a:gd name="connsiteX8" fmla="*/ 161234 w 161233"/>
                  <a:gd name="connsiteY8" fmla="*/ 80617 h 161233"/>
                  <a:gd name="connsiteX9" fmla="*/ 80617 w 161233"/>
                  <a:gd name="connsiteY9" fmla="*/ 0 h 161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233" h="161233">
                    <a:moveTo>
                      <a:pt x="80617" y="108416"/>
                    </a:moveTo>
                    <a:cubicBezTo>
                      <a:pt x="65049" y="108416"/>
                      <a:pt x="52818" y="96184"/>
                      <a:pt x="52818" y="80617"/>
                    </a:cubicBezTo>
                    <a:cubicBezTo>
                      <a:pt x="52818" y="65049"/>
                      <a:pt x="65049" y="52818"/>
                      <a:pt x="80617" y="52818"/>
                    </a:cubicBezTo>
                    <a:cubicBezTo>
                      <a:pt x="96184" y="52818"/>
                      <a:pt x="108416" y="65049"/>
                      <a:pt x="108416" y="80617"/>
                    </a:cubicBezTo>
                    <a:cubicBezTo>
                      <a:pt x="108416" y="96184"/>
                      <a:pt x="95628" y="108416"/>
                      <a:pt x="80617" y="108416"/>
                    </a:cubicBezTo>
                    <a:close/>
                    <a:moveTo>
                      <a:pt x="80617" y="0"/>
                    </a:moveTo>
                    <a:cubicBezTo>
                      <a:pt x="36139" y="0"/>
                      <a:pt x="0" y="36139"/>
                      <a:pt x="0" y="80617"/>
                    </a:cubicBezTo>
                    <a:cubicBezTo>
                      <a:pt x="0" y="125095"/>
                      <a:pt x="36139" y="161234"/>
                      <a:pt x="80617" y="161234"/>
                    </a:cubicBezTo>
                    <a:cubicBezTo>
                      <a:pt x="125095" y="161234"/>
                      <a:pt x="161234" y="125095"/>
                      <a:pt x="161234" y="80617"/>
                    </a:cubicBezTo>
                    <a:cubicBezTo>
                      <a:pt x="161234" y="36139"/>
                      <a:pt x="125095" y="0"/>
                      <a:pt x="80617" y="0"/>
                    </a:cubicBezTo>
                    <a:close/>
                  </a:path>
                </a:pathLst>
              </a:custGeom>
              <a:solidFill>
                <a:schemeClr val="tx1"/>
              </a:solid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60" name="Freeform: Shape 259">
                <a:extLst>
                  <a:ext uri="{FF2B5EF4-FFF2-40B4-BE49-F238E27FC236}">
                    <a16:creationId xmlns:a16="http://schemas.microsoft.com/office/drawing/2014/main" id="{18B7651E-3512-4E0D-8D8B-0F5F5D90E37B}"/>
                  </a:ext>
                </a:extLst>
              </p:cNvPr>
              <p:cNvSpPr/>
              <p:nvPr/>
            </p:nvSpPr>
            <p:spPr>
              <a:xfrm rot="14849974">
                <a:off x="7231601" y="4062280"/>
                <a:ext cx="144557" cy="183477"/>
              </a:xfrm>
              <a:custGeom>
                <a:avLst/>
                <a:gdLst>
                  <a:gd name="connsiteX0" fmla="*/ 0 w 144557"/>
                  <a:gd name="connsiteY0" fmla="*/ 0 h 183477"/>
                  <a:gd name="connsiteX1" fmla="*/ 144558 w 144557"/>
                  <a:gd name="connsiteY1" fmla="*/ 0 h 183477"/>
                  <a:gd name="connsiteX2" fmla="*/ 144558 w 144557"/>
                  <a:gd name="connsiteY2" fmla="*/ 183478 h 183477"/>
                  <a:gd name="connsiteX3" fmla="*/ 0 w 144557"/>
                  <a:gd name="connsiteY3" fmla="*/ 183478 h 183477"/>
                </a:gdLst>
                <a:ahLst/>
                <a:cxnLst>
                  <a:cxn ang="0">
                    <a:pos x="connsiteX0" y="connsiteY0"/>
                  </a:cxn>
                  <a:cxn ang="0">
                    <a:pos x="connsiteX1" y="connsiteY1"/>
                  </a:cxn>
                  <a:cxn ang="0">
                    <a:pos x="connsiteX2" y="connsiteY2"/>
                  </a:cxn>
                  <a:cxn ang="0">
                    <a:pos x="connsiteX3" y="connsiteY3"/>
                  </a:cxn>
                </a:cxnLst>
                <a:rect l="l" t="t" r="r" b="b"/>
                <a:pathLst>
                  <a:path w="144557" h="183477">
                    <a:moveTo>
                      <a:pt x="0" y="0"/>
                    </a:moveTo>
                    <a:lnTo>
                      <a:pt x="144558" y="0"/>
                    </a:lnTo>
                    <a:lnTo>
                      <a:pt x="144558" y="183478"/>
                    </a:lnTo>
                    <a:lnTo>
                      <a:pt x="0" y="183478"/>
                    </a:lnTo>
                    <a:close/>
                  </a:path>
                </a:pathLst>
              </a:custGeom>
              <a:solidFill>
                <a:schemeClr val="tx1"/>
              </a:solid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61" name="Freeform: Shape 260">
                <a:extLst>
                  <a:ext uri="{FF2B5EF4-FFF2-40B4-BE49-F238E27FC236}">
                    <a16:creationId xmlns:a16="http://schemas.microsoft.com/office/drawing/2014/main" id="{65F46873-A58F-417A-8240-A5E1CFE331A6}"/>
                  </a:ext>
                </a:extLst>
              </p:cNvPr>
              <p:cNvSpPr/>
              <p:nvPr/>
            </p:nvSpPr>
            <p:spPr>
              <a:xfrm>
                <a:off x="7017270" y="3932818"/>
                <a:ext cx="175445" cy="250746"/>
              </a:xfrm>
              <a:custGeom>
                <a:avLst/>
                <a:gdLst>
                  <a:gd name="connsiteX0" fmla="*/ 134859 w 175445"/>
                  <a:gd name="connsiteY0" fmla="*/ 239071 h 250746"/>
                  <a:gd name="connsiteX1" fmla="*/ 175446 w 175445"/>
                  <a:gd name="connsiteY1" fmla="*/ 250746 h 250746"/>
                  <a:gd name="connsiteX2" fmla="*/ 74258 w 175445"/>
                  <a:gd name="connsiteY2" fmla="*/ 1668 h 250746"/>
                  <a:gd name="connsiteX3" fmla="*/ 73702 w 175445"/>
                  <a:gd name="connsiteY3" fmla="*/ 0 h 250746"/>
                  <a:gd name="connsiteX4" fmla="*/ 42567 w 175445"/>
                  <a:gd name="connsiteY4" fmla="*/ 12787 h 250746"/>
                  <a:gd name="connsiteX5" fmla="*/ 43123 w 175445"/>
                  <a:gd name="connsiteY5" fmla="*/ 14455 h 250746"/>
                  <a:gd name="connsiteX6" fmla="*/ 55911 w 175445"/>
                  <a:gd name="connsiteY6" fmla="*/ 46146 h 250746"/>
                  <a:gd name="connsiteX7" fmla="*/ 10320 w 175445"/>
                  <a:gd name="connsiteY7" fmla="*/ 65049 h 250746"/>
                  <a:gd name="connsiteX8" fmla="*/ 1425 w 175445"/>
                  <a:gd name="connsiteY8" fmla="*/ 86733 h 250746"/>
                  <a:gd name="connsiteX9" fmla="*/ 16992 w 175445"/>
                  <a:gd name="connsiteY9" fmla="*/ 97296 h 250746"/>
                  <a:gd name="connsiteX10" fmla="*/ 23108 w 175445"/>
                  <a:gd name="connsiteY10" fmla="*/ 96184 h 250746"/>
                  <a:gd name="connsiteX11" fmla="*/ 68698 w 175445"/>
                  <a:gd name="connsiteY11" fmla="*/ 77281 h 250746"/>
                  <a:gd name="connsiteX12" fmla="*/ 134859 w 175445"/>
                  <a:gd name="connsiteY12" fmla="*/ 239071 h 25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5445" h="250746">
                    <a:moveTo>
                      <a:pt x="134859" y="239071"/>
                    </a:moveTo>
                    <a:cubicBezTo>
                      <a:pt x="149315" y="240183"/>
                      <a:pt x="163214" y="244074"/>
                      <a:pt x="175446" y="250746"/>
                    </a:cubicBezTo>
                    <a:lnTo>
                      <a:pt x="74258" y="1668"/>
                    </a:lnTo>
                    <a:cubicBezTo>
                      <a:pt x="74258" y="1112"/>
                      <a:pt x="73702" y="556"/>
                      <a:pt x="73702" y="0"/>
                    </a:cubicBezTo>
                    <a:lnTo>
                      <a:pt x="42567" y="12787"/>
                    </a:lnTo>
                    <a:cubicBezTo>
                      <a:pt x="42567" y="13343"/>
                      <a:pt x="43123" y="13899"/>
                      <a:pt x="43123" y="14455"/>
                    </a:cubicBezTo>
                    <a:lnTo>
                      <a:pt x="55911" y="46146"/>
                    </a:lnTo>
                    <a:lnTo>
                      <a:pt x="10320" y="65049"/>
                    </a:lnTo>
                    <a:cubicBezTo>
                      <a:pt x="1981" y="68385"/>
                      <a:pt x="-2467" y="78393"/>
                      <a:pt x="1425" y="86733"/>
                    </a:cubicBezTo>
                    <a:cubicBezTo>
                      <a:pt x="4205" y="93404"/>
                      <a:pt x="10320" y="97296"/>
                      <a:pt x="16992" y="97296"/>
                    </a:cubicBezTo>
                    <a:cubicBezTo>
                      <a:pt x="19216" y="97296"/>
                      <a:pt x="21440" y="96740"/>
                      <a:pt x="23108" y="96184"/>
                    </a:cubicBezTo>
                    <a:lnTo>
                      <a:pt x="68698" y="77281"/>
                    </a:lnTo>
                    <a:lnTo>
                      <a:pt x="134859" y="239071"/>
                    </a:lnTo>
                    <a:close/>
                  </a:path>
                </a:pathLst>
              </a:custGeom>
              <a:solidFill>
                <a:schemeClr val="accent1"/>
              </a:solid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sp>
            <p:nvSpPr>
              <p:cNvPr id="262" name="Freeform: Shape 261">
                <a:extLst>
                  <a:ext uri="{FF2B5EF4-FFF2-40B4-BE49-F238E27FC236}">
                    <a16:creationId xmlns:a16="http://schemas.microsoft.com/office/drawing/2014/main" id="{ED5F37CF-1428-4B0D-B3DC-8078681651CF}"/>
                  </a:ext>
                </a:extLst>
              </p:cNvPr>
              <p:cNvSpPr/>
              <p:nvPr/>
            </p:nvSpPr>
            <p:spPr>
              <a:xfrm>
                <a:off x="7237194" y="4231934"/>
                <a:ext cx="147334" cy="88956"/>
              </a:xfrm>
              <a:custGeom>
                <a:avLst/>
                <a:gdLst>
                  <a:gd name="connsiteX0" fmla="*/ 130655 w 147334"/>
                  <a:gd name="connsiteY0" fmla="*/ 0 h 88956"/>
                  <a:gd name="connsiteX1" fmla="*/ 123983 w 147334"/>
                  <a:gd name="connsiteY1" fmla="*/ 1112 h 88956"/>
                  <a:gd name="connsiteX2" fmla="*/ 11120 w 147334"/>
                  <a:gd name="connsiteY2" fmla="*/ 47814 h 88956"/>
                  <a:gd name="connsiteX3" fmla="*/ 0 w 147334"/>
                  <a:gd name="connsiteY3" fmla="*/ 88401 h 88956"/>
                  <a:gd name="connsiteX4" fmla="*/ 0 w 147334"/>
                  <a:gd name="connsiteY4" fmla="*/ 88957 h 88956"/>
                  <a:gd name="connsiteX5" fmla="*/ 135659 w 147334"/>
                  <a:gd name="connsiteY5" fmla="*/ 32247 h 88956"/>
                  <a:gd name="connsiteX6" fmla="*/ 147334 w 147334"/>
                  <a:gd name="connsiteY6" fmla="*/ 16679 h 88956"/>
                  <a:gd name="connsiteX7" fmla="*/ 130655 w 147334"/>
                  <a:gd name="connsiteY7" fmla="*/ 0 h 88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334" h="88956">
                    <a:moveTo>
                      <a:pt x="130655" y="0"/>
                    </a:moveTo>
                    <a:cubicBezTo>
                      <a:pt x="128431" y="0"/>
                      <a:pt x="126207" y="556"/>
                      <a:pt x="123983" y="1112"/>
                    </a:cubicBezTo>
                    <a:lnTo>
                      <a:pt x="11120" y="47814"/>
                    </a:lnTo>
                    <a:cubicBezTo>
                      <a:pt x="10008" y="62270"/>
                      <a:pt x="6672" y="76169"/>
                      <a:pt x="0" y="88401"/>
                    </a:cubicBezTo>
                    <a:lnTo>
                      <a:pt x="0" y="88957"/>
                    </a:lnTo>
                    <a:lnTo>
                      <a:pt x="135659" y="32247"/>
                    </a:lnTo>
                    <a:cubicBezTo>
                      <a:pt x="142330" y="30023"/>
                      <a:pt x="147334" y="23907"/>
                      <a:pt x="147334" y="16679"/>
                    </a:cubicBezTo>
                    <a:cubicBezTo>
                      <a:pt x="147334" y="7784"/>
                      <a:pt x="139551" y="0"/>
                      <a:pt x="130655" y="0"/>
                    </a:cubicBezTo>
                    <a:close/>
                  </a:path>
                </a:pathLst>
              </a:custGeom>
              <a:solidFill>
                <a:schemeClr val="accent1"/>
              </a:solidFill>
              <a:ln w="5556"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CA" sz="1765" b="0" i="0" u="none" strike="noStrike" kern="1200" cap="none" spc="0" normalizeH="0" baseline="0" noProof="0">
                  <a:ln>
                    <a:noFill/>
                  </a:ln>
                  <a:solidFill>
                    <a:srgbClr val="000000"/>
                  </a:solidFill>
                  <a:effectLst/>
                  <a:uLnTx/>
                  <a:uFillTx/>
                  <a:latin typeface="Segoe UI"/>
                  <a:ea typeface="+mn-ea"/>
                  <a:cs typeface="+mn-cs"/>
                </a:endParaRPr>
              </a:p>
            </p:txBody>
          </p:sp>
        </p:grpSp>
      </p:grpSp>
      <p:grpSp>
        <p:nvGrpSpPr>
          <p:cNvPr id="36" name="Group 35">
            <a:extLst>
              <a:ext uri="{FF2B5EF4-FFF2-40B4-BE49-F238E27FC236}">
                <a16:creationId xmlns:a16="http://schemas.microsoft.com/office/drawing/2014/main" id="{EAA79F76-58E7-458B-A987-2529697ED86B}"/>
              </a:ext>
              <a:ext uri="{C183D7F6-B498-43B3-948B-1728B52AA6E4}">
                <adec:decorative xmlns:adec="http://schemas.microsoft.com/office/drawing/2017/decorative" val="1"/>
              </a:ext>
            </a:extLst>
          </p:cNvPr>
          <p:cNvGrpSpPr/>
          <p:nvPr/>
        </p:nvGrpSpPr>
        <p:grpSpPr>
          <a:xfrm>
            <a:off x="10950091" y="6093206"/>
            <a:ext cx="440496" cy="434674"/>
            <a:chOff x="9721851" y="6046177"/>
            <a:chExt cx="634213" cy="625832"/>
          </a:xfrm>
        </p:grpSpPr>
        <p:pic>
          <p:nvPicPr>
            <p:cNvPr id="251" name="Graphic 250">
              <a:extLst>
                <a:ext uri="{FF2B5EF4-FFF2-40B4-BE49-F238E27FC236}">
                  <a16:creationId xmlns:a16="http://schemas.microsoft.com/office/drawing/2014/main" id="{22FC87A2-2042-43FC-A792-FA53EB4D7F2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721851" y="6046177"/>
              <a:ext cx="625831" cy="625832"/>
            </a:xfrm>
            <a:prstGeom prst="rect">
              <a:avLst/>
            </a:prstGeom>
          </p:spPr>
        </p:pic>
        <p:grpSp>
          <p:nvGrpSpPr>
            <p:cNvPr id="35" name="Group 34">
              <a:extLst>
                <a:ext uri="{FF2B5EF4-FFF2-40B4-BE49-F238E27FC236}">
                  <a16:creationId xmlns:a16="http://schemas.microsoft.com/office/drawing/2014/main" id="{93CFCA3E-1BD4-458E-9B54-987362B7D558}"/>
                </a:ext>
              </a:extLst>
            </p:cNvPr>
            <p:cNvGrpSpPr/>
            <p:nvPr/>
          </p:nvGrpSpPr>
          <p:grpSpPr>
            <a:xfrm>
              <a:off x="10034767" y="6330702"/>
              <a:ext cx="321297" cy="321297"/>
              <a:chOff x="3373950" y="1553317"/>
              <a:chExt cx="916626" cy="916626"/>
            </a:xfrm>
          </p:grpSpPr>
          <p:sp>
            <p:nvSpPr>
              <p:cNvPr id="267" name="Oval 266">
                <a:extLst>
                  <a:ext uri="{FF2B5EF4-FFF2-40B4-BE49-F238E27FC236}">
                    <a16:creationId xmlns:a16="http://schemas.microsoft.com/office/drawing/2014/main" id="{CBFC14BA-56A4-4699-BAF1-4667E4C54669}"/>
                  </a:ext>
                </a:extLst>
              </p:cNvPr>
              <p:cNvSpPr/>
              <p:nvPr/>
            </p:nvSpPr>
            <p:spPr bwMode="auto">
              <a:xfrm>
                <a:off x="3373950" y="1553317"/>
                <a:ext cx="916626" cy="916626"/>
              </a:xfrm>
              <a:prstGeom prst="ellipse">
                <a:avLst/>
              </a:prstGeom>
              <a:solidFill>
                <a:schemeClr val="bg1"/>
              </a:solidFill>
              <a:ln>
                <a:noFill/>
                <a:headEnd type="none" w="med" len="med"/>
                <a:tailEnd type="none" w="med" len="med"/>
              </a:ln>
              <a:effectLst>
                <a:outerShdw blurRad="190500" dist="38100" dir="2700000" algn="ctr" rotWithShape="0">
                  <a:schemeClr val="tx1">
                    <a:alpha val="2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grpSp>
            <p:nvGrpSpPr>
              <p:cNvPr id="268" name="Group 267">
                <a:extLst>
                  <a:ext uri="{FF2B5EF4-FFF2-40B4-BE49-F238E27FC236}">
                    <a16:creationId xmlns:a16="http://schemas.microsoft.com/office/drawing/2014/main" id="{BAFD8CBB-01F2-4FE2-91AF-10B697E87FD4}"/>
                  </a:ext>
                </a:extLst>
              </p:cNvPr>
              <p:cNvGrpSpPr/>
              <p:nvPr/>
            </p:nvGrpSpPr>
            <p:grpSpPr>
              <a:xfrm>
                <a:off x="3491951" y="1630879"/>
                <a:ext cx="676943" cy="657404"/>
                <a:chOff x="5720178" y="7477808"/>
                <a:chExt cx="905827" cy="867727"/>
              </a:xfrm>
            </p:grpSpPr>
            <p:sp>
              <p:nvSpPr>
                <p:cNvPr id="269" name="Rectangle 268">
                  <a:extLst>
                    <a:ext uri="{FF2B5EF4-FFF2-40B4-BE49-F238E27FC236}">
                      <a16:creationId xmlns:a16="http://schemas.microsoft.com/office/drawing/2014/main" id="{3D7F3215-636D-4ECE-802A-441741BC44D9}"/>
                    </a:ext>
                  </a:extLst>
                </p:cNvPr>
                <p:cNvSpPr/>
                <p:nvPr/>
              </p:nvSpPr>
              <p:spPr bwMode="auto">
                <a:xfrm>
                  <a:off x="5828287" y="7789069"/>
                  <a:ext cx="652798" cy="428625"/>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270" name="Graphic 130">
                  <a:extLst>
                    <a:ext uri="{FF2B5EF4-FFF2-40B4-BE49-F238E27FC236}">
                      <a16:creationId xmlns:a16="http://schemas.microsoft.com/office/drawing/2014/main" id="{455F818B-3981-4A4B-A8F9-E296BB77E63C}"/>
                    </a:ext>
                  </a:extLst>
                </p:cNvPr>
                <p:cNvSpPr/>
                <p:nvPr/>
              </p:nvSpPr>
              <p:spPr>
                <a:xfrm>
                  <a:off x="5720178" y="7477808"/>
                  <a:ext cx="905827" cy="867727"/>
                </a:xfrm>
                <a:custGeom>
                  <a:avLst/>
                  <a:gdLst>
                    <a:gd name="connsiteX0" fmla="*/ 853440 w 905827"/>
                    <a:gd name="connsiteY0" fmla="*/ 451485 h 867727"/>
                    <a:gd name="connsiteX1" fmla="*/ 829628 w 905827"/>
                    <a:gd name="connsiteY1" fmla="*/ 451485 h 867727"/>
                    <a:gd name="connsiteX2" fmla="*/ 829628 w 905827"/>
                    <a:gd name="connsiteY2" fmla="*/ 369570 h 867727"/>
                    <a:gd name="connsiteX3" fmla="*/ 726758 w 905827"/>
                    <a:gd name="connsiteY3" fmla="*/ 266700 h 867727"/>
                    <a:gd name="connsiteX4" fmla="*/ 486728 w 905827"/>
                    <a:gd name="connsiteY4" fmla="*/ 266700 h 867727"/>
                    <a:gd name="connsiteX5" fmla="*/ 486728 w 905827"/>
                    <a:gd name="connsiteY5" fmla="*/ 181928 h 867727"/>
                    <a:gd name="connsiteX6" fmla="*/ 546735 w 905827"/>
                    <a:gd name="connsiteY6" fmla="*/ 94298 h 867727"/>
                    <a:gd name="connsiteX7" fmla="*/ 452438 w 905827"/>
                    <a:gd name="connsiteY7" fmla="*/ 0 h 867727"/>
                    <a:gd name="connsiteX8" fmla="*/ 358140 w 905827"/>
                    <a:gd name="connsiteY8" fmla="*/ 94298 h 867727"/>
                    <a:gd name="connsiteX9" fmla="*/ 418148 w 905827"/>
                    <a:gd name="connsiteY9" fmla="*/ 181928 h 867727"/>
                    <a:gd name="connsiteX10" fmla="*/ 418148 w 905827"/>
                    <a:gd name="connsiteY10" fmla="*/ 266700 h 867727"/>
                    <a:gd name="connsiteX11" fmla="*/ 177165 w 905827"/>
                    <a:gd name="connsiteY11" fmla="*/ 266700 h 867727"/>
                    <a:gd name="connsiteX12" fmla="*/ 74295 w 905827"/>
                    <a:gd name="connsiteY12" fmla="*/ 369570 h 867727"/>
                    <a:gd name="connsiteX13" fmla="*/ 74295 w 905827"/>
                    <a:gd name="connsiteY13" fmla="*/ 451485 h 867727"/>
                    <a:gd name="connsiteX14" fmla="*/ 51435 w 905827"/>
                    <a:gd name="connsiteY14" fmla="*/ 451485 h 867727"/>
                    <a:gd name="connsiteX15" fmla="*/ 0 w 905827"/>
                    <a:gd name="connsiteY15" fmla="*/ 502920 h 867727"/>
                    <a:gd name="connsiteX16" fmla="*/ 0 w 905827"/>
                    <a:gd name="connsiteY16" fmla="*/ 623888 h 867727"/>
                    <a:gd name="connsiteX17" fmla="*/ 51435 w 905827"/>
                    <a:gd name="connsiteY17" fmla="*/ 675323 h 867727"/>
                    <a:gd name="connsiteX18" fmla="*/ 75248 w 905827"/>
                    <a:gd name="connsiteY18" fmla="*/ 675323 h 867727"/>
                    <a:gd name="connsiteX19" fmla="*/ 75248 w 905827"/>
                    <a:gd name="connsiteY19" fmla="*/ 764858 h 867727"/>
                    <a:gd name="connsiteX20" fmla="*/ 178118 w 905827"/>
                    <a:gd name="connsiteY20" fmla="*/ 867728 h 867727"/>
                    <a:gd name="connsiteX21" fmla="*/ 727710 w 905827"/>
                    <a:gd name="connsiteY21" fmla="*/ 867728 h 867727"/>
                    <a:gd name="connsiteX22" fmla="*/ 830580 w 905827"/>
                    <a:gd name="connsiteY22" fmla="*/ 764858 h 867727"/>
                    <a:gd name="connsiteX23" fmla="*/ 830580 w 905827"/>
                    <a:gd name="connsiteY23" fmla="*/ 675323 h 867727"/>
                    <a:gd name="connsiteX24" fmla="*/ 854393 w 905827"/>
                    <a:gd name="connsiteY24" fmla="*/ 675323 h 867727"/>
                    <a:gd name="connsiteX25" fmla="*/ 905828 w 905827"/>
                    <a:gd name="connsiteY25" fmla="*/ 623888 h 867727"/>
                    <a:gd name="connsiteX26" fmla="*/ 905828 w 905827"/>
                    <a:gd name="connsiteY26" fmla="*/ 502920 h 867727"/>
                    <a:gd name="connsiteX27" fmla="*/ 853440 w 905827"/>
                    <a:gd name="connsiteY27" fmla="*/ 451485 h 867727"/>
                    <a:gd name="connsiteX28" fmla="*/ 231458 w 905827"/>
                    <a:gd name="connsiteY28" fmla="*/ 490538 h 867727"/>
                    <a:gd name="connsiteX29" fmla="*/ 308610 w 905827"/>
                    <a:gd name="connsiteY29" fmla="*/ 413385 h 867727"/>
                    <a:gd name="connsiteX30" fmla="*/ 385763 w 905827"/>
                    <a:gd name="connsiteY30" fmla="*/ 490538 h 867727"/>
                    <a:gd name="connsiteX31" fmla="*/ 308610 w 905827"/>
                    <a:gd name="connsiteY31" fmla="*/ 567690 h 867727"/>
                    <a:gd name="connsiteX32" fmla="*/ 231458 w 905827"/>
                    <a:gd name="connsiteY32" fmla="*/ 490538 h 867727"/>
                    <a:gd name="connsiteX33" fmla="*/ 527685 w 905827"/>
                    <a:gd name="connsiteY33" fmla="*/ 732473 h 867727"/>
                    <a:gd name="connsiteX34" fmla="*/ 377190 w 905827"/>
                    <a:gd name="connsiteY34" fmla="*/ 732473 h 867727"/>
                    <a:gd name="connsiteX35" fmla="*/ 342900 w 905827"/>
                    <a:gd name="connsiteY35" fmla="*/ 698183 h 867727"/>
                    <a:gd name="connsiteX36" fmla="*/ 377190 w 905827"/>
                    <a:gd name="connsiteY36" fmla="*/ 663893 h 867727"/>
                    <a:gd name="connsiteX37" fmla="*/ 526733 w 905827"/>
                    <a:gd name="connsiteY37" fmla="*/ 663893 h 867727"/>
                    <a:gd name="connsiteX38" fmla="*/ 561023 w 905827"/>
                    <a:gd name="connsiteY38" fmla="*/ 698183 h 867727"/>
                    <a:gd name="connsiteX39" fmla="*/ 527685 w 905827"/>
                    <a:gd name="connsiteY39" fmla="*/ 732473 h 867727"/>
                    <a:gd name="connsiteX40" fmla="*/ 596265 w 905827"/>
                    <a:gd name="connsiteY40" fmla="*/ 567690 h 867727"/>
                    <a:gd name="connsiteX41" fmla="*/ 519113 w 905827"/>
                    <a:gd name="connsiteY41" fmla="*/ 490538 h 867727"/>
                    <a:gd name="connsiteX42" fmla="*/ 596265 w 905827"/>
                    <a:gd name="connsiteY42" fmla="*/ 413385 h 867727"/>
                    <a:gd name="connsiteX43" fmla="*/ 673418 w 905827"/>
                    <a:gd name="connsiteY43" fmla="*/ 490538 h 867727"/>
                    <a:gd name="connsiteX44" fmla="*/ 596265 w 905827"/>
                    <a:gd name="connsiteY44" fmla="*/ 567690 h 867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05827" h="867727">
                      <a:moveTo>
                        <a:pt x="853440" y="451485"/>
                      </a:moveTo>
                      <a:lnTo>
                        <a:pt x="829628" y="451485"/>
                      </a:lnTo>
                      <a:lnTo>
                        <a:pt x="829628" y="369570"/>
                      </a:lnTo>
                      <a:cubicBezTo>
                        <a:pt x="829628" y="313373"/>
                        <a:pt x="783908" y="266700"/>
                        <a:pt x="726758" y="266700"/>
                      </a:cubicBezTo>
                      <a:lnTo>
                        <a:pt x="486728" y="266700"/>
                      </a:lnTo>
                      <a:lnTo>
                        <a:pt x="486728" y="181928"/>
                      </a:lnTo>
                      <a:cubicBezTo>
                        <a:pt x="521970" y="168593"/>
                        <a:pt x="546735" y="134303"/>
                        <a:pt x="546735" y="94298"/>
                      </a:cubicBezTo>
                      <a:cubicBezTo>
                        <a:pt x="546735" y="41910"/>
                        <a:pt x="504825" y="0"/>
                        <a:pt x="452438" y="0"/>
                      </a:cubicBezTo>
                      <a:cubicBezTo>
                        <a:pt x="400050" y="0"/>
                        <a:pt x="358140" y="41910"/>
                        <a:pt x="358140" y="94298"/>
                      </a:cubicBezTo>
                      <a:cubicBezTo>
                        <a:pt x="358140" y="134303"/>
                        <a:pt x="382905" y="167640"/>
                        <a:pt x="418148" y="181928"/>
                      </a:cubicBezTo>
                      <a:lnTo>
                        <a:pt x="418148" y="266700"/>
                      </a:lnTo>
                      <a:lnTo>
                        <a:pt x="177165" y="266700"/>
                      </a:lnTo>
                      <a:cubicBezTo>
                        <a:pt x="120968" y="266700"/>
                        <a:pt x="74295" y="312420"/>
                        <a:pt x="74295" y="369570"/>
                      </a:cubicBezTo>
                      <a:lnTo>
                        <a:pt x="74295" y="451485"/>
                      </a:lnTo>
                      <a:lnTo>
                        <a:pt x="51435" y="451485"/>
                      </a:lnTo>
                      <a:cubicBezTo>
                        <a:pt x="22860" y="451485"/>
                        <a:pt x="0" y="474345"/>
                        <a:pt x="0" y="502920"/>
                      </a:cubicBezTo>
                      <a:lnTo>
                        <a:pt x="0" y="623888"/>
                      </a:lnTo>
                      <a:cubicBezTo>
                        <a:pt x="0" y="652463"/>
                        <a:pt x="22860" y="675323"/>
                        <a:pt x="51435" y="675323"/>
                      </a:cubicBezTo>
                      <a:lnTo>
                        <a:pt x="75248" y="675323"/>
                      </a:lnTo>
                      <a:lnTo>
                        <a:pt x="75248" y="764858"/>
                      </a:lnTo>
                      <a:cubicBezTo>
                        <a:pt x="75248" y="821055"/>
                        <a:pt x="120968" y="867728"/>
                        <a:pt x="178118" y="867728"/>
                      </a:cubicBezTo>
                      <a:lnTo>
                        <a:pt x="727710" y="867728"/>
                      </a:lnTo>
                      <a:cubicBezTo>
                        <a:pt x="783908" y="867728"/>
                        <a:pt x="830580" y="822008"/>
                        <a:pt x="830580" y="764858"/>
                      </a:cubicBezTo>
                      <a:lnTo>
                        <a:pt x="830580" y="675323"/>
                      </a:lnTo>
                      <a:lnTo>
                        <a:pt x="854393" y="675323"/>
                      </a:lnTo>
                      <a:cubicBezTo>
                        <a:pt x="882968" y="675323"/>
                        <a:pt x="905828" y="652463"/>
                        <a:pt x="905828" y="623888"/>
                      </a:cubicBezTo>
                      <a:lnTo>
                        <a:pt x="905828" y="502920"/>
                      </a:lnTo>
                      <a:cubicBezTo>
                        <a:pt x="904875" y="475298"/>
                        <a:pt x="882015" y="451485"/>
                        <a:pt x="853440" y="451485"/>
                      </a:cubicBezTo>
                      <a:close/>
                      <a:moveTo>
                        <a:pt x="231458" y="490538"/>
                      </a:moveTo>
                      <a:cubicBezTo>
                        <a:pt x="231458" y="447675"/>
                        <a:pt x="265748" y="413385"/>
                        <a:pt x="308610" y="413385"/>
                      </a:cubicBezTo>
                      <a:cubicBezTo>
                        <a:pt x="351473" y="413385"/>
                        <a:pt x="385763" y="447675"/>
                        <a:pt x="385763" y="490538"/>
                      </a:cubicBezTo>
                      <a:cubicBezTo>
                        <a:pt x="385763" y="533400"/>
                        <a:pt x="351473" y="567690"/>
                        <a:pt x="308610" y="567690"/>
                      </a:cubicBezTo>
                      <a:cubicBezTo>
                        <a:pt x="265748" y="567690"/>
                        <a:pt x="231458" y="533400"/>
                        <a:pt x="231458" y="490538"/>
                      </a:cubicBezTo>
                      <a:close/>
                      <a:moveTo>
                        <a:pt x="527685" y="732473"/>
                      </a:moveTo>
                      <a:lnTo>
                        <a:pt x="377190" y="732473"/>
                      </a:lnTo>
                      <a:cubicBezTo>
                        <a:pt x="358140" y="732473"/>
                        <a:pt x="342900" y="717233"/>
                        <a:pt x="342900" y="698183"/>
                      </a:cubicBezTo>
                      <a:cubicBezTo>
                        <a:pt x="342900" y="679133"/>
                        <a:pt x="358140" y="663893"/>
                        <a:pt x="377190" y="663893"/>
                      </a:cubicBezTo>
                      <a:lnTo>
                        <a:pt x="526733" y="663893"/>
                      </a:lnTo>
                      <a:cubicBezTo>
                        <a:pt x="545783" y="663893"/>
                        <a:pt x="561023" y="679133"/>
                        <a:pt x="561023" y="698183"/>
                      </a:cubicBezTo>
                      <a:cubicBezTo>
                        <a:pt x="561975" y="717233"/>
                        <a:pt x="545783" y="732473"/>
                        <a:pt x="527685" y="732473"/>
                      </a:cubicBezTo>
                      <a:close/>
                      <a:moveTo>
                        <a:pt x="596265" y="567690"/>
                      </a:moveTo>
                      <a:cubicBezTo>
                        <a:pt x="553403" y="567690"/>
                        <a:pt x="519113" y="533400"/>
                        <a:pt x="519113" y="490538"/>
                      </a:cubicBezTo>
                      <a:cubicBezTo>
                        <a:pt x="519113" y="447675"/>
                        <a:pt x="553403" y="413385"/>
                        <a:pt x="596265" y="413385"/>
                      </a:cubicBezTo>
                      <a:cubicBezTo>
                        <a:pt x="639128" y="413385"/>
                        <a:pt x="673418" y="447675"/>
                        <a:pt x="673418" y="490538"/>
                      </a:cubicBezTo>
                      <a:cubicBezTo>
                        <a:pt x="673418" y="533400"/>
                        <a:pt x="639128" y="567690"/>
                        <a:pt x="596265" y="567690"/>
                      </a:cubicBezTo>
                      <a:close/>
                    </a:path>
                  </a:pathLst>
                </a:custGeom>
                <a:solidFill>
                  <a:schemeClr val="accent1"/>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IN" sz="1765" b="0" i="0" u="none" strike="noStrike" kern="1200" cap="none" spc="0" normalizeH="0" baseline="0" noProof="0">
                    <a:ln>
                      <a:noFill/>
                    </a:ln>
                    <a:solidFill>
                      <a:srgbClr val="000000"/>
                    </a:solidFill>
                    <a:effectLst/>
                    <a:uLnTx/>
                    <a:uFillTx/>
                    <a:latin typeface="Segoe UI"/>
                    <a:ea typeface="+mn-ea"/>
                    <a:cs typeface="+mn-cs"/>
                  </a:endParaRPr>
                </a:p>
              </p:txBody>
            </p:sp>
          </p:grpSp>
        </p:grpSp>
      </p:grpSp>
      <p:pic>
        <p:nvPicPr>
          <p:cNvPr id="271" name="Graphic 270">
            <a:extLst>
              <a:ext uri="{FF2B5EF4-FFF2-40B4-BE49-F238E27FC236}">
                <a16:creationId xmlns:a16="http://schemas.microsoft.com/office/drawing/2014/main" id="{180E190F-01F6-4DE8-A871-D836CB1D51C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260968" y="6093206"/>
            <a:ext cx="434674" cy="434674"/>
          </a:xfrm>
          <a:prstGeom prst="rect">
            <a:avLst/>
          </a:prstGeom>
        </p:spPr>
      </p:pic>
      <p:cxnSp>
        <p:nvCxnSpPr>
          <p:cNvPr id="38" name="Straight Arrow Connector 37">
            <a:extLst>
              <a:ext uri="{FF2B5EF4-FFF2-40B4-BE49-F238E27FC236}">
                <a16:creationId xmlns:a16="http://schemas.microsoft.com/office/drawing/2014/main" id="{B9EACD07-3EE9-43CD-929C-C2BB1F603858}"/>
              </a:ext>
              <a:ext uri="{C183D7F6-B498-43B3-948B-1728B52AA6E4}">
                <adec:decorative xmlns:adec="http://schemas.microsoft.com/office/drawing/2017/decorative" val="1"/>
              </a:ext>
            </a:extLst>
          </p:cNvPr>
          <p:cNvCxnSpPr/>
          <p:nvPr/>
        </p:nvCxnSpPr>
        <p:spPr>
          <a:xfrm>
            <a:off x="1489436" y="6309339"/>
            <a:ext cx="805727" cy="0"/>
          </a:xfrm>
          <a:prstGeom prst="straightConnector1">
            <a:avLst/>
          </a:prstGeom>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72" name="Straight Arrow Connector 271">
            <a:extLst>
              <a:ext uri="{FF2B5EF4-FFF2-40B4-BE49-F238E27FC236}">
                <a16:creationId xmlns:a16="http://schemas.microsoft.com/office/drawing/2014/main" id="{02704E9F-2A09-4A30-BA8C-5A98F01975CE}"/>
              </a:ext>
              <a:ext uri="{C183D7F6-B498-43B3-948B-1728B52AA6E4}">
                <adec:decorative xmlns:adec="http://schemas.microsoft.com/office/drawing/2017/decorative" val="1"/>
              </a:ext>
            </a:extLst>
          </p:cNvPr>
          <p:cNvCxnSpPr/>
          <p:nvPr/>
        </p:nvCxnSpPr>
        <p:spPr>
          <a:xfrm>
            <a:off x="3167777" y="6309339"/>
            <a:ext cx="805727" cy="0"/>
          </a:xfrm>
          <a:prstGeom prst="straightConnector1">
            <a:avLst/>
          </a:prstGeom>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73" name="Straight Arrow Connector 272">
            <a:extLst>
              <a:ext uri="{FF2B5EF4-FFF2-40B4-BE49-F238E27FC236}">
                <a16:creationId xmlns:a16="http://schemas.microsoft.com/office/drawing/2014/main" id="{5E8202D4-2C0C-4FED-A8F5-E7F8A6097D69}"/>
              </a:ext>
              <a:ext uri="{C183D7F6-B498-43B3-948B-1728B52AA6E4}">
                <adec:decorative xmlns:adec="http://schemas.microsoft.com/office/drawing/2017/decorative" val="1"/>
              </a:ext>
            </a:extLst>
          </p:cNvPr>
          <p:cNvCxnSpPr/>
          <p:nvPr/>
        </p:nvCxnSpPr>
        <p:spPr>
          <a:xfrm>
            <a:off x="4809344" y="6309339"/>
            <a:ext cx="805727" cy="0"/>
          </a:xfrm>
          <a:prstGeom prst="straightConnector1">
            <a:avLst/>
          </a:prstGeom>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74" name="Straight Arrow Connector 273">
            <a:extLst>
              <a:ext uri="{FF2B5EF4-FFF2-40B4-BE49-F238E27FC236}">
                <a16:creationId xmlns:a16="http://schemas.microsoft.com/office/drawing/2014/main" id="{7A40A00C-8FCA-45DB-A30E-411B3F6C66B8}"/>
              </a:ext>
              <a:ext uri="{C183D7F6-B498-43B3-948B-1728B52AA6E4}">
                <adec:decorative xmlns:adec="http://schemas.microsoft.com/office/drawing/2017/decorative" val="1"/>
              </a:ext>
            </a:extLst>
          </p:cNvPr>
          <p:cNvCxnSpPr/>
          <p:nvPr/>
        </p:nvCxnSpPr>
        <p:spPr>
          <a:xfrm>
            <a:off x="6563698" y="6309339"/>
            <a:ext cx="805727" cy="0"/>
          </a:xfrm>
          <a:prstGeom prst="straightConnector1">
            <a:avLst/>
          </a:prstGeom>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75" name="Straight Arrow Connector 274">
            <a:extLst>
              <a:ext uri="{FF2B5EF4-FFF2-40B4-BE49-F238E27FC236}">
                <a16:creationId xmlns:a16="http://schemas.microsoft.com/office/drawing/2014/main" id="{74B1C445-462A-4327-B1AA-53C4B6592ABA}"/>
              </a:ext>
              <a:ext uri="{C183D7F6-B498-43B3-948B-1728B52AA6E4}">
                <adec:decorative xmlns:adec="http://schemas.microsoft.com/office/drawing/2017/decorative" val="1"/>
              </a:ext>
            </a:extLst>
          </p:cNvPr>
          <p:cNvCxnSpPr/>
          <p:nvPr/>
        </p:nvCxnSpPr>
        <p:spPr>
          <a:xfrm>
            <a:off x="8247117" y="6309339"/>
            <a:ext cx="805727" cy="0"/>
          </a:xfrm>
          <a:prstGeom prst="straightConnector1">
            <a:avLst/>
          </a:prstGeom>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76" name="Straight Arrow Connector 275">
            <a:extLst>
              <a:ext uri="{FF2B5EF4-FFF2-40B4-BE49-F238E27FC236}">
                <a16:creationId xmlns:a16="http://schemas.microsoft.com/office/drawing/2014/main" id="{53DF04F3-5742-4E98-940A-4F212AE61999}"/>
              </a:ext>
              <a:ext uri="{C183D7F6-B498-43B3-948B-1728B52AA6E4}">
                <adec:decorative xmlns:adec="http://schemas.microsoft.com/office/drawing/2017/decorative" val="1"/>
              </a:ext>
            </a:extLst>
          </p:cNvPr>
          <p:cNvCxnSpPr/>
          <p:nvPr/>
        </p:nvCxnSpPr>
        <p:spPr>
          <a:xfrm>
            <a:off x="9977876" y="6309339"/>
            <a:ext cx="805727" cy="0"/>
          </a:xfrm>
          <a:prstGeom prst="straightConnector1">
            <a:avLst/>
          </a:prstGeom>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2" name="Graphic 1">
            <a:extLst>
              <a:ext uri="{FF2B5EF4-FFF2-40B4-BE49-F238E27FC236}">
                <a16:creationId xmlns:a16="http://schemas.microsoft.com/office/drawing/2014/main" id="{D6644145-E160-066F-6049-4CCF7D6A332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4185685" y="6113644"/>
            <a:ext cx="438912" cy="438912"/>
          </a:xfrm>
          <a:prstGeom prst="rect">
            <a:avLst/>
          </a:prstGeom>
        </p:spPr>
      </p:pic>
    </p:spTree>
    <p:extLst>
      <p:ext uri="{BB962C8B-B14F-4D97-AF65-F5344CB8AC3E}">
        <p14:creationId xmlns:p14="http://schemas.microsoft.com/office/powerpoint/2010/main" val="293014880"/>
      </p:ext>
    </p:extLst>
  </p:cSld>
  <p:clrMapOvr>
    <a:masterClrMapping/>
  </p:clrMapOvr>
  <p:transition>
    <p:fade/>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Updated Copilot Theme_010524">
  <a:themeElements>
    <a:clrScheme name="Copilot - 12/23">
      <a:dk1>
        <a:sysClr val="windowText" lastClr="000000"/>
      </a:dk1>
      <a:lt1>
        <a:sysClr val="window" lastClr="FFFFFF"/>
      </a:lt1>
      <a:dk2>
        <a:srgbClr val="091F2C"/>
      </a:dk2>
      <a:lt2>
        <a:srgbClr val="F4F3F5"/>
      </a:lt2>
      <a:accent1>
        <a:srgbClr val="C5B4E3"/>
      </a:accent1>
      <a:accent2>
        <a:srgbClr val="8661C5"/>
      </a:accent2>
      <a:accent3>
        <a:srgbClr val="463668"/>
      </a:accent3>
      <a:accent4>
        <a:srgbClr val="0078D4"/>
      </a:accent4>
      <a:accent5>
        <a:srgbClr val="2A446F"/>
      </a:accent5>
      <a:accent6>
        <a:srgbClr val="C03BC4"/>
      </a:accent6>
      <a:hlink>
        <a:srgbClr val="8661C5"/>
      </a:hlink>
      <a:folHlink>
        <a:srgbClr val="8661C5"/>
      </a:folHlink>
    </a:clrScheme>
    <a:fontScheme name="Segoe UI">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pdated Copilot Theme_010524" id="{69AC8C09-3441-437D-B814-A5AD62159AFF}" vid="{F9173944-3179-464E-8E53-E39D2E2B504A}"/>
    </a:ext>
  </a:extLst>
</a:theme>
</file>

<file path=ppt/theme/theme3.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one xmlns="936c50f0-9b7f-494e-880b-887b4fe1a93e">false</Done>
    <_ip_UnifiedCompliancePolicyUIAction xmlns="http://schemas.microsoft.com/sharepoint/v3" xsi:nil="true"/>
    <_Flow_SignoffStatus xmlns="936c50f0-9b7f-494e-880b-887b4fe1a93e" xsi:nil="true"/>
    <OneNoteFluid_FileOrder xmlns="936c50f0-9b7f-494e-880b-887b4fe1a93e" xsi:nil="true"/>
    <OneNoteFluid_Teams_Conversation_Id xmlns="936c50f0-9b7f-494e-880b-887b4fe1a93e" xsi:nil="true"/>
    <PMContact xmlns="936c50f0-9b7f-494e-880b-887b4fe1a93e">
      <UserInfo>
        <DisplayName/>
        <AccountId xsi:nil="true"/>
        <AccountType/>
      </UserInfo>
    </PMContact>
    <_ip_UnifiedCompliancePolicyProperties xmlns="http://schemas.microsoft.com/sharepoint/v3" xsi:nil="true"/>
    <Notes xmlns="936c50f0-9b7f-494e-880b-887b4fe1a93e" xsi:nil="true"/>
    <Tags xmlns="936c50f0-9b7f-494e-880b-887b4fe1a93e" xsi:nil="true"/>
    <lcf76f155ced4ddcb4097134ff3c332f xmlns="936c50f0-9b7f-494e-880b-887b4fe1a93e">
      <Terms xmlns="http://schemas.microsoft.com/office/infopath/2007/PartnerControls"/>
    </lcf76f155ced4ddcb4097134ff3c332f>
    <TaxCatchAll xmlns="230e9df3-be65-4c73-a93b-d1236ebd677e" xsi:nil="true"/>
    <DevContact xmlns="936c50f0-9b7f-494e-880b-887b4fe1a93e">
      <UserInfo>
        <DisplayName/>
        <AccountId xsi:nil="true"/>
        <AccountType/>
      </UserInfo>
    </DevContact>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5CF0ACEDA9CAA47986D9692F213C094" ma:contentTypeVersion="31" ma:contentTypeDescription="Create a new document." ma:contentTypeScope="" ma:versionID="a4fd55e15916418560f587f40c87d478">
  <xsd:schema xmlns:xsd="http://www.w3.org/2001/XMLSchema" xmlns:xs="http://www.w3.org/2001/XMLSchema" xmlns:p="http://schemas.microsoft.com/office/2006/metadata/properties" xmlns:ns1="http://schemas.microsoft.com/sharepoint/v3" xmlns:ns2="936c50f0-9b7f-494e-880b-887b4fe1a93e" xmlns:ns3="66d72bd5-cd8b-4b3e-8916-4c48f6da8037" xmlns:ns4="230e9df3-be65-4c73-a93b-d1236ebd677e" targetNamespace="http://schemas.microsoft.com/office/2006/metadata/properties" ma:root="true" ma:fieldsID="f5b25f691ce6f07b825dc10de7a5f390" ns1:_="" ns2:_="" ns3:_="" ns4:_="">
    <xsd:import namespace="http://schemas.microsoft.com/sharepoint/v3"/>
    <xsd:import namespace="936c50f0-9b7f-494e-880b-887b4fe1a93e"/>
    <xsd:import namespace="66d72bd5-cd8b-4b3e-8916-4c48f6da8037"/>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1:_ip_UnifiedCompliancePolicyProperties" minOccurs="0"/>
                <xsd:element ref="ns1:_ip_UnifiedCompliancePolicyUIAction" minOccurs="0"/>
                <xsd:element ref="ns2:MediaLengthInSeconds" minOccurs="0"/>
                <xsd:element ref="ns2:_Flow_SignoffStatus" minOccurs="0"/>
                <xsd:element ref="ns2:lcf76f155ced4ddcb4097134ff3c332f" minOccurs="0"/>
                <xsd:element ref="ns4:TaxCatchAll" minOccurs="0"/>
                <xsd:element ref="ns2:OneNoteFluid_FileOrder" minOccurs="0"/>
                <xsd:element ref="ns2:OneNoteFluid_Teams_Conversation_Id" minOccurs="0"/>
                <xsd:element ref="ns2:MediaServiceLocation" minOccurs="0"/>
                <xsd:element ref="ns2:MediaServiceSearchProperties" minOccurs="0"/>
                <xsd:element ref="ns2:MediaServiceDocTags" minOccurs="0"/>
                <xsd:element ref="ns2:MediaServiceObjectDetectorVersions" minOccurs="0"/>
                <xsd:element ref="ns2:DevContact" minOccurs="0"/>
                <xsd:element ref="ns2:PMContact" minOccurs="0"/>
                <xsd:element ref="ns2:Tags" minOccurs="0"/>
                <xsd:element ref="ns2:MediaServiceSystemTags" minOccurs="0"/>
                <xsd:element ref="ns2:MediaServiceBillingMetadata" minOccurs="0"/>
                <xsd:element ref="ns2:Notes" minOccurs="0"/>
                <xsd:element ref="ns2:Don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36c50f0-9b7f-494e-880b-887b4fe1a93e"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Flow_SignoffStatus" ma:index="22" nillable="true" ma:displayName="Status String" ma:format="Dropdown" ma:internalName="Sign_x002d_off_x0020_status">
      <xsd:simpleType>
        <xsd:restriction base="dms:Text">
          <xsd:maxLength value="255"/>
        </xsd:restrictio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OneNoteFluid_FileOrder" ma:index="26" nillable="true" ma:displayName="OneNoteFluid_FileOrder" ma:internalName="OneNoteFluid_FileOrder">
      <xsd:simpleType>
        <xsd:restriction base="dms:Text">
          <xsd:maxLength value="255"/>
        </xsd:restriction>
      </xsd:simpleType>
    </xsd:element>
    <xsd:element name="OneNoteFluid_Teams_Conversation_Id" ma:index="27" nillable="true" ma:displayName="OneNoteFluid_Teams_Conversation_Id" ma:internalName="OneNoteFluid_Teams_Conversation_Id">
      <xsd:simpleType>
        <xsd:restriction base="dms:Text">
          <xsd:maxLength value="255"/>
        </xsd:restriction>
      </xsd:simpleType>
    </xsd:element>
    <xsd:element name="MediaServiceLocation" ma:index="28" nillable="true" ma:displayName="Location" ma:internalName="MediaServiceLocation"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hidden="true" ma:indexed="true" ma:internalName="MediaServiceObjectDetectorVersions" ma:readOnly="true">
      <xsd:simpleType>
        <xsd:restriction base="dms:Text"/>
      </xsd:simpleType>
    </xsd:element>
    <xsd:element name="DevContact" ma:index="32" nillable="true" ma:displayName="Dev Contact" ma:format="Dropdown" ma:list="UserInfo" ma:SharePointGroup="0" ma:internalName="DevContact">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PMContact" ma:index="33" nillable="true" ma:displayName="PM Contact" ma:format="Dropdown" ma:list="UserInfo" ma:SharePointGroup="0" ma:internalName="PMContact">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Tags" ma:index="34" nillable="true" ma:displayName="Tags" ma:format="Dropdown" ma:internalName="Tags">
      <xsd:complexType>
        <xsd:complexContent>
          <xsd:extension base="dms:MultiChoiceFillIn">
            <xsd:sequence>
              <xsd:element name="Value" maxOccurs="unbounded" minOccurs="0" nillable="true">
                <xsd:simpleType>
                  <xsd:union memberTypes="dms:Text">
                    <xsd:simpleType>
                      <xsd:restriction base="dms:Choice">
                        <xsd:enumeration value="PPUX"/>
                        <xsd:enumeration value="Maker Portal"/>
                        <xsd:enumeration value="Studio"/>
                        <xsd:enumeration value="Controls"/>
                        <xsd:enumeration value="Web Player"/>
                        <xsd:enumeration value="Runtime"/>
                      </xsd:restriction>
                    </xsd:simpleType>
                  </xsd:union>
                </xsd:simpleType>
              </xsd:element>
            </xsd:sequence>
          </xsd:extension>
        </xsd:complexContent>
      </xsd:complexType>
    </xsd:element>
    <xsd:element name="MediaServiceSystemTags" ma:index="35" nillable="true" ma:displayName="MediaServiceSystemTags" ma:hidden="true" ma:internalName="MediaServiceSystemTags" ma:readOnly="true">
      <xsd:simpleType>
        <xsd:restriction base="dms:Note"/>
      </xsd:simpleType>
    </xsd:element>
    <xsd:element name="MediaServiceBillingMetadata" ma:index="36" nillable="true" ma:displayName="MediaServiceBillingMetadata" ma:hidden="true" ma:internalName="MediaServiceBillingMetadata" ma:readOnly="true">
      <xsd:simpleType>
        <xsd:restriction base="dms:Text"/>
      </xsd:simpleType>
    </xsd:element>
    <xsd:element name="Notes" ma:index="37" nillable="true" ma:displayName="Notes" ma:format="Dropdown" ma:internalName="Notes">
      <xsd:simpleType>
        <xsd:restriction base="dms:Note">
          <xsd:maxLength value="255"/>
        </xsd:restriction>
      </xsd:simpleType>
    </xsd:element>
    <xsd:element name="Done" ma:index="38" nillable="true" ma:displayName="Done" ma:default="0" ma:format="Dropdown" ma:internalName="Don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66d72bd5-cd8b-4b3e-8916-4c48f6da8037"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f35ff663-8fbf-40fa-8b85-7ffd3a8dc5be}" ma:internalName="TaxCatchAll" ma:showField="CatchAllData" ma:web="66d72bd5-cd8b-4b3e-8916-4c48f6da803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EC7634-B3AA-43E8-9B60-83AC8DC0F8D6}">
  <ds:schemaRefs>
    <ds:schemaRef ds:uri="http://schemas.microsoft.com/sharepoint/v3/contenttype/forms"/>
  </ds:schemaRefs>
</ds:datastoreItem>
</file>

<file path=customXml/itemProps2.xml><?xml version="1.0" encoding="utf-8"?>
<ds:datastoreItem xmlns:ds="http://schemas.openxmlformats.org/officeDocument/2006/customXml" ds:itemID="{73F1545A-A9A8-4581-8FD9-BC0D0C44D62F}">
  <ds:schemaRefs>
    <ds:schemaRef ds:uri="http://purl.org/dc/elements/1.1/"/>
    <ds:schemaRef ds:uri="936c50f0-9b7f-494e-880b-887b4fe1a93e"/>
    <ds:schemaRef ds:uri="http://schemas.microsoft.com/office/infopath/2007/PartnerControls"/>
    <ds:schemaRef ds:uri="http://schemas.microsoft.com/sharepoint/v3"/>
    <ds:schemaRef ds:uri="http://www.w3.org/XML/1998/namespace"/>
    <ds:schemaRef ds:uri="http://purl.org/dc/dcmitype/"/>
    <ds:schemaRef ds:uri="http://schemas.microsoft.com/office/2006/documentManagement/types"/>
    <ds:schemaRef ds:uri="http://schemas.openxmlformats.org/package/2006/metadata/core-properties"/>
    <ds:schemaRef ds:uri="230e9df3-be65-4c73-a93b-d1236ebd677e"/>
    <ds:schemaRef ds:uri="66d72bd5-cd8b-4b3e-8916-4c48f6da8037"/>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20515495-E596-4A1D-B247-ADB9CD7BBA2C}">
  <ds:schemaRefs>
    <ds:schemaRef ds:uri="230e9df3-be65-4c73-a93b-d1236ebd677e"/>
    <ds:schemaRef ds:uri="66d72bd5-cd8b-4b3e-8916-4c48f6da8037"/>
    <ds:schemaRef ds:uri="936c50f0-9b7f-494e-880b-887b4fe1a93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579</TotalTime>
  <Words>1743</Words>
  <Application>Microsoft Office PowerPoint</Application>
  <PresentationFormat>Widescreen</PresentationFormat>
  <Paragraphs>175</Paragraphs>
  <Slides>14</Slides>
  <Notes>8</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14</vt:i4>
      </vt:variant>
    </vt:vector>
  </HeadingPairs>
  <TitlesOfParts>
    <vt:vector size="28" baseType="lpstr">
      <vt:lpstr>Aptos</vt:lpstr>
      <vt:lpstr>Aptos Display</vt:lpstr>
      <vt:lpstr>Arial</vt:lpstr>
      <vt:lpstr>Calibri</vt:lpstr>
      <vt:lpstr>Menlo</vt:lpstr>
      <vt:lpstr>Segoe Sans Display</vt:lpstr>
      <vt:lpstr>Segoe Sans Display Semibold</vt:lpstr>
      <vt:lpstr>Segoe Sans Text</vt:lpstr>
      <vt:lpstr>Segoe Sans Text Semibold</vt:lpstr>
      <vt:lpstr>Segoe UI</vt:lpstr>
      <vt:lpstr>Segoe UI Semibold</vt:lpstr>
      <vt:lpstr>Office Theme</vt:lpstr>
      <vt:lpstr>2_Updated Copilot Theme_010524</vt:lpstr>
      <vt:lpstr>1_Office Theme</vt:lpstr>
      <vt:lpstr>PowerPoint Presentation</vt:lpstr>
      <vt:lpstr>PowerPoint Presentation</vt:lpstr>
      <vt:lpstr>PowerPoint Presentation</vt:lpstr>
      <vt:lpstr>PowerPoint Presentation</vt:lpstr>
      <vt:lpstr>PowerPoint Presentation</vt:lpstr>
      <vt:lpstr>PowerPoint Presentation</vt:lpstr>
      <vt:lpstr>The Power Series</vt:lpstr>
      <vt:lpstr>PowerPoint Presentation</vt:lpstr>
      <vt:lpstr>PowerPoint Presentation</vt:lpstr>
      <vt:lpstr>PowerPoint Presentation</vt:lpstr>
      <vt:lpstr>PowerPoint Presentation</vt:lpstr>
      <vt:lpstr>PowerPoint Presentation</vt:lpstr>
      <vt:lpstr>PowerPoint Presentation</vt:lpstr>
      <vt:lpstr>Intelligent document processing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 Lance Garcia (ALLEGIS GROUP SERVICES)</dc:creator>
  <cp:lastModifiedBy>Rasika Chaudhary</cp:lastModifiedBy>
  <cp:revision>2</cp:revision>
  <dcterms:created xsi:type="dcterms:W3CDTF">2026-06-04T17:32:01Z</dcterms:created>
  <dcterms:modified xsi:type="dcterms:W3CDTF">2026-10-14T18:28:27Z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0x01010025CF0ACEDA9CAA47986D9692F213C094</vt:lpwstr>
  </property>
  <property fmtid="{D5CDD505-2E9C-101B-9397-08002B2CF9AE}" pid="3" name="MediaServiceImageTags">
    <vt:lpwstr/>
  </property>
</Properties>
</file>